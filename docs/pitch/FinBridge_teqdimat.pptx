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iriş" id="{2e08ba68-9f92-11fe-5e13-026e35822d4d}">
          <p14:sldIdLst>
            <p14:sldId id="256"/>
          </p14:sldIdLst>
        </p14:section>
        <p14:section name="Problem" id="{875c6acb-faaa-928a-a63b-7af263b8c168}">
          <p14:sldIdLst>
            <p14:sldId id="257"/>
            <p14:sldId id="258"/>
          </p14:sldIdLst>
        </p14:section>
        <p14:section name="Müştəri seqmenti" id="{bcd40f4b-d0a9-82bf-816b-40904ca962ae}">
          <p14:sldIdLst>
            <p14:sldId id="259"/>
          </p14:sldIdLst>
        </p14:section>
        <p14:section name="Həll" id="{18610b84-53ba-d239-5373-aac9fa0ac9cb}">
          <p14:sldIdLst>
            <p14:sldId id="260"/>
          </p14:sldIdLst>
        </p14:section>
        <p14:section name="MVP" id="{648961d4-39db-4a9f-f586-fd2ef3dda0e8}">
          <p14:sldIdLst>
            <p14:sldId id="261"/>
            <p14:sldId id="262"/>
          </p14:sldIdLst>
        </p14:section>
        <p14:section name="GTM" id="{beb30c6b-2a59-0c52-500e-ce1736c69a86}">
          <p14:sldIdLst>
            <p14:sldId id="263"/>
          </p14:sldIdLst>
        </p14:section>
        <p14:section name="Yekun" id="{fca17454-3ee7-9fef-b611-06adad77b802}">
          <p14:sldIdLst>
            <p14:sldId id="264"/>
          </p14:sldIdLst>
        </p14:section>
        <p14:section name="Əlavə (suallar üçün)" id="{9a77cc6c-6faf-2d4c-8b36-c9b98af4f66c}">
          <p14:sldIdLst>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san.) Salam. Biz FinBridge-ik: şirkətlərin illik büdcəni bir platformada planlaması, təsdiqləməsi və icrasına nəzarət etməsi üçün B2B həll.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san.) Danışdığımız şirkətlərdə mənzərə belədir: büdcə ya sistemli planlanmır, ya da hər departament öz Excel faylını hazırlayır. Maliyyə komandası bu faylları əl ilə birləşdirir, versiyalar qarışır, hesablamalarda səhv olur — və il ərzində büdcəni izləmək çətinləşir.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san.) Bunu altı müsahibədə gördük. Beş şirkət büdcəni Excel ilə aparır — PASHA Bank-da Excel və VBA ilə. ŞamFi müntəzəm planlamanın yetərsiz olduğunu dedi. Azersun Holding-də ERP var, amma büdcə prosesini tam əhatə etmir. Bu, problem kəşfidir: nəticələr yalnız bu altı şirkətə aiddir, ödəməyə hazırlığı isə ayrıca yoxlayacağıq.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san.) Hədəfi işçi sayı ilə yox, prosesin özü ilə seçirik: çoxlu departament və xərc mərkəzi, yetərsiz alətlər və büdcəyə cavabdeh maliyyə komandası. Belə şirkətlər üçün Excel əl işidir, ERP faktı uçota alır, amma büdcə prosesini tam əhatə etməyə bilər, Anaplan və ya Planful kimi qlobal platformaların tətbiqi isə ağır ola bilər. İlk bazarımız Azərbaycandır.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san.) FinBridge bu dörd addımı bir sistemdə birləşdirir: planla, təsdiqlə, nəzarət et, izlə. Azərbaycan dili və yerli hesablar planına əsaslanan sektor şablonları MVP-də artıq var. Daha əlçatan xərc və yerli tələblərə uyğunlaşma isə hədəfimizdir — bunları pilotda yoxlayacağıq.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san.) MVP işləyir — gördüyünüz real ekranlardır, məlumatlar demo. Ən vacibi planlama ekranıdır: hər departament üçün 2025 faktı, 2026 proqnozu və 2027 planı yan-yana görünür. Planlamaçı faylları birləşdirmədən, keçmiş illərə baxaraq planlayır.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san.) İl ərzində hər satınalma sorğusu büdcə qalığı ilə yoxlanılır: büdcəni aşan sorğu təsdiqdən əvvəl görünür. Təsdiq mərhələlərini və məbləğ şərtlərini şirkət özü qurur. Rəhbərlik isə plan, fakt, öhdəlik və qalığı bir paneldə görür. Bu üçünün bir sistemdə olması bizi Excel-dən və ERP-dən ayırır.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 san.) İlk müştərilərə yolumuz: LinkedIn-də CFO və büdcə sahiblərinə müraciət, üz-üzə görüş və canlı demo, şirkətin öz strukturu ilə test mühiti, sonra pilot və ödəməyə hazırlığın yoxlanılması. İlk dəvətlər müsahibə etdiyimiz altı şirkətə gedəcək — hələ heç biri ilə pilot razılaşması yoxdur. Növbəti real imkan 2027 büdcə dövrüdür. Uğuru demo qəbulundan ödəməyə hazırlığa qədər bu altı göstərici ilə ölçəcəyik.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san.) Xülasə: problem müsahibələrdə göründü, MVP hazırdır, növbəti addım pilot və ödəməyə hazırlığın yoxlanılmasıdır. Bunun üçün maliyyə rəhbərləri ilə tanışlıq və mentor dəstəyi istəyirik. Təşəkkür edirik!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Əlavə slayd: qrafikin arxasındakı cədvəl. 2025 büdcə və fakt, 2026 ilkin və yekun büdcə, 9 ay fakt və tam il proqnozu, 2027 planı və fərqlər. Sətirdən xərc mərkəzinə və hesaba qədər açmaq 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Əlavə slayd: solda sorğunun real təsdiq gedişi (mərhələ statusları, son tarix və gecikmə, təsdiqləyən üçün təlimat). Sağda bir mərhələnin davranış parametrləri: kimin təsdiqlədiyi, komitə (hamısı və ya biri), rədd və qaytarma icazəsi, şərh tələbi.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Əlavə slayd: təşkilati struktur ağacı və rollar/səlahiyyətlər səhifəsi (hansı səhifəni görür, harada redaktə edir, hansı məlumatı görür). Həmçinin Excel-dən toplu idxal, 7 sektor şablonu, büdcə versiyaları və kilid, büdcə dəyişiklikləri, audit jurnalı, iki dil.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Əlavə slayd: hər hipotezin necə yoxlanacağı və hansı göstərici ilə ölçüləcəyi. Bunlar hələ ölçülməyib; pilot mərhələsində toplanacaq.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B_DARK">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548640" y="4823460"/>
            <a:ext cx="292608" cy="320040"/>
          </a:xfrm>
          <a:prstGeom prst="rect">
            <a:avLst/>
          </a:prstGeom>
          <a:solidFill>
            <a:srgbClr val="2350D0">
              <a:alpha val="30000"/>
            </a:srgbClr>
          </a:solidFill>
          <a:ln/>
        </p:spPr>
      </p:sp>
      <p:sp>
        <p:nvSpPr>
          <p:cNvPr id="3" name="Shape 1"/>
          <p:cNvSpPr/>
          <p:nvPr/>
        </p:nvSpPr>
        <p:spPr>
          <a:xfrm>
            <a:off x="950976" y="4594860"/>
            <a:ext cx="292608" cy="548640"/>
          </a:xfrm>
          <a:prstGeom prst="rect">
            <a:avLst/>
          </a:prstGeom>
          <a:solidFill>
            <a:srgbClr val="2350D0">
              <a:alpha val="30000"/>
            </a:srgbClr>
          </a:solidFill>
          <a:ln/>
        </p:spPr>
      </p:sp>
      <p:sp>
        <p:nvSpPr>
          <p:cNvPr id="4" name="Shape 2"/>
          <p:cNvSpPr/>
          <p:nvPr/>
        </p:nvSpPr>
        <p:spPr>
          <a:xfrm>
            <a:off x="1353312" y="4704588"/>
            <a:ext cx="292608" cy="438912"/>
          </a:xfrm>
          <a:prstGeom prst="rect">
            <a:avLst/>
          </a:prstGeom>
          <a:solidFill>
            <a:srgbClr val="2350D0">
              <a:alpha val="30000"/>
            </a:srgbClr>
          </a:solidFill>
          <a:ln/>
        </p:spPr>
      </p:sp>
      <p:sp>
        <p:nvSpPr>
          <p:cNvPr id="5" name="Shape 3"/>
          <p:cNvSpPr/>
          <p:nvPr/>
        </p:nvSpPr>
        <p:spPr>
          <a:xfrm>
            <a:off x="1755648" y="4366260"/>
            <a:ext cx="292608" cy="777240"/>
          </a:xfrm>
          <a:prstGeom prst="rect">
            <a:avLst/>
          </a:prstGeom>
          <a:solidFill>
            <a:srgbClr val="2350D0">
              <a:alpha val="30000"/>
            </a:srgbClr>
          </a:solidFill>
          <a:ln/>
        </p:spPr>
      </p:sp>
      <p:sp>
        <p:nvSpPr>
          <p:cNvPr id="6" name="Shape 4"/>
          <p:cNvSpPr/>
          <p:nvPr/>
        </p:nvSpPr>
        <p:spPr>
          <a:xfrm>
            <a:off x="2157984" y="4091940"/>
            <a:ext cx="292608" cy="1051560"/>
          </a:xfrm>
          <a:prstGeom prst="rect">
            <a:avLst/>
          </a:prstGeom>
          <a:solidFill>
            <a:srgbClr val="2350D0">
              <a:alpha val="30000"/>
            </a:srgbClr>
          </a:solidFill>
          <a:ln/>
        </p:spPr>
      </p:sp>
      <p:sp>
        <p:nvSpPr>
          <p:cNvPr id="7" name="Shape 5"/>
          <p:cNvSpPr/>
          <p:nvPr/>
        </p:nvSpPr>
        <p:spPr>
          <a:xfrm>
            <a:off x="2560320" y="4274820"/>
            <a:ext cx="292608" cy="868680"/>
          </a:xfrm>
          <a:prstGeom prst="rect">
            <a:avLst/>
          </a:prstGeom>
          <a:solidFill>
            <a:srgbClr val="2350D0">
              <a:alpha val="30000"/>
            </a:srgbClr>
          </a:solidFill>
          <a:ln/>
        </p:spPr>
      </p:sp>
      <p:sp>
        <p:nvSpPr>
          <p:cNvPr id="8" name="Shape 6"/>
          <p:cNvSpPr/>
          <p:nvPr/>
        </p:nvSpPr>
        <p:spPr>
          <a:xfrm>
            <a:off x="2962656" y="3863340"/>
            <a:ext cx="292608" cy="1280160"/>
          </a:xfrm>
          <a:prstGeom prst="rect">
            <a:avLst/>
          </a:prstGeom>
          <a:solidFill>
            <a:srgbClr val="2350D0">
              <a:alpha val="30000"/>
            </a:srgbClr>
          </a:solidFill>
          <a:ln/>
        </p:spPr>
      </p:sp>
      <p:sp>
        <p:nvSpPr>
          <p:cNvPr id="9" name="Text 7"/>
          <p:cNvSpPr/>
          <p:nvPr>
            <p:ph idx="107" type="title" hasCustomPrompt="1"/>
          </p:nvPr>
        </p:nvSpPr>
        <p:spPr>
          <a:xfrm>
            <a:off x="548640" y="1783080"/>
            <a:ext cx="4754880" cy="868680"/>
          </a:xfrm>
          <a:prstGeom prst="rect">
            <a:avLst/>
          </a:prstGeom>
          <a:noFill/>
          <a:ln/>
        </p:spPr>
        <p:txBody>
          <a:bodyPr wrap="square" rtlCol="0"/>
          <a:lstStyle>
            <a:lvl1pPr algn="l" indent="0" marL="0">
              <a:buNone/>
              <a:defRPr lang="en-US" sz="5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5000" dirty="0"/>
          </a:p>
        </p:txBody>
      </p:sp>
      <p:sp>
        <p:nvSpPr>
          <p:cNvPr id="10" name="Text 7"/>
          <p:cNvSpPr/>
          <p:nvPr>
            <p:ph idx="108" type="body" hasCustomPrompt="1"/>
          </p:nvPr>
        </p:nvSpPr>
        <p:spPr>
          <a:xfrm>
            <a:off x="548640" y="2697480"/>
            <a:ext cx="4572000" cy="777240"/>
          </a:xfrm>
          <a:prstGeom prst="rect">
            <a:avLst/>
          </a:prstGeom>
          <a:noFill/>
          <a:ln/>
        </p:spPr>
        <p:txBody>
          <a:bodyPr wrap="square" rtlCol="0"/>
          <a:lstStyle>
            <a:lvl1pPr algn="l" indent="0" marL="0">
              <a:buNone/>
              <a:defRPr lang="en-US" sz="2000" dirty="0">
                <a:solidFill>
                  <a:srgbClr val="CBD5E1"/>
                </a:solidFill>
                <a:latin typeface="Calibri" pitchFamily="34" charset="0"/>
                <a:ea typeface="Calibri" pitchFamily="34" charset="-122"/>
                <a:cs typeface="Calibri" pitchFamily="34" charset="-120"/>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B_CONTENT">
    <p:bg>
      <p:bgPr>
        <a:solidFill>
          <a:srgbClr val="F3F6FA"/>
        </a:solidFill>
      </p:bgPr>
    </p:bg>
    <p:spTree>
      <p:nvGrpSpPr>
        <p:cNvPr id="1" name=""/>
        <p:cNvGrpSpPr/>
        <p:nvPr/>
      </p:nvGrpSpPr>
      <p:grpSpPr>
        <a:xfrm>
          <a:off x="0" y="0"/>
          <a:ext cx="0" cy="0"/>
          <a:chOff x="0" y="0"/>
          <a:chExt cx="0" cy="0"/>
        </a:xfrm>
      </p:grpSpPr>
      <p:sp>
        <p:nvSpPr>
          <p:cNvPr id="2" name="Shape 0"/>
          <p:cNvSpPr/>
          <p:nvPr/>
        </p:nvSpPr>
        <p:spPr>
          <a:xfrm>
            <a:off x="8156448" y="731520"/>
            <a:ext cx="118872" cy="164592"/>
          </a:xfrm>
          <a:prstGeom prst="rect">
            <a:avLst/>
          </a:prstGeom>
          <a:solidFill>
            <a:srgbClr val="E2E8F0"/>
          </a:solidFill>
          <a:ln/>
        </p:spPr>
      </p:sp>
      <p:sp>
        <p:nvSpPr>
          <p:cNvPr id="3" name="Shape 1"/>
          <p:cNvSpPr/>
          <p:nvPr/>
        </p:nvSpPr>
        <p:spPr>
          <a:xfrm>
            <a:off x="8339328" y="621792"/>
            <a:ext cx="118872" cy="274320"/>
          </a:xfrm>
          <a:prstGeom prst="rect">
            <a:avLst/>
          </a:prstGeom>
          <a:solidFill>
            <a:srgbClr val="E2E8F0"/>
          </a:solidFill>
          <a:ln/>
        </p:spPr>
      </p:sp>
      <p:sp>
        <p:nvSpPr>
          <p:cNvPr id="4" name="Shape 2"/>
          <p:cNvSpPr/>
          <p:nvPr/>
        </p:nvSpPr>
        <p:spPr>
          <a:xfrm>
            <a:off x="8522208" y="676656"/>
            <a:ext cx="118872" cy="219456"/>
          </a:xfrm>
          <a:prstGeom prst="rect">
            <a:avLst/>
          </a:prstGeom>
          <a:solidFill>
            <a:srgbClr val="E2E8F0"/>
          </a:solidFill>
          <a:ln/>
        </p:spPr>
      </p:sp>
      <p:sp>
        <p:nvSpPr>
          <p:cNvPr id="5" name="Shape 3"/>
          <p:cNvSpPr/>
          <p:nvPr/>
        </p:nvSpPr>
        <p:spPr>
          <a:xfrm>
            <a:off x="8705088" y="512064"/>
            <a:ext cx="118872" cy="384048"/>
          </a:xfrm>
          <a:prstGeom prst="rect">
            <a:avLst/>
          </a:prstGeom>
          <a:solidFill>
            <a:srgbClr val="E2E8F0"/>
          </a:solidFill>
          <a:ln/>
        </p:spPr>
      </p:sp>
      <p:sp>
        <p:nvSpPr>
          <p:cNvPr id="6" name="Shape 4"/>
          <p:cNvSpPr/>
          <p:nvPr/>
        </p:nvSpPr>
        <p:spPr>
          <a:xfrm>
            <a:off x="8887968" y="384048"/>
            <a:ext cx="118872" cy="512064"/>
          </a:xfrm>
          <a:prstGeom prst="rect">
            <a:avLst/>
          </a:prstGeom>
          <a:solidFill>
            <a:srgbClr val="E2E8F0"/>
          </a:solidFill>
          <a:ln/>
        </p:spPr>
      </p:sp>
      <p:sp>
        <p:nvSpPr>
          <p:cNvPr id="7" name="Text 5"/>
          <p:cNvSpPr/>
          <p:nvPr>
            <p:ph idx="105" type="title" hasCustomPrompt="1"/>
          </p:nvPr>
        </p:nvSpPr>
        <p:spPr>
          <a:xfrm>
            <a:off x="457200" y="329184"/>
            <a:ext cx="7498080" cy="621792"/>
          </a:xfrm>
          <a:prstGeom prst="rect">
            <a:avLst/>
          </a:prstGeom>
          <a:noFill/>
          <a:ln/>
        </p:spPr>
        <p:txBody>
          <a:bodyPr wrap="square" rtlCol="0"/>
          <a:lstStyle>
            <a:lvl1pPr algn="l" indent="0" marL="0">
              <a:buNone/>
              <a:defRPr lang="en-US" sz="2700" b="1" dirty="0">
                <a:solidFill>
                  <a:srgbClr val="0B1F3A"/>
                </a:solidFill>
                <a:latin typeface="Cambria" pitchFamily="34" charset="0"/>
                <a:ea typeface="Cambria" pitchFamily="34" charset="-122"/>
                <a:cs typeface="Cambria" pitchFamily="34" charset="-120"/>
              </a:defRPr>
            </a:lvl1pPr>
          </a:lstStyle>
          <a:p>
            <a:pPr algn="l" indent="0" marL="0">
              <a:buNone/>
            </a:pPr>
            <a:endParaRPr lang="en-US" sz="2700" dirty="0"/>
          </a:p>
        </p:txBody>
      </p:sp>
      <p:sp>
        <p:nvSpPr>
          <p:cNvPr id="25" name="Slide Number Placeholder 0"/>
          <p:cNvSpPr>
            <a:spLocks noGrp="1"/>
          </p:cNvSpPr>
          <p:nvPr>
            <p:ph type="sldNum" sz="quarter" idx="4294967295"/>
          </p:nvPr>
        </p:nvSpPr>
        <p:spPr>
          <a:xfrm>
            <a:off x="8321040" y="481888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1888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descr="FinBridge loqosu">    </p:cNvPr>
          <p:cNvPicPr>
            <a:picLocks noChangeAspect="1"/>
          </p:cNvPicPr>
          <p:nvPr/>
        </p:nvPicPr>
        <p:blipFill>
          <a:blip r:embed="rId1"/>
          <a:stretch>
            <a:fillRect/>
          </a:stretch>
        </p:blipFill>
        <p:spPr>
          <a:xfrm>
            <a:off x="548640" y="1188720"/>
            <a:ext cx="502920" cy="502920"/>
          </a:xfrm>
          <a:prstGeom prst="rect">
            <a:avLst/>
          </a:prstGeom>
        </p:spPr>
      </p:pic>
      <p:sp>
        <p:nvSpPr>
          <p:cNvPr id="3" name="Text 7"/>
          <p:cNvSpPr/>
          <p:nvPr>
            <p:ph idx="107" type="title" hasCustomPrompt="1"/>
          </p:nvPr>
        </p:nvSpPr>
        <p:spPr>
          <a:xfrm>
            <a:off x="548640" y="1783080"/>
            <a:ext cx="4754880" cy="868680"/>
          </a:xfrm>
          <a:prstGeom prst="rect">
            <a:avLst/>
          </a:prstGeom>
          <a:noFill/>
          <a:ln/>
        </p:spPr>
        <p:txBody>
          <a:bodyPr wrap="square" lIns="0" tIns="0" rIns="0" bIns="0" rtlCol="0" anchor="ctr"/>
          <a:lstStyle/>
          <a:p>
            <a:pPr algn="l" indent="0" marL="0">
              <a:buNone/>
            </a:pPr>
            <a:r>
              <a:rPr lang="en-US" sz="5000" b="1" dirty="0">
                <a:solidFill>
                  <a:schemeClr val="bg1"/>
                </a:solidFill>
                <a:latin typeface="Cambria" pitchFamily="34" charset="0"/>
                <a:ea typeface="Cambria" pitchFamily="34" charset="-122"/>
                <a:cs typeface="Cambria" pitchFamily="34" charset="-120"/>
              </a:rPr>
              <a:t>FinBridge</a:t>
            </a:r>
            <a:endParaRPr lang="en-US" sz="5000" dirty="0"/>
          </a:p>
        </p:txBody>
      </p:sp>
      <p:sp>
        <p:nvSpPr>
          <p:cNvPr id="4" name="Text 7"/>
          <p:cNvSpPr/>
          <p:nvPr>
            <p:ph idx="108" type="body" hasCustomPrompt="1"/>
          </p:nvPr>
        </p:nvSpPr>
        <p:spPr>
          <a:xfrm>
            <a:off x="548640" y="2697480"/>
            <a:ext cx="4572000" cy="777240"/>
          </a:xfrm>
          <a:prstGeom prst="rect">
            <a:avLst/>
          </a:prstGeom>
          <a:noFill/>
          <a:ln/>
        </p:spPr>
        <p:txBody>
          <a:bodyPr wrap="square" lIns="0" tIns="0" rIns="0" bIns="0" rtlCol="0" anchor="t"/>
          <a:lstStyle/>
          <a:p>
            <a:pPr algn="l" indent="0" marL="0">
              <a:buNone/>
            </a:pPr>
            <a:r>
              <a:rPr lang="en-US" sz="2000" dirty="0">
                <a:solidFill>
                  <a:srgbClr val="CBD5E1"/>
                </a:solidFill>
                <a:latin typeface="Calibri" pitchFamily="34" charset="0"/>
                <a:ea typeface="Calibri" pitchFamily="34" charset="-122"/>
                <a:cs typeface="Calibri" pitchFamily="34" charset="-120"/>
              </a:rPr>
              <a:t>Büdcənin planlanması, təsdiqi və icrasına nəzarət — bir platformada</a:t>
            </a:r>
            <a:endParaRPr lang="en-US" sz="2000" dirty="0"/>
          </a:p>
        </p:txBody>
      </p:sp>
      <p:sp>
        <p:nvSpPr>
          <p:cNvPr id="5" name="text-1"/>
          <p:cNvSpPr txBox="1"/>
          <p:nvPr/>
        </p:nvSpPr>
        <p:spPr>
          <a:xfrm>
            <a:off x="548640" y="3566160"/>
            <a:ext cx="4754880" cy="274320"/>
          </a:xfrm>
          <a:prstGeom prst="rect">
            <a:avLst/>
          </a:prstGeom>
          <a:noFill/>
          <a:ln/>
        </p:spPr>
        <p:txBody>
          <a:bodyPr wrap="square" lIns="0" tIns="0" rIns="0" bIns="0" rtlCol="0" anchor="t"/>
          <a:lstStyle/>
          <a:p>
            <a:pPr algn="l" indent="0" marL="0">
              <a:lnSpc>
                <a:spcPct val="105000"/>
              </a:lnSpc>
              <a:buNone/>
            </a:pPr>
            <a:r>
              <a:rPr lang="en-US" sz="1200" dirty="0">
                <a:solidFill>
                  <a:schemeClr val="accent5"/>
                </a:solidFill>
              </a:rPr>
              <a:t>B2B maliyyə planlaması və büdcə idarəetməsi  ·  ilk bazar: Azərbaycan</a:t>
            </a:r>
            <a:endParaRPr lang="en-US" sz="1200" dirty="0"/>
          </a:p>
        </p:txBody>
      </p:sp>
      <p:sp>
        <p:nvSpPr>
          <p:cNvPr id="6" name="shot-frame-2"/>
          <p:cNvSpPr/>
          <p:nvPr/>
        </p:nvSpPr>
        <p:spPr>
          <a:xfrm>
            <a:off x="5431536" y="1271016"/>
            <a:ext cx="3264408" cy="1861558"/>
          </a:xfrm>
          <a:prstGeom prst="roundRect">
            <a:avLst>
              <a:gd name="adj" fmla="val 3930"/>
            </a:avLst>
          </a:prstGeom>
          <a:solidFill>
            <a:schemeClr val="bg1"/>
          </a:solidFill>
          <a:ln/>
          <a:effectLst>
            <a:outerShdw sx="100000" sy="100000" kx="0" ky="0" algn="bl" rotWithShape="0" blurRad="127000" dist="25400" dir="5400000">
              <a:srgbClr val="0B1F3A">
                <a:alpha val="8000"/>
              </a:srgbClr>
            </a:outerShdw>
          </a:effectLst>
        </p:spPr>
      </p:sp>
      <p:pic>
        <p:nvPicPr>
          <p:cNvPr id="7" name="screenshot-3" descr="İdarəetmə paneli: aylar üzrə büdcə, fakt və öhdəlik (MVP ekranı, demo məlumatlar)">    </p:cNvPr>
          <p:cNvPicPr>
            <a:picLocks noChangeAspect="1"/>
          </p:cNvPicPr>
          <p:nvPr/>
        </p:nvPicPr>
        <p:blipFill>
          <a:blip r:embed="rId2"/>
          <a:stretch>
            <a:fillRect/>
          </a:stretch>
        </p:blipFill>
        <p:spPr>
          <a:xfrm>
            <a:off x="5486400" y="1325880"/>
            <a:ext cx="3154680" cy="1751830"/>
          </a:xfrm>
          <a:prstGeom prst="rect">
            <a:avLst/>
          </a:prstGeom>
        </p:spPr>
      </p:pic>
      <p:sp>
        <p:nvSpPr>
          <p:cNvPr id="8" name="chip-4"/>
          <p:cNvSpPr/>
          <p:nvPr/>
        </p:nvSpPr>
        <p:spPr>
          <a:xfrm>
            <a:off x="5486400" y="3246120"/>
            <a:ext cx="2514600" cy="237744"/>
          </a:xfrm>
          <a:prstGeom prst="roundRect">
            <a:avLst>
              <a:gd name="adj" fmla="val 50000"/>
            </a:avLst>
          </a:prstGeom>
          <a:solidFill>
            <a:schemeClr val="bg1">
              <a:alpha val="12000"/>
            </a:schemeClr>
          </a:solidFill>
          <a:ln/>
        </p:spPr>
      </p:sp>
      <p:sp>
        <p:nvSpPr>
          <p:cNvPr id="9" name="chip-text-5"/>
          <p:cNvSpPr txBox="1"/>
          <p:nvPr/>
        </p:nvSpPr>
        <p:spPr>
          <a:xfrm>
            <a:off x="5486400" y="3246120"/>
            <a:ext cx="2514600" cy="237744"/>
          </a:xfrm>
          <a:prstGeom prst="rect">
            <a:avLst/>
          </a:prstGeom>
          <a:noFill/>
          <a:ln/>
        </p:spPr>
        <p:txBody>
          <a:bodyPr wrap="square" lIns="0" tIns="0" rIns="0" bIns="0" rtlCol="0" anchor="ctr"/>
          <a:lstStyle/>
          <a:p>
            <a:pPr algn="ctr" indent="0" marL="0">
              <a:lnSpc>
                <a:spcPct val="105000"/>
              </a:lnSpc>
              <a:buNone/>
            </a:pPr>
            <a:r>
              <a:rPr lang="en-US" sz="950" b="1" dirty="0">
                <a:solidFill>
                  <a:schemeClr val="accent5"/>
                </a:solidFill>
              </a:rPr>
              <a:t>Real MVP ekranı · demo məlumatlar</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6"/>
          <p:cNvSpPr txBox="1"/>
          <p:nvPr/>
        </p:nvSpPr>
        <p:spPr>
          <a:xfrm>
            <a:off x="457200" y="128016"/>
            <a:ext cx="6858000" cy="201168"/>
          </a:xfrm>
          <a:prstGeom prst="rect">
            <a:avLst/>
          </a:prstGeom>
          <a:noFill/>
          <a:ln/>
        </p:spPr>
        <p:txBody>
          <a:bodyPr wrap="square" lIns="0" tIns="0" rIns="0" bIns="0" rtlCol="0" anchor="t"/>
          <a:lstStyle/>
          <a:p>
            <a:pPr algn="l" indent="0" marL="0">
              <a:lnSpc>
                <a:spcPct val="105000"/>
              </a:lnSpc>
              <a:buNone/>
            </a:pPr>
            <a:r>
              <a:rPr lang="en-US" sz="1000" b="1" spc="150" kern="0" dirty="0">
                <a:solidFill>
                  <a:schemeClr val="accent1"/>
                </a:solidFill>
              </a:rPr>
              <a:t>PROBLEM</a:t>
            </a:r>
            <a:endParaRPr lang="en-US" sz="1000" dirty="0"/>
          </a:p>
        </p:txBody>
      </p:sp>
      <p:sp>
        <p:nvSpPr>
          <p:cNvPr id="3" name="Text 5"/>
          <p:cNvSpPr/>
          <p:nvPr>
            <p:ph idx="105" type="title" hasCustomPrompt="1"/>
          </p:nvPr>
        </p:nvSpPr>
        <p:spPr>
          <a:xfrm>
            <a:off x="457200" y="329184"/>
            <a:ext cx="7498080" cy="621792"/>
          </a:xfrm>
          <a:prstGeom prst="rect">
            <a:avLst/>
          </a:prstGeom>
          <a:noFill/>
          <a:ln/>
        </p:spPr>
        <p:txBody>
          <a:bodyPr wrap="square" lIns="0" tIns="0" rIns="0" bIns="0" rtlCol="0" anchor="ctr"/>
          <a:lstStyle/>
          <a:p>
            <a:pPr algn="l" indent="0" marL="0">
              <a:buNone/>
            </a:pPr>
            <a:r>
              <a:rPr lang="en-US" sz="2700" b="1" dirty="0">
                <a:solidFill>
                  <a:srgbClr val="0B1F3A"/>
                </a:solidFill>
                <a:latin typeface="Cambria" pitchFamily="34" charset="0"/>
                <a:ea typeface="Cambria" pitchFamily="34" charset="-122"/>
                <a:cs typeface="Cambria" pitchFamily="34" charset="-120"/>
              </a:rPr>
              <a:t>Büdcə prosesi dağınıq Excel fayllarındadır</a:t>
            </a:r>
            <a:endParaRPr lang="en-US" sz="2700" dirty="0"/>
          </a:p>
        </p:txBody>
      </p:sp>
      <p:sp>
        <p:nvSpPr>
          <p:cNvPr id="4" name="statement-7"/>
          <p:cNvSpPr/>
          <p:nvPr/>
        </p:nvSpPr>
        <p:spPr>
          <a:xfrm>
            <a:off x="457200" y="1188720"/>
            <a:ext cx="3749040" cy="3429000"/>
          </a:xfrm>
          <a:prstGeom prst="roundRect">
            <a:avLst>
              <a:gd name="adj" fmla="val 2667"/>
            </a:avLst>
          </a:prstGeom>
          <a:solidFill>
            <a:schemeClr val="tx1"/>
          </a:solidFill>
          <a:ln/>
          <a:effectLst>
            <a:outerShdw sx="100000" sy="100000" kx="0" ky="0" algn="bl" rotWithShape="0" blurRad="127000" dist="25400" dir="5400000">
              <a:srgbClr val="0B1F3A">
                <a:alpha val="8000"/>
              </a:srgbClr>
            </a:outerShdw>
          </a:effectLst>
        </p:spPr>
      </p:sp>
      <p:pic>
        <p:nvPicPr>
          <p:cNvPr id="5" name="icon-LuFileSpreadsheet-8" descr="Excel faylı">    </p:cNvPr>
          <p:cNvPicPr>
            <a:picLocks noChangeAspect="1"/>
          </p:cNvPicPr>
          <p:nvPr/>
        </p:nvPicPr>
        <p:blipFill>
          <a:blip r:embed="rId1"/>
          <a:stretch>
            <a:fillRect/>
          </a:stretch>
        </p:blipFill>
        <p:spPr>
          <a:xfrm>
            <a:off x="777240" y="1481328"/>
            <a:ext cx="530352" cy="530352"/>
          </a:xfrm>
          <a:prstGeom prst="rect">
            <a:avLst/>
          </a:prstGeom>
        </p:spPr>
      </p:pic>
      <p:sp>
        <p:nvSpPr>
          <p:cNvPr id="6" name="text-9"/>
          <p:cNvSpPr txBox="1"/>
          <p:nvPr/>
        </p:nvSpPr>
        <p:spPr>
          <a:xfrm>
            <a:off x="777240" y="2194560"/>
            <a:ext cx="3154680" cy="1417320"/>
          </a:xfrm>
          <a:prstGeom prst="rect">
            <a:avLst/>
          </a:prstGeom>
          <a:noFill/>
          <a:ln/>
        </p:spPr>
        <p:txBody>
          <a:bodyPr wrap="square" lIns="0" tIns="0" rIns="0" bIns="0" rtlCol="0" anchor="t"/>
          <a:lstStyle/>
          <a:p>
            <a:pPr algn="l" indent="0" marL="0">
              <a:lnSpc>
                <a:spcPct val="110000"/>
              </a:lnSpc>
              <a:buNone/>
            </a:pPr>
            <a:r>
              <a:rPr lang="en-US" sz="2100" b="1" dirty="0">
                <a:solidFill>
                  <a:schemeClr val="bg1"/>
                </a:solidFill>
                <a:latin typeface="Cambria" pitchFamily="34" charset="0"/>
                <a:ea typeface="Cambria" pitchFamily="34" charset="-122"/>
                <a:cs typeface="Cambria" pitchFamily="34" charset="-120"/>
              </a:rPr>
              <a:t>Büdcə ya sistemli planlanmır, ya da hər departamentin ayrı Excel faylında hazırlanır.</a:t>
            </a:r>
            <a:endParaRPr lang="en-US" sz="2100" dirty="0"/>
          </a:p>
        </p:txBody>
      </p:sp>
      <p:sp>
        <p:nvSpPr>
          <p:cNvPr id="7" name="text-10"/>
          <p:cNvSpPr txBox="1"/>
          <p:nvPr/>
        </p:nvSpPr>
        <p:spPr>
          <a:xfrm>
            <a:off x="777240" y="3886200"/>
            <a:ext cx="3154680" cy="457200"/>
          </a:xfrm>
          <a:prstGeom prst="rect">
            <a:avLst/>
          </a:prstGeom>
          <a:noFill/>
          <a:ln/>
        </p:spPr>
        <p:txBody>
          <a:bodyPr wrap="square" lIns="0" tIns="0" rIns="0" bIns="0" rtlCol="0" anchor="t"/>
          <a:lstStyle/>
          <a:p>
            <a:pPr algn="l" indent="0" marL="0">
              <a:lnSpc>
                <a:spcPct val="105000"/>
              </a:lnSpc>
              <a:buNone/>
            </a:pPr>
            <a:r>
              <a:rPr lang="en-US" sz="1300" dirty="0">
                <a:solidFill>
                  <a:schemeClr val="accent5"/>
                </a:solidFill>
              </a:rPr>
              <a:t>Nəticədə büdcəni il ərzində izləmək çətinləşir.</a:t>
            </a:r>
            <a:endParaRPr lang="en-US" sz="1300" dirty="0"/>
          </a:p>
        </p:txBody>
      </p:sp>
      <p:sp>
        <p:nvSpPr>
          <p:cNvPr id="8" name="problem-card-11"/>
          <p:cNvSpPr/>
          <p:nvPr/>
        </p:nvSpPr>
        <p:spPr>
          <a:xfrm>
            <a:off x="4480560" y="1188720"/>
            <a:ext cx="4206240" cy="1051560"/>
          </a:xfrm>
          <a:prstGeom prst="roundRect">
            <a:avLst>
              <a:gd name="adj" fmla="val 8696"/>
            </a:avLst>
          </a:prstGeom>
          <a:solidFill>
            <a:schemeClr val="bg1"/>
          </a:solidFill>
          <a:ln/>
          <a:effectLst>
            <a:outerShdw sx="100000" sy="100000" kx="0" ky="0" algn="bl" rotWithShape="0" blurRad="127000" dist="25400" dir="5400000">
              <a:srgbClr val="0B1F3A">
                <a:alpha val="8000"/>
              </a:srgbClr>
            </a:outerShdw>
          </a:effectLst>
        </p:spPr>
      </p:sp>
      <p:sp>
        <p:nvSpPr>
          <p:cNvPr id="9" name="icon-bg-12"/>
          <p:cNvSpPr/>
          <p:nvPr/>
        </p:nvSpPr>
        <p:spPr>
          <a:xfrm>
            <a:off x="4709160" y="1435608"/>
            <a:ext cx="566928" cy="566928"/>
          </a:xfrm>
          <a:prstGeom prst="ellipse">
            <a:avLst/>
          </a:prstGeom>
          <a:solidFill>
            <a:schemeClr val="accent3">
              <a:alpha val="12000"/>
            </a:schemeClr>
          </a:solidFill>
          <a:ln/>
        </p:spPr>
      </p:sp>
      <p:pic>
        <p:nvPicPr>
          <p:cNvPr id="10" name="icon-LuFiles-13" descr="Files">    </p:cNvPr>
          <p:cNvPicPr>
            <a:picLocks noChangeAspect="1"/>
          </p:cNvPicPr>
          <p:nvPr/>
        </p:nvPicPr>
        <p:blipFill>
          <a:blip r:embed="rId2"/>
          <a:stretch>
            <a:fillRect/>
          </a:stretch>
        </p:blipFill>
        <p:spPr>
          <a:xfrm>
            <a:off x="4845223" y="1571671"/>
            <a:ext cx="294803" cy="294803"/>
          </a:xfrm>
          <a:prstGeom prst="rect">
            <a:avLst/>
          </a:prstGeom>
        </p:spPr>
      </p:pic>
      <p:sp>
        <p:nvSpPr>
          <p:cNvPr id="11" name="text-14"/>
          <p:cNvSpPr txBox="1"/>
          <p:nvPr/>
        </p:nvSpPr>
        <p:spPr>
          <a:xfrm>
            <a:off x="5486400" y="1389888"/>
            <a:ext cx="3063240" cy="292608"/>
          </a:xfrm>
          <a:prstGeom prst="rect">
            <a:avLst/>
          </a:prstGeom>
          <a:noFill/>
          <a:ln/>
        </p:spPr>
        <p:txBody>
          <a:bodyPr wrap="square" lIns="0" tIns="0" rIns="0" bIns="0" rtlCol="0" anchor="t"/>
          <a:lstStyle/>
          <a:p>
            <a:pPr algn="l" indent="0" marL="0">
              <a:lnSpc>
                <a:spcPct val="105000"/>
              </a:lnSpc>
              <a:buNone/>
            </a:pPr>
            <a:r>
              <a:rPr lang="en-US" sz="1600" b="1" dirty="0">
                <a:solidFill>
                  <a:schemeClr val="tx1"/>
                </a:solidFill>
              </a:rPr>
              <a:t>Konsolidasiya çətindir</a:t>
            </a:r>
            <a:endParaRPr lang="en-US" sz="1600" dirty="0"/>
          </a:p>
        </p:txBody>
      </p:sp>
      <p:sp>
        <p:nvSpPr>
          <p:cNvPr id="12" name="text-15"/>
          <p:cNvSpPr txBox="1"/>
          <p:nvPr/>
        </p:nvSpPr>
        <p:spPr>
          <a:xfrm>
            <a:off x="5486400" y="1709928"/>
            <a:ext cx="3063240" cy="365760"/>
          </a:xfrm>
          <a:prstGeom prst="rect">
            <a:avLst/>
          </a:prstGeom>
          <a:noFill/>
          <a:ln/>
        </p:spPr>
        <p:txBody>
          <a:bodyPr wrap="square" lIns="0" tIns="0" rIns="0" bIns="0" rtlCol="0" anchor="t"/>
          <a:lstStyle/>
          <a:p>
            <a:pPr algn="l" indent="0" marL="0">
              <a:lnSpc>
                <a:spcPct val="105000"/>
              </a:lnSpc>
              <a:buNone/>
            </a:pPr>
            <a:r>
              <a:rPr lang="en-US" sz="1250" dirty="0">
                <a:solidFill>
                  <a:schemeClr val="tx2"/>
                </a:solidFill>
              </a:rPr>
              <a:t>Departament faylları əl ilə birləşdirilir</a:t>
            </a:r>
            <a:endParaRPr lang="en-US" sz="1250" dirty="0"/>
          </a:p>
        </p:txBody>
      </p:sp>
      <p:sp>
        <p:nvSpPr>
          <p:cNvPr id="13" name="problem-card-16"/>
          <p:cNvSpPr/>
          <p:nvPr/>
        </p:nvSpPr>
        <p:spPr>
          <a:xfrm>
            <a:off x="4480560" y="2377440"/>
            <a:ext cx="4206240" cy="1051560"/>
          </a:xfrm>
          <a:prstGeom prst="roundRect">
            <a:avLst>
              <a:gd name="adj" fmla="val 8696"/>
            </a:avLst>
          </a:prstGeom>
          <a:solidFill>
            <a:schemeClr val="bg1"/>
          </a:solidFill>
          <a:ln/>
          <a:effectLst>
            <a:outerShdw sx="100000" sy="100000" kx="0" ky="0" algn="bl" rotWithShape="0" blurRad="127000" dist="25400" dir="5400000">
              <a:srgbClr val="0B1F3A">
                <a:alpha val="8000"/>
              </a:srgbClr>
            </a:outerShdw>
          </a:effectLst>
        </p:spPr>
      </p:sp>
      <p:sp>
        <p:nvSpPr>
          <p:cNvPr id="14" name="icon-bg-17"/>
          <p:cNvSpPr/>
          <p:nvPr/>
        </p:nvSpPr>
        <p:spPr>
          <a:xfrm>
            <a:off x="4709160" y="2624328"/>
            <a:ext cx="566928" cy="566928"/>
          </a:xfrm>
          <a:prstGeom prst="ellipse">
            <a:avLst/>
          </a:prstGeom>
          <a:solidFill>
            <a:schemeClr val="accent3">
              <a:alpha val="12000"/>
            </a:schemeClr>
          </a:solidFill>
          <a:ln/>
        </p:spPr>
      </p:sp>
      <p:pic>
        <p:nvPicPr>
          <p:cNvPr id="15" name="icon-LuTriangleAlert-18" descr="TriangleAlert">    </p:cNvPr>
          <p:cNvPicPr>
            <a:picLocks noChangeAspect="1"/>
          </p:cNvPicPr>
          <p:nvPr/>
        </p:nvPicPr>
        <p:blipFill>
          <a:blip r:embed="rId3"/>
          <a:stretch>
            <a:fillRect/>
          </a:stretch>
        </p:blipFill>
        <p:spPr>
          <a:xfrm>
            <a:off x="4845223" y="2760391"/>
            <a:ext cx="294803" cy="294803"/>
          </a:xfrm>
          <a:prstGeom prst="rect">
            <a:avLst/>
          </a:prstGeom>
        </p:spPr>
      </p:pic>
      <p:sp>
        <p:nvSpPr>
          <p:cNvPr id="16" name="text-19"/>
          <p:cNvSpPr txBox="1"/>
          <p:nvPr/>
        </p:nvSpPr>
        <p:spPr>
          <a:xfrm>
            <a:off x="5486400" y="2578608"/>
            <a:ext cx="3063240" cy="292608"/>
          </a:xfrm>
          <a:prstGeom prst="rect">
            <a:avLst/>
          </a:prstGeom>
          <a:noFill/>
          <a:ln/>
        </p:spPr>
        <p:txBody>
          <a:bodyPr wrap="square" lIns="0" tIns="0" rIns="0" bIns="0" rtlCol="0" anchor="t"/>
          <a:lstStyle/>
          <a:p>
            <a:pPr algn="l" indent="0" marL="0">
              <a:lnSpc>
                <a:spcPct val="105000"/>
              </a:lnSpc>
              <a:buNone/>
            </a:pPr>
            <a:r>
              <a:rPr lang="en-US" sz="1600" b="1" dirty="0">
                <a:solidFill>
                  <a:schemeClr val="tx1"/>
                </a:solidFill>
              </a:rPr>
              <a:t>Hesablama və versiya səhvləri</a:t>
            </a:r>
            <a:endParaRPr lang="en-US" sz="1600" dirty="0"/>
          </a:p>
        </p:txBody>
      </p:sp>
      <p:sp>
        <p:nvSpPr>
          <p:cNvPr id="17" name="text-20"/>
          <p:cNvSpPr txBox="1"/>
          <p:nvPr/>
        </p:nvSpPr>
        <p:spPr>
          <a:xfrm>
            <a:off x="5486400" y="2898648"/>
            <a:ext cx="3063240" cy="365760"/>
          </a:xfrm>
          <a:prstGeom prst="rect">
            <a:avLst/>
          </a:prstGeom>
          <a:noFill/>
          <a:ln/>
        </p:spPr>
        <p:txBody>
          <a:bodyPr wrap="square" lIns="0" tIns="0" rIns="0" bIns="0" rtlCol="0" anchor="t"/>
          <a:lstStyle/>
          <a:p>
            <a:pPr algn="l" indent="0" marL="0">
              <a:lnSpc>
                <a:spcPct val="105000"/>
              </a:lnSpc>
              <a:buNone/>
            </a:pPr>
            <a:r>
              <a:rPr lang="en-US" sz="1250" dirty="0">
                <a:solidFill>
                  <a:schemeClr val="tx2"/>
                </a:solidFill>
              </a:rPr>
              <a:t>Hansı fayl son versiyadır — aydın olmur</a:t>
            </a:r>
            <a:endParaRPr lang="en-US" sz="1250" dirty="0"/>
          </a:p>
        </p:txBody>
      </p:sp>
      <p:sp>
        <p:nvSpPr>
          <p:cNvPr id="18" name="problem-card-21"/>
          <p:cNvSpPr/>
          <p:nvPr/>
        </p:nvSpPr>
        <p:spPr>
          <a:xfrm>
            <a:off x="4480560" y="3566160"/>
            <a:ext cx="4206240" cy="1051560"/>
          </a:xfrm>
          <a:prstGeom prst="roundRect">
            <a:avLst>
              <a:gd name="adj" fmla="val 8696"/>
            </a:avLst>
          </a:prstGeom>
          <a:solidFill>
            <a:schemeClr val="bg1"/>
          </a:solidFill>
          <a:ln/>
          <a:effectLst>
            <a:outerShdw sx="100000" sy="100000" kx="0" ky="0" algn="bl" rotWithShape="0" blurRad="127000" dist="25400" dir="5400000">
              <a:srgbClr val="0B1F3A">
                <a:alpha val="8000"/>
              </a:srgbClr>
            </a:outerShdw>
          </a:effectLst>
        </p:spPr>
      </p:sp>
      <p:sp>
        <p:nvSpPr>
          <p:cNvPr id="19" name="icon-bg-22"/>
          <p:cNvSpPr/>
          <p:nvPr/>
        </p:nvSpPr>
        <p:spPr>
          <a:xfrm>
            <a:off x="4709160" y="3813048"/>
            <a:ext cx="566928" cy="566928"/>
          </a:xfrm>
          <a:prstGeom prst="ellipse">
            <a:avLst/>
          </a:prstGeom>
          <a:solidFill>
            <a:schemeClr val="accent3">
              <a:alpha val="12000"/>
            </a:schemeClr>
          </a:solidFill>
          <a:ln/>
        </p:spPr>
      </p:sp>
      <p:pic>
        <p:nvPicPr>
          <p:cNvPr id="20" name="icon-LuCalendarX-23" descr="CalendarX">    </p:cNvPr>
          <p:cNvPicPr>
            <a:picLocks noChangeAspect="1"/>
          </p:cNvPicPr>
          <p:nvPr/>
        </p:nvPicPr>
        <p:blipFill>
          <a:blip r:embed="rId4"/>
          <a:stretch>
            <a:fillRect/>
          </a:stretch>
        </p:blipFill>
        <p:spPr>
          <a:xfrm>
            <a:off x="4845223" y="3949111"/>
            <a:ext cx="294803" cy="294803"/>
          </a:xfrm>
          <a:prstGeom prst="rect">
            <a:avLst/>
          </a:prstGeom>
        </p:spPr>
      </p:pic>
      <p:sp>
        <p:nvSpPr>
          <p:cNvPr id="21" name="text-24"/>
          <p:cNvSpPr txBox="1"/>
          <p:nvPr/>
        </p:nvSpPr>
        <p:spPr>
          <a:xfrm>
            <a:off x="5486400" y="3767328"/>
            <a:ext cx="3063240" cy="292608"/>
          </a:xfrm>
          <a:prstGeom prst="rect">
            <a:avLst/>
          </a:prstGeom>
          <a:noFill/>
          <a:ln/>
        </p:spPr>
        <p:txBody>
          <a:bodyPr wrap="square" lIns="0" tIns="0" rIns="0" bIns="0" rtlCol="0" anchor="t"/>
          <a:lstStyle/>
          <a:p>
            <a:pPr algn="l" indent="0" marL="0">
              <a:lnSpc>
                <a:spcPct val="105000"/>
              </a:lnSpc>
              <a:buNone/>
            </a:pPr>
            <a:r>
              <a:rPr lang="en-US" sz="1600" b="1" dirty="0">
                <a:solidFill>
                  <a:schemeClr val="tx1"/>
                </a:solidFill>
              </a:rPr>
              <a:t>İl ərzində izləmək çətindir</a:t>
            </a:r>
            <a:endParaRPr lang="en-US" sz="1600" dirty="0"/>
          </a:p>
        </p:txBody>
      </p:sp>
      <p:sp>
        <p:nvSpPr>
          <p:cNvPr id="22" name="text-25"/>
          <p:cNvSpPr txBox="1"/>
          <p:nvPr/>
        </p:nvSpPr>
        <p:spPr>
          <a:xfrm>
            <a:off x="5486400" y="4087368"/>
            <a:ext cx="3063240" cy="365760"/>
          </a:xfrm>
          <a:prstGeom prst="rect">
            <a:avLst/>
          </a:prstGeom>
          <a:noFill/>
          <a:ln/>
        </p:spPr>
        <p:txBody>
          <a:bodyPr wrap="square" lIns="0" tIns="0" rIns="0" bIns="0" rtlCol="0" anchor="t"/>
          <a:lstStyle/>
          <a:p>
            <a:pPr algn="l" indent="0" marL="0">
              <a:lnSpc>
                <a:spcPct val="105000"/>
              </a:lnSpc>
              <a:buNone/>
            </a:pPr>
            <a:r>
              <a:rPr lang="en-US" sz="1250" dirty="0">
                <a:solidFill>
                  <a:schemeClr val="tx2"/>
                </a:solidFill>
              </a:rPr>
              <a:t>Xərclər büdcə ilə vaxtında müqayisə olunmur</a:t>
            </a:r>
            <a:endParaRPr lang="en-US" sz="1250" dirty="0"/>
          </a:p>
        </p:txBody>
      </p:sp>
      <p:sp>
        <p:nvSpPr>
          <p:cNvPr id="23" name="text-26"/>
          <p:cNvSpPr txBox="1"/>
          <p:nvPr/>
        </p:nvSpPr>
        <p:spPr>
          <a:xfrm>
            <a:off x="457200" y="4736592"/>
            <a:ext cx="6858000" cy="219456"/>
          </a:xfrm>
          <a:prstGeom prst="rect">
            <a:avLst/>
          </a:prstGeom>
          <a:noFill/>
          <a:ln/>
        </p:spPr>
        <p:txBody>
          <a:bodyPr wrap="square" lIns="0" tIns="0" rIns="0" bIns="0" rtlCol="0" anchor="t"/>
          <a:lstStyle/>
          <a:p>
            <a:pPr algn="l" indent="0" marL="0">
              <a:lnSpc>
                <a:spcPct val="105000"/>
              </a:lnSpc>
              <a:buNone/>
            </a:pPr>
            <a:r>
              <a:rPr lang="en-US" sz="1000" i="1" dirty="0">
                <a:solidFill>
                  <a:schemeClr val="accent4"/>
                </a:solidFill>
              </a:rPr>
              <a:t>Mənbə: komandanın 6 şirkətlə apardığı problem kəşfi müsahibələri</a:t>
            </a:r>
            <a:endParaRPr lang="en-US" sz="1000" dirty="0"/>
          </a:p>
        </p:txBody>
      </p:sp>
      <p:sp>
        <p:nvSpPr>
          <p:cNvPr id="25" name="Slide Number Placeholder 0"/>
          <p:cNvSpPr>
            <a:spLocks noGrp="1"/>
          </p:cNvSpPr>
          <p:nvPr>
            <p:ph type="sldNum" sz="quarter" idx="4294967295"/>
          </p:nvPr>
        </p:nvSpPr>
        <p:spPr>
          <a:xfrm>
            <a:off x="8321040" y="481888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27"/>
          <p:cNvSpPr txBox="1"/>
          <p:nvPr/>
        </p:nvSpPr>
        <p:spPr>
          <a:xfrm>
            <a:off x="457200" y="128016"/>
            <a:ext cx="6858000" cy="201168"/>
          </a:xfrm>
          <a:prstGeom prst="rect">
            <a:avLst/>
          </a:prstGeom>
          <a:noFill/>
          <a:ln/>
        </p:spPr>
        <p:txBody>
          <a:bodyPr wrap="square" lIns="0" tIns="0" rIns="0" bIns="0" rtlCol="0" anchor="t"/>
          <a:lstStyle/>
          <a:p>
            <a:pPr algn="l" indent="0" marL="0">
              <a:lnSpc>
                <a:spcPct val="105000"/>
              </a:lnSpc>
              <a:buNone/>
            </a:pPr>
            <a:r>
              <a:rPr lang="en-US" sz="1000" b="1" spc="150" kern="0" dirty="0">
                <a:solidFill>
                  <a:schemeClr val="accent1"/>
                </a:solidFill>
              </a:rPr>
              <a:t>MÜŞTƏRİ SÜBUTU</a:t>
            </a:r>
            <a:endParaRPr lang="en-US" sz="1000" dirty="0"/>
          </a:p>
        </p:txBody>
      </p:sp>
      <p:sp>
        <p:nvSpPr>
          <p:cNvPr id="3" name="Text 5"/>
          <p:cNvSpPr/>
          <p:nvPr>
            <p:ph idx="105" type="title" hasCustomPrompt="1"/>
          </p:nvPr>
        </p:nvSpPr>
        <p:spPr>
          <a:xfrm>
            <a:off x="457200" y="329184"/>
            <a:ext cx="7498080" cy="621792"/>
          </a:xfrm>
          <a:prstGeom prst="rect">
            <a:avLst/>
          </a:prstGeom>
          <a:noFill/>
          <a:ln/>
        </p:spPr>
        <p:txBody>
          <a:bodyPr wrap="square" lIns="0" tIns="0" rIns="0" bIns="0" rtlCol="0" anchor="ctr"/>
          <a:lstStyle/>
          <a:p>
            <a:pPr algn="l" indent="0" marL="0">
              <a:buNone/>
            </a:pPr>
            <a:r>
              <a:rPr lang="en-US" sz="2700" b="1" dirty="0">
                <a:solidFill>
                  <a:srgbClr val="0B1F3A"/>
                </a:solidFill>
                <a:latin typeface="Cambria" pitchFamily="34" charset="0"/>
                <a:ea typeface="Cambria" pitchFamily="34" charset="-122"/>
                <a:cs typeface="Cambria" pitchFamily="34" charset="-120"/>
              </a:rPr>
              <a:t>Müsahibələr: 6 şirkətdə eyni boşluq</a:t>
            </a:r>
            <a:endParaRPr lang="en-US" sz="2700" dirty="0"/>
          </a:p>
        </p:txBody>
      </p:sp>
      <p:sp>
        <p:nvSpPr>
          <p:cNvPr id="4" name="interviews-28"/>
          <p:cNvSpPr/>
          <p:nvPr/>
        </p:nvSpPr>
        <p:spPr>
          <a:xfrm>
            <a:off x="457200" y="1188720"/>
            <a:ext cx="5257800" cy="3474720"/>
          </a:xfrm>
          <a:prstGeom prst="roundRect">
            <a:avLst>
              <a:gd name="adj" fmla="val 2632"/>
            </a:avLst>
          </a:prstGeom>
          <a:solidFill>
            <a:schemeClr val="bg1"/>
          </a:solidFill>
          <a:ln/>
          <a:effectLst>
            <a:outerShdw sx="100000" sy="100000" kx="0" ky="0" algn="bl" rotWithShape="0" blurRad="127000" dist="25400" dir="5400000">
              <a:srgbClr val="0B1F3A">
                <a:alpha val="8000"/>
              </a:srgbClr>
            </a:outerShdw>
          </a:effectLst>
        </p:spPr>
      </p:sp>
      <p:sp>
        <p:nvSpPr>
          <p:cNvPr id="5" name="text-29"/>
          <p:cNvSpPr txBox="1"/>
          <p:nvPr/>
        </p:nvSpPr>
        <p:spPr>
          <a:xfrm>
            <a:off x="731520" y="1371600"/>
            <a:ext cx="1828800" cy="201168"/>
          </a:xfrm>
          <a:prstGeom prst="rect">
            <a:avLst/>
          </a:prstGeom>
          <a:noFill/>
          <a:ln/>
        </p:spPr>
        <p:txBody>
          <a:bodyPr wrap="square" lIns="0" tIns="0" rIns="0" bIns="0" rtlCol="0" anchor="t"/>
          <a:lstStyle/>
          <a:p>
            <a:pPr algn="l" indent="0" marL="0">
              <a:lnSpc>
                <a:spcPct val="105000"/>
              </a:lnSpc>
              <a:buNone/>
            </a:pPr>
            <a:r>
              <a:rPr lang="en-US" sz="1000" b="1" spc="100" kern="0" dirty="0">
                <a:solidFill>
                  <a:schemeClr val="accent4"/>
                </a:solidFill>
              </a:rPr>
              <a:t>ŞİRKƏT</a:t>
            </a:r>
            <a:endParaRPr lang="en-US" sz="1000" dirty="0"/>
          </a:p>
        </p:txBody>
      </p:sp>
      <p:sp>
        <p:nvSpPr>
          <p:cNvPr id="6" name="text-30"/>
          <p:cNvSpPr txBox="1"/>
          <p:nvPr/>
        </p:nvSpPr>
        <p:spPr>
          <a:xfrm>
            <a:off x="2606040" y="1371600"/>
            <a:ext cx="1097280" cy="201168"/>
          </a:xfrm>
          <a:prstGeom prst="rect">
            <a:avLst/>
          </a:prstGeom>
          <a:noFill/>
          <a:ln/>
        </p:spPr>
        <p:txBody>
          <a:bodyPr wrap="square" lIns="0" tIns="0" rIns="0" bIns="0" rtlCol="0" anchor="t"/>
          <a:lstStyle/>
          <a:p>
            <a:pPr algn="l" indent="0" marL="0">
              <a:lnSpc>
                <a:spcPct val="105000"/>
              </a:lnSpc>
              <a:buNone/>
            </a:pPr>
            <a:r>
              <a:rPr lang="en-US" sz="1000" b="1" spc="100" kern="0" dirty="0">
                <a:solidFill>
                  <a:schemeClr val="accent4"/>
                </a:solidFill>
              </a:rPr>
              <a:t>MİQYAS</a:t>
            </a:r>
            <a:endParaRPr lang="en-US" sz="1000" dirty="0"/>
          </a:p>
        </p:txBody>
      </p:sp>
      <p:sp>
        <p:nvSpPr>
          <p:cNvPr id="7" name="text-31"/>
          <p:cNvSpPr txBox="1"/>
          <p:nvPr/>
        </p:nvSpPr>
        <p:spPr>
          <a:xfrm>
            <a:off x="3794760" y="1371600"/>
            <a:ext cx="1645920" cy="201168"/>
          </a:xfrm>
          <a:prstGeom prst="rect">
            <a:avLst/>
          </a:prstGeom>
          <a:noFill/>
          <a:ln/>
        </p:spPr>
        <p:txBody>
          <a:bodyPr wrap="square" lIns="0" tIns="0" rIns="0" bIns="0" rtlCol="0" anchor="t"/>
          <a:lstStyle/>
          <a:p>
            <a:pPr algn="l" indent="0" marL="0">
              <a:lnSpc>
                <a:spcPct val="105000"/>
              </a:lnSpc>
              <a:buNone/>
            </a:pPr>
            <a:r>
              <a:rPr lang="en-US" sz="1000" b="1" spc="100" kern="0" dirty="0">
                <a:solidFill>
                  <a:schemeClr val="accent4"/>
                </a:solidFill>
              </a:rPr>
              <a:t>BÜDCƏ ALƏTİ</a:t>
            </a:r>
            <a:endParaRPr lang="en-US" sz="1000" dirty="0"/>
          </a:p>
        </p:txBody>
      </p:sp>
      <p:sp>
        <p:nvSpPr>
          <p:cNvPr id="8" name="row-line-32"/>
          <p:cNvSpPr/>
          <p:nvPr/>
        </p:nvSpPr>
        <p:spPr>
          <a:xfrm>
            <a:off x="731520" y="1591056"/>
            <a:ext cx="4709160" cy="0"/>
          </a:xfrm>
          <a:prstGeom prst="line">
            <a:avLst/>
          </a:prstGeom>
          <a:noFill/>
          <a:ln w="9525">
            <a:solidFill>
              <a:schemeClr val="accent6"/>
            </a:solidFill>
            <a:prstDash val="solid"/>
          </a:ln>
        </p:spPr>
      </p:sp>
      <p:sp>
        <p:nvSpPr>
          <p:cNvPr id="9" name="text-33"/>
          <p:cNvSpPr txBox="1"/>
          <p:nvPr/>
        </p:nvSpPr>
        <p:spPr>
          <a:xfrm>
            <a:off x="731520" y="1655064"/>
            <a:ext cx="1828800" cy="256032"/>
          </a:xfrm>
          <a:prstGeom prst="rect">
            <a:avLst/>
          </a:prstGeom>
          <a:noFill/>
          <a:ln/>
        </p:spPr>
        <p:txBody>
          <a:bodyPr wrap="square" lIns="0" tIns="0" rIns="0" bIns="0" rtlCol="0" anchor="ctr"/>
          <a:lstStyle/>
          <a:p>
            <a:pPr algn="l" indent="0" marL="0">
              <a:lnSpc>
                <a:spcPct val="105000"/>
              </a:lnSpc>
              <a:buNone/>
            </a:pPr>
            <a:r>
              <a:rPr lang="en-US" sz="1400" b="1" dirty="0">
                <a:solidFill>
                  <a:schemeClr val="tx1"/>
                </a:solidFill>
              </a:rPr>
              <a:t>Milla Dairy</a:t>
            </a:r>
            <a:endParaRPr lang="en-US" sz="1400" dirty="0"/>
          </a:p>
        </p:txBody>
      </p:sp>
      <p:sp>
        <p:nvSpPr>
          <p:cNvPr id="10" name="text-34"/>
          <p:cNvSpPr txBox="1"/>
          <p:nvPr/>
        </p:nvSpPr>
        <p:spPr>
          <a:xfrm>
            <a:off x="2606040" y="1655064"/>
            <a:ext cx="1143000" cy="256032"/>
          </a:xfrm>
          <a:prstGeom prst="rect">
            <a:avLst/>
          </a:prstGeom>
          <a:noFill/>
          <a:ln/>
        </p:spPr>
        <p:txBody>
          <a:bodyPr wrap="square" lIns="0" tIns="0" rIns="0" bIns="0" rtlCol="0" anchor="ctr"/>
          <a:lstStyle/>
          <a:p>
            <a:pPr algn="l" indent="0" marL="0">
              <a:lnSpc>
                <a:spcPct val="105000"/>
              </a:lnSpc>
              <a:buNone/>
            </a:pPr>
            <a:r>
              <a:rPr lang="en-US" sz="1250" dirty="0">
                <a:solidFill>
                  <a:schemeClr val="tx2"/>
                </a:solidFill>
              </a:rPr>
              <a:t>1 300+ işçi</a:t>
            </a:r>
            <a:endParaRPr lang="en-US" sz="1250" dirty="0"/>
          </a:p>
        </p:txBody>
      </p:sp>
      <p:sp>
        <p:nvSpPr>
          <p:cNvPr id="11" name="chip-35"/>
          <p:cNvSpPr/>
          <p:nvPr/>
        </p:nvSpPr>
        <p:spPr>
          <a:xfrm>
            <a:off x="3794760" y="1645920"/>
            <a:ext cx="1645920" cy="274320"/>
          </a:xfrm>
          <a:prstGeom prst="roundRect">
            <a:avLst>
              <a:gd name="adj" fmla="val 50000"/>
            </a:avLst>
          </a:prstGeom>
          <a:solidFill>
            <a:schemeClr val="accent3">
              <a:alpha val="12000"/>
            </a:schemeClr>
          </a:solidFill>
          <a:ln/>
        </p:spPr>
      </p:sp>
      <p:sp>
        <p:nvSpPr>
          <p:cNvPr id="12" name="chip-text-36"/>
          <p:cNvSpPr txBox="1"/>
          <p:nvPr/>
        </p:nvSpPr>
        <p:spPr>
          <a:xfrm>
            <a:off x="3794760" y="1645920"/>
            <a:ext cx="1645920" cy="274320"/>
          </a:xfrm>
          <a:prstGeom prst="rect">
            <a:avLst/>
          </a:prstGeom>
          <a:noFill/>
          <a:ln/>
        </p:spPr>
        <p:txBody>
          <a:bodyPr wrap="square" lIns="0" tIns="0" rIns="0" bIns="0" rtlCol="0" anchor="ctr"/>
          <a:lstStyle/>
          <a:p>
            <a:pPr algn="ctr" indent="0" marL="0">
              <a:lnSpc>
                <a:spcPct val="105000"/>
              </a:lnSpc>
              <a:buNone/>
            </a:pPr>
            <a:r>
              <a:rPr lang="en-US" sz="1100" b="1" dirty="0">
                <a:solidFill>
                  <a:schemeClr val="accent3"/>
                </a:solidFill>
              </a:rPr>
              <a:t>Excel</a:t>
            </a:r>
            <a:endParaRPr lang="en-US" sz="1100" dirty="0"/>
          </a:p>
        </p:txBody>
      </p:sp>
      <p:sp>
        <p:nvSpPr>
          <p:cNvPr id="13" name="row-line-37"/>
          <p:cNvSpPr/>
          <p:nvPr/>
        </p:nvSpPr>
        <p:spPr>
          <a:xfrm>
            <a:off x="731520" y="2084832"/>
            <a:ext cx="4709160" cy="0"/>
          </a:xfrm>
          <a:prstGeom prst="line">
            <a:avLst/>
          </a:prstGeom>
          <a:noFill/>
          <a:ln w="9525">
            <a:solidFill>
              <a:schemeClr val="accent6"/>
            </a:solidFill>
            <a:prstDash val="solid"/>
          </a:ln>
        </p:spPr>
      </p:sp>
      <p:sp>
        <p:nvSpPr>
          <p:cNvPr id="14" name="text-38"/>
          <p:cNvSpPr txBox="1"/>
          <p:nvPr/>
        </p:nvSpPr>
        <p:spPr>
          <a:xfrm>
            <a:off x="731520" y="2148840"/>
            <a:ext cx="1828800" cy="256032"/>
          </a:xfrm>
          <a:prstGeom prst="rect">
            <a:avLst/>
          </a:prstGeom>
          <a:noFill/>
          <a:ln/>
        </p:spPr>
        <p:txBody>
          <a:bodyPr wrap="square" lIns="0" tIns="0" rIns="0" bIns="0" rtlCol="0" anchor="ctr"/>
          <a:lstStyle/>
          <a:p>
            <a:pPr algn="l" indent="0" marL="0">
              <a:lnSpc>
                <a:spcPct val="105000"/>
              </a:lnSpc>
              <a:buNone/>
            </a:pPr>
            <a:r>
              <a:rPr lang="en-US" sz="1400" b="1" dirty="0">
                <a:solidFill>
                  <a:schemeClr val="tx1"/>
                </a:solidFill>
              </a:rPr>
              <a:t>Mars Overseas</a:t>
            </a:r>
            <a:endParaRPr lang="en-US" sz="1400" dirty="0"/>
          </a:p>
        </p:txBody>
      </p:sp>
      <p:sp>
        <p:nvSpPr>
          <p:cNvPr id="15" name="text-39"/>
          <p:cNvSpPr txBox="1"/>
          <p:nvPr/>
        </p:nvSpPr>
        <p:spPr>
          <a:xfrm>
            <a:off x="2606040" y="2148840"/>
            <a:ext cx="1143000" cy="256032"/>
          </a:xfrm>
          <a:prstGeom prst="rect">
            <a:avLst/>
          </a:prstGeom>
          <a:noFill/>
          <a:ln/>
        </p:spPr>
        <p:txBody>
          <a:bodyPr wrap="square" lIns="0" tIns="0" rIns="0" bIns="0" rtlCol="0" anchor="ctr"/>
          <a:lstStyle/>
          <a:p>
            <a:pPr algn="l" indent="0" marL="0">
              <a:lnSpc>
                <a:spcPct val="105000"/>
              </a:lnSpc>
              <a:buNone/>
            </a:pPr>
            <a:r>
              <a:rPr lang="en-US" sz="1250" dirty="0">
                <a:solidFill>
                  <a:schemeClr val="tx2"/>
                </a:solidFill>
              </a:rPr>
              <a:t>1 200+ işçi</a:t>
            </a:r>
            <a:endParaRPr lang="en-US" sz="1250" dirty="0"/>
          </a:p>
        </p:txBody>
      </p:sp>
      <p:sp>
        <p:nvSpPr>
          <p:cNvPr id="16" name="chip-40"/>
          <p:cNvSpPr/>
          <p:nvPr/>
        </p:nvSpPr>
        <p:spPr>
          <a:xfrm>
            <a:off x="3794760" y="2139696"/>
            <a:ext cx="1645920" cy="274320"/>
          </a:xfrm>
          <a:prstGeom prst="roundRect">
            <a:avLst>
              <a:gd name="adj" fmla="val 50000"/>
            </a:avLst>
          </a:prstGeom>
          <a:solidFill>
            <a:schemeClr val="accent3">
              <a:alpha val="12000"/>
            </a:schemeClr>
          </a:solidFill>
          <a:ln/>
        </p:spPr>
      </p:sp>
      <p:sp>
        <p:nvSpPr>
          <p:cNvPr id="17" name="chip-text-41"/>
          <p:cNvSpPr txBox="1"/>
          <p:nvPr/>
        </p:nvSpPr>
        <p:spPr>
          <a:xfrm>
            <a:off x="3794760" y="2139696"/>
            <a:ext cx="1645920" cy="274320"/>
          </a:xfrm>
          <a:prstGeom prst="rect">
            <a:avLst/>
          </a:prstGeom>
          <a:noFill/>
          <a:ln/>
        </p:spPr>
        <p:txBody>
          <a:bodyPr wrap="square" lIns="0" tIns="0" rIns="0" bIns="0" rtlCol="0" anchor="ctr"/>
          <a:lstStyle/>
          <a:p>
            <a:pPr algn="ctr" indent="0" marL="0">
              <a:lnSpc>
                <a:spcPct val="105000"/>
              </a:lnSpc>
              <a:buNone/>
            </a:pPr>
            <a:r>
              <a:rPr lang="en-US" sz="1100" b="1" dirty="0">
                <a:solidFill>
                  <a:schemeClr val="accent3"/>
                </a:solidFill>
              </a:rPr>
              <a:t>Excel</a:t>
            </a:r>
            <a:endParaRPr lang="en-US" sz="1100" dirty="0"/>
          </a:p>
        </p:txBody>
      </p:sp>
      <p:sp>
        <p:nvSpPr>
          <p:cNvPr id="18" name="row-line-42"/>
          <p:cNvSpPr/>
          <p:nvPr/>
        </p:nvSpPr>
        <p:spPr>
          <a:xfrm>
            <a:off x="731520" y="2578608"/>
            <a:ext cx="4709160" cy="0"/>
          </a:xfrm>
          <a:prstGeom prst="line">
            <a:avLst/>
          </a:prstGeom>
          <a:noFill/>
          <a:ln w="9525">
            <a:solidFill>
              <a:schemeClr val="accent6"/>
            </a:solidFill>
            <a:prstDash val="solid"/>
          </a:ln>
        </p:spPr>
      </p:sp>
      <p:sp>
        <p:nvSpPr>
          <p:cNvPr id="19" name="text-43"/>
          <p:cNvSpPr txBox="1"/>
          <p:nvPr/>
        </p:nvSpPr>
        <p:spPr>
          <a:xfrm>
            <a:off x="731520" y="2642616"/>
            <a:ext cx="1828800" cy="256032"/>
          </a:xfrm>
          <a:prstGeom prst="rect">
            <a:avLst/>
          </a:prstGeom>
          <a:noFill/>
          <a:ln/>
        </p:spPr>
        <p:txBody>
          <a:bodyPr wrap="square" lIns="0" tIns="0" rIns="0" bIns="0" rtlCol="0" anchor="ctr"/>
          <a:lstStyle/>
          <a:p>
            <a:pPr algn="l" indent="0" marL="0">
              <a:lnSpc>
                <a:spcPct val="105000"/>
              </a:lnSpc>
              <a:buNone/>
            </a:pPr>
            <a:r>
              <a:rPr lang="en-US" sz="1400" b="1" dirty="0">
                <a:solidFill>
                  <a:schemeClr val="tx1"/>
                </a:solidFill>
              </a:rPr>
              <a:t>ŞamFi</a:t>
            </a:r>
            <a:endParaRPr lang="en-US" sz="1400" dirty="0"/>
          </a:p>
        </p:txBody>
      </p:sp>
      <p:sp>
        <p:nvSpPr>
          <p:cNvPr id="20" name="text-44"/>
          <p:cNvSpPr txBox="1"/>
          <p:nvPr/>
        </p:nvSpPr>
        <p:spPr>
          <a:xfrm>
            <a:off x="731520" y="2880360"/>
            <a:ext cx="3017520" cy="164592"/>
          </a:xfrm>
          <a:prstGeom prst="rect">
            <a:avLst/>
          </a:prstGeom>
          <a:noFill/>
          <a:ln/>
        </p:spPr>
        <p:txBody>
          <a:bodyPr wrap="square" lIns="0" tIns="0" rIns="0" bIns="0" rtlCol="0" anchor="t"/>
          <a:lstStyle/>
          <a:p>
            <a:pPr algn="l" indent="0" marL="0">
              <a:lnSpc>
                <a:spcPct val="105000"/>
              </a:lnSpc>
              <a:buNone/>
            </a:pPr>
            <a:r>
              <a:rPr lang="en-US" sz="950" i="1" dirty="0">
                <a:solidFill>
                  <a:schemeClr val="accent4"/>
                </a:solidFill>
              </a:rPr>
              <a:t>müntəzəm planlama yetərsizdir</a:t>
            </a:r>
            <a:endParaRPr lang="en-US" sz="950" dirty="0"/>
          </a:p>
        </p:txBody>
      </p:sp>
      <p:sp>
        <p:nvSpPr>
          <p:cNvPr id="21" name="text-45"/>
          <p:cNvSpPr txBox="1"/>
          <p:nvPr/>
        </p:nvSpPr>
        <p:spPr>
          <a:xfrm>
            <a:off x="2606040" y="2642616"/>
            <a:ext cx="1143000" cy="256032"/>
          </a:xfrm>
          <a:prstGeom prst="rect">
            <a:avLst/>
          </a:prstGeom>
          <a:noFill/>
          <a:ln/>
        </p:spPr>
        <p:txBody>
          <a:bodyPr wrap="square" lIns="0" tIns="0" rIns="0" bIns="0" rtlCol="0" anchor="ctr"/>
          <a:lstStyle/>
          <a:p>
            <a:pPr algn="l" indent="0" marL="0">
              <a:lnSpc>
                <a:spcPct val="105000"/>
              </a:lnSpc>
              <a:buNone/>
            </a:pPr>
            <a:r>
              <a:rPr lang="en-US" sz="1250" dirty="0">
                <a:solidFill>
                  <a:schemeClr val="tx2"/>
                </a:solidFill>
              </a:rPr>
              <a:t>1 400+ işçi</a:t>
            </a:r>
            <a:endParaRPr lang="en-US" sz="1250" dirty="0"/>
          </a:p>
        </p:txBody>
      </p:sp>
      <p:sp>
        <p:nvSpPr>
          <p:cNvPr id="22" name="chip-46"/>
          <p:cNvSpPr/>
          <p:nvPr/>
        </p:nvSpPr>
        <p:spPr>
          <a:xfrm>
            <a:off x="3794760" y="2633472"/>
            <a:ext cx="1645920" cy="274320"/>
          </a:xfrm>
          <a:prstGeom prst="roundRect">
            <a:avLst>
              <a:gd name="adj" fmla="val 50000"/>
            </a:avLst>
          </a:prstGeom>
          <a:solidFill>
            <a:schemeClr val="accent3">
              <a:alpha val="12000"/>
            </a:schemeClr>
          </a:solidFill>
          <a:ln/>
        </p:spPr>
      </p:sp>
      <p:sp>
        <p:nvSpPr>
          <p:cNvPr id="23" name="chip-text-47"/>
          <p:cNvSpPr txBox="1"/>
          <p:nvPr/>
        </p:nvSpPr>
        <p:spPr>
          <a:xfrm>
            <a:off x="3794760" y="2633472"/>
            <a:ext cx="1645920" cy="274320"/>
          </a:xfrm>
          <a:prstGeom prst="rect">
            <a:avLst/>
          </a:prstGeom>
          <a:noFill/>
          <a:ln/>
        </p:spPr>
        <p:txBody>
          <a:bodyPr wrap="square" lIns="0" tIns="0" rIns="0" bIns="0" rtlCol="0" anchor="ctr"/>
          <a:lstStyle/>
          <a:p>
            <a:pPr algn="ctr" indent="0" marL="0">
              <a:lnSpc>
                <a:spcPct val="105000"/>
              </a:lnSpc>
              <a:buNone/>
            </a:pPr>
            <a:r>
              <a:rPr lang="en-US" sz="1100" b="1" dirty="0">
                <a:solidFill>
                  <a:schemeClr val="accent3"/>
                </a:solidFill>
              </a:rPr>
              <a:t>Dağınıq Excel</a:t>
            </a:r>
            <a:endParaRPr lang="en-US" sz="1100" dirty="0"/>
          </a:p>
        </p:txBody>
      </p:sp>
      <p:sp>
        <p:nvSpPr>
          <p:cNvPr id="24" name="row-line-48"/>
          <p:cNvSpPr/>
          <p:nvPr/>
        </p:nvSpPr>
        <p:spPr>
          <a:xfrm>
            <a:off x="731520" y="3072384"/>
            <a:ext cx="4709160" cy="0"/>
          </a:xfrm>
          <a:prstGeom prst="line">
            <a:avLst/>
          </a:prstGeom>
          <a:noFill/>
          <a:ln w="9525">
            <a:solidFill>
              <a:schemeClr val="accent6"/>
            </a:solidFill>
            <a:prstDash val="solid"/>
          </a:ln>
        </p:spPr>
      </p:sp>
      <p:sp>
        <p:nvSpPr>
          <p:cNvPr id="25" name="text-49"/>
          <p:cNvSpPr txBox="1"/>
          <p:nvPr/>
        </p:nvSpPr>
        <p:spPr>
          <a:xfrm>
            <a:off x="731520" y="3136392"/>
            <a:ext cx="1828800" cy="256032"/>
          </a:xfrm>
          <a:prstGeom prst="rect">
            <a:avLst/>
          </a:prstGeom>
          <a:noFill/>
          <a:ln/>
        </p:spPr>
        <p:txBody>
          <a:bodyPr wrap="square" lIns="0" tIns="0" rIns="0" bIns="0" rtlCol="0" anchor="ctr"/>
          <a:lstStyle/>
          <a:p>
            <a:pPr algn="l" indent="0" marL="0">
              <a:lnSpc>
                <a:spcPct val="105000"/>
              </a:lnSpc>
              <a:buNone/>
            </a:pPr>
            <a:r>
              <a:rPr lang="en-US" sz="1400" b="1" dirty="0">
                <a:solidFill>
                  <a:schemeClr val="tx1"/>
                </a:solidFill>
              </a:rPr>
              <a:t>PASHA Bank</a:t>
            </a:r>
            <a:endParaRPr lang="en-US" sz="1400" dirty="0"/>
          </a:p>
        </p:txBody>
      </p:sp>
      <p:sp>
        <p:nvSpPr>
          <p:cNvPr id="26" name="text-50"/>
          <p:cNvSpPr txBox="1"/>
          <p:nvPr/>
        </p:nvSpPr>
        <p:spPr>
          <a:xfrm>
            <a:off x="2606040" y="3136392"/>
            <a:ext cx="1143000" cy="256032"/>
          </a:xfrm>
          <a:prstGeom prst="rect">
            <a:avLst/>
          </a:prstGeom>
          <a:noFill/>
          <a:ln/>
        </p:spPr>
        <p:txBody>
          <a:bodyPr wrap="square" lIns="0" tIns="0" rIns="0" bIns="0" rtlCol="0" anchor="ctr"/>
          <a:lstStyle/>
          <a:p>
            <a:pPr algn="l" indent="0" marL="0">
              <a:lnSpc>
                <a:spcPct val="105000"/>
              </a:lnSpc>
              <a:buNone/>
            </a:pPr>
            <a:r>
              <a:rPr lang="en-US" sz="1250" dirty="0">
                <a:solidFill>
                  <a:schemeClr val="tx2"/>
                </a:solidFill>
              </a:rPr>
              <a:t>1 400+ işçi</a:t>
            </a:r>
            <a:endParaRPr lang="en-US" sz="1250" dirty="0"/>
          </a:p>
        </p:txBody>
      </p:sp>
      <p:sp>
        <p:nvSpPr>
          <p:cNvPr id="27" name="chip-51"/>
          <p:cNvSpPr/>
          <p:nvPr/>
        </p:nvSpPr>
        <p:spPr>
          <a:xfrm>
            <a:off x="3794760" y="3127248"/>
            <a:ext cx="1645920" cy="274320"/>
          </a:xfrm>
          <a:prstGeom prst="roundRect">
            <a:avLst>
              <a:gd name="adj" fmla="val 50000"/>
            </a:avLst>
          </a:prstGeom>
          <a:solidFill>
            <a:schemeClr val="accent3">
              <a:alpha val="12000"/>
            </a:schemeClr>
          </a:solidFill>
          <a:ln/>
        </p:spPr>
      </p:sp>
      <p:sp>
        <p:nvSpPr>
          <p:cNvPr id="28" name="chip-text-52"/>
          <p:cNvSpPr txBox="1"/>
          <p:nvPr/>
        </p:nvSpPr>
        <p:spPr>
          <a:xfrm>
            <a:off x="3794760" y="3127248"/>
            <a:ext cx="1645920" cy="274320"/>
          </a:xfrm>
          <a:prstGeom prst="rect">
            <a:avLst/>
          </a:prstGeom>
          <a:noFill/>
          <a:ln/>
        </p:spPr>
        <p:txBody>
          <a:bodyPr wrap="square" lIns="0" tIns="0" rIns="0" bIns="0" rtlCol="0" anchor="ctr"/>
          <a:lstStyle/>
          <a:p>
            <a:pPr algn="ctr" indent="0" marL="0">
              <a:lnSpc>
                <a:spcPct val="105000"/>
              </a:lnSpc>
              <a:buNone/>
            </a:pPr>
            <a:r>
              <a:rPr lang="en-US" sz="1100" b="1" dirty="0">
                <a:solidFill>
                  <a:schemeClr val="accent3"/>
                </a:solidFill>
              </a:rPr>
              <a:t>Excel + VBA</a:t>
            </a:r>
            <a:endParaRPr lang="en-US" sz="1100" dirty="0"/>
          </a:p>
        </p:txBody>
      </p:sp>
      <p:sp>
        <p:nvSpPr>
          <p:cNvPr id="29" name="row-line-53"/>
          <p:cNvSpPr/>
          <p:nvPr/>
        </p:nvSpPr>
        <p:spPr>
          <a:xfrm>
            <a:off x="731520" y="3566160"/>
            <a:ext cx="4709160" cy="0"/>
          </a:xfrm>
          <a:prstGeom prst="line">
            <a:avLst/>
          </a:prstGeom>
          <a:noFill/>
          <a:ln w="9525">
            <a:solidFill>
              <a:schemeClr val="accent6"/>
            </a:solidFill>
            <a:prstDash val="solid"/>
          </a:ln>
        </p:spPr>
      </p:sp>
      <p:sp>
        <p:nvSpPr>
          <p:cNvPr id="30" name="text-54"/>
          <p:cNvSpPr txBox="1"/>
          <p:nvPr/>
        </p:nvSpPr>
        <p:spPr>
          <a:xfrm>
            <a:off x="731520" y="3630168"/>
            <a:ext cx="1828800" cy="256032"/>
          </a:xfrm>
          <a:prstGeom prst="rect">
            <a:avLst/>
          </a:prstGeom>
          <a:noFill/>
          <a:ln/>
        </p:spPr>
        <p:txBody>
          <a:bodyPr wrap="square" lIns="0" tIns="0" rIns="0" bIns="0" rtlCol="0" anchor="ctr"/>
          <a:lstStyle/>
          <a:p>
            <a:pPr algn="l" indent="0" marL="0">
              <a:lnSpc>
                <a:spcPct val="105000"/>
              </a:lnSpc>
              <a:buNone/>
            </a:pPr>
            <a:r>
              <a:rPr lang="en-US" sz="1400" b="1" dirty="0">
                <a:solidFill>
                  <a:schemeClr val="tx1"/>
                </a:solidFill>
              </a:rPr>
              <a:t>VektorDS</a:t>
            </a:r>
            <a:endParaRPr lang="en-US" sz="1400" dirty="0"/>
          </a:p>
        </p:txBody>
      </p:sp>
      <p:sp>
        <p:nvSpPr>
          <p:cNvPr id="31" name="text-55"/>
          <p:cNvSpPr txBox="1"/>
          <p:nvPr/>
        </p:nvSpPr>
        <p:spPr>
          <a:xfrm>
            <a:off x="2606040" y="3630168"/>
            <a:ext cx="1143000" cy="256032"/>
          </a:xfrm>
          <a:prstGeom prst="rect">
            <a:avLst/>
          </a:prstGeom>
          <a:noFill/>
          <a:ln/>
        </p:spPr>
        <p:txBody>
          <a:bodyPr wrap="square" lIns="0" tIns="0" rIns="0" bIns="0" rtlCol="0" anchor="ctr"/>
          <a:lstStyle/>
          <a:p>
            <a:pPr algn="l" indent="0" marL="0">
              <a:lnSpc>
                <a:spcPct val="105000"/>
              </a:lnSpc>
              <a:buNone/>
            </a:pPr>
            <a:r>
              <a:rPr lang="en-US" sz="1250" dirty="0">
                <a:solidFill>
                  <a:schemeClr val="tx2"/>
                </a:solidFill>
              </a:rPr>
              <a:t>300+ işçi</a:t>
            </a:r>
            <a:endParaRPr lang="en-US" sz="1250" dirty="0"/>
          </a:p>
        </p:txBody>
      </p:sp>
      <p:sp>
        <p:nvSpPr>
          <p:cNvPr id="32" name="chip-56"/>
          <p:cNvSpPr/>
          <p:nvPr/>
        </p:nvSpPr>
        <p:spPr>
          <a:xfrm>
            <a:off x="3794760" y="3621024"/>
            <a:ext cx="1645920" cy="274320"/>
          </a:xfrm>
          <a:prstGeom prst="roundRect">
            <a:avLst>
              <a:gd name="adj" fmla="val 50000"/>
            </a:avLst>
          </a:prstGeom>
          <a:solidFill>
            <a:schemeClr val="accent3">
              <a:alpha val="12000"/>
            </a:schemeClr>
          </a:solidFill>
          <a:ln/>
        </p:spPr>
      </p:sp>
      <p:sp>
        <p:nvSpPr>
          <p:cNvPr id="33" name="chip-text-57"/>
          <p:cNvSpPr txBox="1"/>
          <p:nvPr/>
        </p:nvSpPr>
        <p:spPr>
          <a:xfrm>
            <a:off x="3794760" y="3621024"/>
            <a:ext cx="1645920" cy="274320"/>
          </a:xfrm>
          <a:prstGeom prst="rect">
            <a:avLst/>
          </a:prstGeom>
          <a:noFill/>
          <a:ln/>
        </p:spPr>
        <p:txBody>
          <a:bodyPr wrap="square" lIns="0" tIns="0" rIns="0" bIns="0" rtlCol="0" anchor="ctr"/>
          <a:lstStyle/>
          <a:p>
            <a:pPr algn="ctr" indent="0" marL="0">
              <a:lnSpc>
                <a:spcPct val="105000"/>
              </a:lnSpc>
              <a:buNone/>
            </a:pPr>
            <a:r>
              <a:rPr lang="en-US" sz="1100" b="1" dirty="0">
                <a:solidFill>
                  <a:schemeClr val="accent3"/>
                </a:solidFill>
              </a:rPr>
              <a:t>Excel</a:t>
            </a:r>
            <a:endParaRPr lang="en-US" sz="1100" dirty="0"/>
          </a:p>
        </p:txBody>
      </p:sp>
      <p:sp>
        <p:nvSpPr>
          <p:cNvPr id="34" name="row-line-58"/>
          <p:cNvSpPr/>
          <p:nvPr/>
        </p:nvSpPr>
        <p:spPr>
          <a:xfrm>
            <a:off x="731520" y="4059936"/>
            <a:ext cx="4709160" cy="0"/>
          </a:xfrm>
          <a:prstGeom prst="line">
            <a:avLst/>
          </a:prstGeom>
          <a:noFill/>
          <a:ln w="9525">
            <a:solidFill>
              <a:schemeClr val="accent6"/>
            </a:solidFill>
            <a:prstDash val="solid"/>
          </a:ln>
        </p:spPr>
      </p:sp>
      <p:sp>
        <p:nvSpPr>
          <p:cNvPr id="35" name="text-59"/>
          <p:cNvSpPr txBox="1"/>
          <p:nvPr/>
        </p:nvSpPr>
        <p:spPr>
          <a:xfrm>
            <a:off x="731520" y="4123944"/>
            <a:ext cx="1828800" cy="256032"/>
          </a:xfrm>
          <a:prstGeom prst="rect">
            <a:avLst/>
          </a:prstGeom>
          <a:noFill/>
          <a:ln/>
        </p:spPr>
        <p:txBody>
          <a:bodyPr wrap="square" lIns="0" tIns="0" rIns="0" bIns="0" rtlCol="0" anchor="ctr"/>
          <a:lstStyle/>
          <a:p>
            <a:pPr algn="l" indent="0" marL="0">
              <a:lnSpc>
                <a:spcPct val="105000"/>
              </a:lnSpc>
              <a:buNone/>
            </a:pPr>
            <a:r>
              <a:rPr lang="en-US" sz="1400" b="1" dirty="0">
                <a:solidFill>
                  <a:schemeClr val="tx1"/>
                </a:solidFill>
              </a:rPr>
              <a:t>Azersun Holding</a:t>
            </a:r>
            <a:endParaRPr lang="en-US" sz="1400" dirty="0"/>
          </a:p>
        </p:txBody>
      </p:sp>
      <p:sp>
        <p:nvSpPr>
          <p:cNvPr id="36" name="text-60"/>
          <p:cNvSpPr txBox="1"/>
          <p:nvPr/>
        </p:nvSpPr>
        <p:spPr>
          <a:xfrm>
            <a:off x="731520" y="4361688"/>
            <a:ext cx="3017520" cy="164592"/>
          </a:xfrm>
          <a:prstGeom prst="rect">
            <a:avLst/>
          </a:prstGeom>
          <a:noFill/>
          <a:ln/>
        </p:spPr>
        <p:txBody>
          <a:bodyPr wrap="square" lIns="0" tIns="0" rIns="0" bIns="0" rtlCol="0" anchor="t"/>
          <a:lstStyle/>
          <a:p>
            <a:pPr algn="l" indent="0" marL="0">
              <a:lnSpc>
                <a:spcPct val="105000"/>
              </a:lnSpc>
              <a:buNone/>
            </a:pPr>
            <a:r>
              <a:rPr lang="en-US" sz="950" i="1" dirty="0">
                <a:solidFill>
                  <a:schemeClr val="accent4"/>
                </a:solidFill>
              </a:rPr>
              <a:t>büdcə prosesini tam əhatə etmir</a:t>
            </a:r>
            <a:endParaRPr lang="en-US" sz="950" dirty="0"/>
          </a:p>
        </p:txBody>
      </p:sp>
      <p:sp>
        <p:nvSpPr>
          <p:cNvPr id="37" name="text-61"/>
          <p:cNvSpPr txBox="1"/>
          <p:nvPr/>
        </p:nvSpPr>
        <p:spPr>
          <a:xfrm>
            <a:off x="2606040" y="4123944"/>
            <a:ext cx="1143000" cy="256032"/>
          </a:xfrm>
          <a:prstGeom prst="rect">
            <a:avLst/>
          </a:prstGeom>
          <a:noFill/>
          <a:ln/>
        </p:spPr>
        <p:txBody>
          <a:bodyPr wrap="square" lIns="0" tIns="0" rIns="0" bIns="0" rtlCol="0" anchor="ctr"/>
          <a:lstStyle/>
          <a:p>
            <a:pPr algn="l" indent="0" marL="0">
              <a:lnSpc>
                <a:spcPct val="105000"/>
              </a:lnSpc>
              <a:buNone/>
            </a:pPr>
            <a:r>
              <a:rPr lang="en-US" sz="1250" dirty="0">
                <a:solidFill>
                  <a:schemeClr val="tx2"/>
                </a:solidFill>
              </a:rPr>
              <a:t>Holdinq</a:t>
            </a:r>
            <a:endParaRPr lang="en-US" sz="1250" dirty="0"/>
          </a:p>
        </p:txBody>
      </p:sp>
      <p:sp>
        <p:nvSpPr>
          <p:cNvPr id="38" name="chip-62"/>
          <p:cNvSpPr/>
          <p:nvPr/>
        </p:nvSpPr>
        <p:spPr>
          <a:xfrm>
            <a:off x="3794760" y="4114800"/>
            <a:ext cx="1645920" cy="274320"/>
          </a:xfrm>
          <a:prstGeom prst="roundRect">
            <a:avLst>
              <a:gd name="adj" fmla="val 50000"/>
            </a:avLst>
          </a:prstGeom>
          <a:solidFill>
            <a:schemeClr val="accent4">
              <a:alpha val="18000"/>
            </a:schemeClr>
          </a:solidFill>
          <a:ln/>
        </p:spPr>
      </p:sp>
      <p:sp>
        <p:nvSpPr>
          <p:cNvPr id="39" name="chip-text-63"/>
          <p:cNvSpPr txBox="1"/>
          <p:nvPr/>
        </p:nvSpPr>
        <p:spPr>
          <a:xfrm>
            <a:off x="3794760" y="4114800"/>
            <a:ext cx="1645920" cy="274320"/>
          </a:xfrm>
          <a:prstGeom prst="rect">
            <a:avLst/>
          </a:prstGeom>
          <a:noFill/>
          <a:ln/>
        </p:spPr>
        <p:txBody>
          <a:bodyPr wrap="square" lIns="0" tIns="0" rIns="0" bIns="0" rtlCol="0" anchor="ctr"/>
          <a:lstStyle/>
          <a:p>
            <a:pPr algn="ctr" indent="0" marL="0">
              <a:lnSpc>
                <a:spcPct val="105000"/>
              </a:lnSpc>
              <a:buNone/>
            </a:pPr>
            <a:r>
              <a:rPr lang="en-US" sz="1100" b="1" dirty="0">
                <a:solidFill>
                  <a:schemeClr val="tx2"/>
                </a:solidFill>
              </a:rPr>
              <a:t>ERP · qismən</a:t>
            </a:r>
            <a:endParaRPr lang="en-US" sz="1100" dirty="0"/>
          </a:p>
        </p:txBody>
      </p:sp>
      <p:sp>
        <p:nvSpPr>
          <p:cNvPr id="40" name="stat-64"/>
          <p:cNvSpPr/>
          <p:nvPr/>
        </p:nvSpPr>
        <p:spPr>
          <a:xfrm>
            <a:off x="5943600" y="1188720"/>
            <a:ext cx="2743200" cy="1033272"/>
          </a:xfrm>
          <a:prstGeom prst="roundRect">
            <a:avLst>
              <a:gd name="adj" fmla="val 8850"/>
            </a:avLst>
          </a:prstGeom>
          <a:solidFill>
            <a:schemeClr val="bg1"/>
          </a:solidFill>
          <a:ln/>
          <a:effectLst>
            <a:outerShdw sx="100000" sy="100000" kx="0" ky="0" algn="bl" rotWithShape="0" blurRad="127000" dist="25400" dir="5400000">
              <a:srgbClr val="0B1F3A">
                <a:alpha val="8000"/>
              </a:srgbClr>
            </a:outerShdw>
          </a:effectLst>
        </p:spPr>
      </p:sp>
      <p:sp>
        <p:nvSpPr>
          <p:cNvPr id="41" name="text-65"/>
          <p:cNvSpPr txBox="1"/>
          <p:nvPr/>
        </p:nvSpPr>
        <p:spPr>
          <a:xfrm>
            <a:off x="6172200" y="1280160"/>
            <a:ext cx="2377440" cy="457200"/>
          </a:xfrm>
          <a:prstGeom prst="rect">
            <a:avLst/>
          </a:prstGeom>
          <a:noFill/>
          <a:ln/>
        </p:spPr>
        <p:txBody>
          <a:bodyPr wrap="square" lIns="0" tIns="0" rIns="0" bIns="0" rtlCol="0" anchor="ctr"/>
          <a:lstStyle/>
          <a:p>
            <a:pPr algn="l" indent="0" marL="0">
              <a:lnSpc>
                <a:spcPct val="105000"/>
              </a:lnSpc>
              <a:buNone/>
            </a:pPr>
            <a:r>
              <a:rPr lang="en-US" sz="2800" b="1" dirty="0">
                <a:solidFill>
                  <a:schemeClr val="tx1"/>
                </a:solidFill>
                <a:latin typeface="Cambria" pitchFamily="34" charset="0"/>
                <a:ea typeface="Cambria" pitchFamily="34" charset="-122"/>
                <a:cs typeface="Cambria" pitchFamily="34" charset="-120"/>
              </a:rPr>
              <a:t>5 / 6</a:t>
            </a:r>
            <a:endParaRPr lang="en-US" sz="2800" dirty="0"/>
          </a:p>
        </p:txBody>
      </p:sp>
      <p:sp>
        <p:nvSpPr>
          <p:cNvPr id="42" name="text-66"/>
          <p:cNvSpPr txBox="1"/>
          <p:nvPr/>
        </p:nvSpPr>
        <p:spPr>
          <a:xfrm>
            <a:off x="6172200" y="1737360"/>
            <a:ext cx="2377440" cy="411480"/>
          </a:xfrm>
          <a:prstGeom prst="rect">
            <a:avLst/>
          </a:prstGeom>
          <a:noFill/>
          <a:ln/>
        </p:spPr>
        <p:txBody>
          <a:bodyPr wrap="square" lIns="0" tIns="0" rIns="0" bIns="0" rtlCol="0" anchor="t"/>
          <a:lstStyle/>
          <a:p>
            <a:pPr algn="l" indent="0" marL="0">
              <a:lnSpc>
                <a:spcPct val="105000"/>
              </a:lnSpc>
              <a:buNone/>
            </a:pPr>
            <a:r>
              <a:rPr lang="en-US" sz="1150" dirty="0">
                <a:solidFill>
                  <a:schemeClr val="tx2"/>
                </a:solidFill>
              </a:rPr>
              <a:t>şirkət büdcəni Excel ilə aparır</a:t>
            </a:r>
            <a:endParaRPr lang="en-US" sz="1150" dirty="0"/>
          </a:p>
        </p:txBody>
      </p:sp>
      <p:sp>
        <p:nvSpPr>
          <p:cNvPr id="43" name="stat-67"/>
          <p:cNvSpPr/>
          <p:nvPr/>
        </p:nvSpPr>
        <p:spPr>
          <a:xfrm>
            <a:off x="5943600" y="2359152"/>
            <a:ext cx="2743200" cy="1033272"/>
          </a:xfrm>
          <a:prstGeom prst="roundRect">
            <a:avLst>
              <a:gd name="adj" fmla="val 8850"/>
            </a:avLst>
          </a:prstGeom>
          <a:solidFill>
            <a:schemeClr val="bg1"/>
          </a:solidFill>
          <a:ln/>
          <a:effectLst>
            <a:outerShdw sx="100000" sy="100000" kx="0" ky="0" algn="bl" rotWithShape="0" blurRad="127000" dist="25400" dir="5400000">
              <a:srgbClr val="0B1F3A">
                <a:alpha val="8000"/>
              </a:srgbClr>
            </a:outerShdw>
          </a:effectLst>
        </p:spPr>
      </p:sp>
      <p:sp>
        <p:nvSpPr>
          <p:cNvPr id="44" name="text-68"/>
          <p:cNvSpPr txBox="1"/>
          <p:nvPr/>
        </p:nvSpPr>
        <p:spPr>
          <a:xfrm>
            <a:off x="6172200" y="2450592"/>
            <a:ext cx="2377440" cy="457200"/>
          </a:xfrm>
          <a:prstGeom prst="rect">
            <a:avLst/>
          </a:prstGeom>
          <a:noFill/>
          <a:ln/>
        </p:spPr>
        <p:txBody>
          <a:bodyPr wrap="square" lIns="0" tIns="0" rIns="0" bIns="0" rtlCol="0" anchor="ctr"/>
          <a:lstStyle/>
          <a:p>
            <a:pPr algn="l" indent="0" marL="0">
              <a:lnSpc>
                <a:spcPct val="105000"/>
              </a:lnSpc>
              <a:buNone/>
            </a:pPr>
            <a:r>
              <a:rPr lang="en-US" sz="2800" b="1" dirty="0">
                <a:solidFill>
                  <a:schemeClr val="accent3"/>
                </a:solidFill>
                <a:latin typeface="Cambria" pitchFamily="34" charset="0"/>
                <a:ea typeface="Cambria" pitchFamily="34" charset="-122"/>
                <a:cs typeface="Cambria" pitchFamily="34" charset="-120"/>
              </a:rPr>
              <a:t>6 / 6</a:t>
            </a:r>
            <a:endParaRPr lang="en-US" sz="2800" dirty="0"/>
          </a:p>
        </p:txBody>
      </p:sp>
      <p:sp>
        <p:nvSpPr>
          <p:cNvPr id="45" name="text-69"/>
          <p:cNvSpPr txBox="1"/>
          <p:nvPr/>
        </p:nvSpPr>
        <p:spPr>
          <a:xfrm>
            <a:off x="6172200" y="2907792"/>
            <a:ext cx="2377440" cy="411480"/>
          </a:xfrm>
          <a:prstGeom prst="rect">
            <a:avLst/>
          </a:prstGeom>
          <a:noFill/>
          <a:ln/>
        </p:spPr>
        <p:txBody>
          <a:bodyPr wrap="square" lIns="0" tIns="0" rIns="0" bIns="0" rtlCol="0" anchor="t"/>
          <a:lstStyle/>
          <a:p>
            <a:pPr algn="l" indent="0" marL="0">
              <a:lnSpc>
                <a:spcPct val="105000"/>
              </a:lnSpc>
              <a:buNone/>
            </a:pPr>
            <a:r>
              <a:rPr lang="en-US" sz="1150" dirty="0">
                <a:solidFill>
                  <a:schemeClr val="tx2"/>
                </a:solidFill>
              </a:rPr>
              <a:t>müsahibədə büdcə prosesini tam əhatə edən sistem aşkar edilmədi</a:t>
            </a:r>
            <a:endParaRPr lang="en-US" sz="1150" dirty="0"/>
          </a:p>
        </p:txBody>
      </p:sp>
      <p:sp>
        <p:nvSpPr>
          <p:cNvPr id="46" name="scope-note-70"/>
          <p:cNvSpPr/>
          <p:nvPr/>
        </p:nvSpPr>
        <p:spPr>
          <a:xfrm>
            <a:off x="5943600" y="3529584"/>
            <a:ext cx="2743200" cy="1133856"/>
          </a:xfrm>
          <a:prstGeom prst="roundRect">
            <a:avLst>
              <a:gd name="adj" fmla="val 8065"/>
            </a:avLst>
          </a:prstGeom>
          <a:solidFill>
            <a:schemeClr val="accent6"/>
          </a:solidFill>
          <a:ln/>
        </p:spPr>
      </p:sp>
      <p:pic>
        <p:nvPicPr>
          <p:cNvPr id="47" name="icon-LuInfo-71" descr="Qeyd">    </p:cNvPr>
          <p:cNvPicPr>
            <a:picLocks noChangeAspect="1"/>
          </p:cNvPicPr>
          <p:nvPr/>
        </p:nvPicPr>
        <p:blipFill>
          <a:blip r:embed="rId1"/>
          <a:stretch>
            <a:fillRect/>
          </a:stretch>
        </p:blipFill>
        <p:spPr>
          <a:xfrm>
            <a:off x="6144768" y="3675888"/>
            <a:ext cx="219456" cy="219456"/>
          </a:xfrm>
          <a:prstGeom prst="rect">
            <a:avLst/>
          </a:prstGeom>
        </p:spPr>
      </p:pic>
      <p:sp>
        <p:nvSpPr>
          <p:cNvPr id="48" name="text-72"/>
          <p:cNvSpPr txBox="1"/>
          <p:nvPr/>
        </p:nvSpPr>
        <p:spPr>
          <a:xfrm>
            <a:off x="6446520" y="3657600"/>
            <a:ext cx="2103120" cy="256032"/>
          </a:xfrm>
          <a:prstGeom prst="rect">
            <a:avLst/>
          </a:prstGeom>
          <a:noFill/>
          <a:ln/>
        </p:spPr>
        <p:txBody>
          <a:bodyPr wrap="square" lIns="0" tIns="0" rIns="0" bIns="0" rtlCol="0" anchor="ctr"/>
          <a:lstStyle/>
          <a:p>
            <a:pPr algn="l" indent="0" marL="0">
              <a:lnSpc>
                <a:spcPct val="105000"/>
              </a:lnSpc>
              <a:buNone/>
            </a:pPr>
            <a:r>
              <a:rPr lang="en-US" sz="1200" b="1" dirty="0">
                <a:solidFill>
                  <a:schemeClr val="tx2"/>
                </a:solidFill>
              </a:rPr>
              <a:t>Problem kəşfidir</a:t>
            </a:r>
            <a:endParaRPr lang="en-US" sz="1200" dirty="0"/>
          </a:p>
        </p:txBody>
      </p:sp>
      <p:sp>
        <p:nvSpPr>
          <p:cNvPr id="49" name="text-73"/>
          <p:cNvSpPr txBox="1"/>
          <p:nvPr/>
        </p:nvSpPr>
        <p:spPr>
          <a:xfrm>
            <a:off x="6144768" y="3959352"/>
            <a:ext cx="2423160" cy="640080"/>
          </a:xfrm>
          <a:prstGeom prst="rect">
            <a:avLst/>
          </a:prstGeom>
          <a:noFill/>
          <a:ln/>
        </p:spPr>
        <p:txBody>
          <a:bodyPr wrap="square" lIns="0" tIns="0" rIns="0" bIns="0" rtlCol="0" anchor="t"/>
          <a:lstStyle/>
          <a:p>
            <a:pPr algn="l" indent="0" marL="0">
              <a:lnSpc>
                <a:spcPct val="105000"/>
              </a:lnSpc>
              <a:buNone/>
            </a:pPr>
            <a:r>
              <a:rPr lang="en-US" sz="1050" dirty="0">
                <a:solidFill>
                  <a:schemeClr val="tx2"/>
                </a:solidFill>
              </a:rPr>
              <a:t>Nəticələr yalnız bu 6 müsahibəyə aiddir. Ödəməyə hazırlıq və pilot razılığı ayrıca yoxlanılacaq.</a:t>
            </a:r>
            <a:endParaRPr lang="en-US" sz="1050" dirty="0"/>
          </a:p>
        </p:txBody>
      </p:sp>
      <p:sp>
        <p:nvSpPr>
          <p:cNvPr id="25" name="Slide Number Placeholder 0"/>
          <p:cNvSpPr>
            <a:spLocks noGrp="1"/>
          </p:cNvSpPr>
          <p:nvPr>
            <p:ph type="sldNum" sz="quarter" idx="4294967295"/>
          </p:nvPr>
        </p:nvSpPr>
        <p:spPr>
          <a:xfrm>
            <a:off x="8321040" y="481888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74"/>
          <p:cNvSpPr txBox="1"/>
          <p:nvPr/>
        </p:nvSpPr>
        <p:spPr>
          <a:xfrm>
            <a:off x="457200" y="128016"/>
            <a:ext cx="6858000" cy="201168"/>
          </a:xfrm>
          <a:prstGeom prst="rect">
            <a:avLst/>
          </a:prstGeom>
          <a:noFill/>
          <a:ln/>
        </p:spPr>
        <p:txBody>
          <a:bodyPr wrap="square" lIns="0" tIns="0" rIns="0" bIns="0" rtlCol="0" anchor="t"/>
          <a:lstStyle/>
          <a:p>
            <a:pPr algn="l" indent="0" marL="0">
              <a:lnSpc>
                <a:spcPct val="105000"/>
              </a:lnSpc>
              <a:buNone/>
            </a:pPr>
            <a:r>
              <a:rPr lang="en-US" sz="1000" b="1" spc="150" kern="0" dirty="0">
                <a:solidFill>
                  <a:schemeClr val="accent1"/>
                </a:solidFill>
              </a:rPr>
              <a:t>HƏDƏF SEQMENT</a:t>
            </a:r>
            <a:endParaRPr lang="en-US" sz="1000" dirty="0"/>
          </a:p>
        </p:txBody>
      </p:sp>
      <p:sp>
        <p:nvSpPr>
          <p:cNvPr id="3" name="Text 5"/>
          <p:cNvSpPr/>
          <p:nvPr>
            <p:ph idx="105" type="title" hasCustomPrompt="1"/>
          </p:nvPr>
        </p:nvSpPr>
        <p:spPr>
          <a:xfrm>
            <a:off x="457200" y="329184"/>
            <a:ext cx="7498080" cy="621792"/>
          </a:xfrm>
          <a:prstGeom prst="rect">
            <a:avLst/>
          </a:prstGeom>
          <a:noFill/>
          <a:ln/>
        </p:spPr>
        <p:txBody>
          <a:bodyPr wrap="square" lIns="0" tIns="0" rIns="0" bIns="0" rtlCol="0" anchor="ctr"/>
          <a:lstStyle/>
          <a:p>
            <a:pPr algn="l" indent="0" marL="0">
              <a:buNone/>
            </a:pPr>
            <a:r>
              <a:rPr lang="en-US" sz="2700" b="1" dirty="0">
                <a:solidFill>
                  <a:srgbClr val="0B1F3A"/>
                </a:solidFill>
                <a:latin typeface="Cambria" pitchFamily="34" charset="0"/>
                <a:ea typeface="Cambria" pitchFamily="34" charset="-122"/>
                <a:cs typeface="Cambria" pitchFamily="34" charset="-120"/>
              </a:rPr>
              <a:t>Hədəf: mürəkkəb büdcə prosesi olan şirkətlər</a:t>
            </a:r>
            <a:endParaRPr lang="en-US" sz="2700" dirty="0"/>
          </a:p>
        </p:txBody>
      </p:sp>
      <p:sp>
        <p:nvSpPr>
          <p:cNvPr id="4" name="criteria-75"/>
          <p:cNvSpPr/>
          <p:nvPr/>
        </p:nvSpPr>
        <p:spPr>
          <a:xfrm>
            <a:off x="457200" y="1188720"/>
            <a:ext cx="3977640" cy="3474720"/>
          </a:xfrm>
          <a:prstGeom prst="roundRect">
            <a:avLst>
              <a:gd name="adj" fmla="val 2632"/>
            </a:avLst>
          </a:prstGeom>
          <a:solidFill>
            <a:schemeClr val="bg1"/>
          </a:solidFill>
          <a:ln/>
          <a:effectLst>
            <a:outerShdw sx="100000" sy="100000" kx="0" ky="0" algn="bl" rotWithShape="0" blurRad="127000" dist="25400" dir="5400000">
              <a:srgbClr val="0B1F3A">
                <a:alpha val="8000"/>
              </a:srgbClr>
            </a:outerShdw>
          </a:effectLst>
        </p:spPr>
      </p:sp>
      <p:sp>
        <p:nvSpPr>
          <p:cNvPr id="5" name="text-76"/>
          <p:cNvSpPr txBox="1"/>
          <p:nvPr/>
        </p:nvSpPr>
        <p:spPr>
          <a:xfrm>
            <a:off x="713232" y="1353312"/>
            <a:ext cx="3474720" cy="201168"/>
          </a:xfrm>
          <a:prstGeom prst="rect">
            <a:avLst/>
          </a:prstGeom>
          <a:noFill/>
          <a:ln/>
        </p:spPr>
        <p:txBody>
          <a:bodyPr wrap="square" lIns="0" tIns="0" rIns="0" bIns="0" rtlCol="0" anchor="t"/>
          <a:lstStyle/>
          <a:p>
            <a:pPr algn="l" indent="0" marL="0">
              <a:lnSpc>
                <a:spcPct val="105000"/>
              </a:lnSpc>
              <a:buNone/>
            </a:pPr>
            <a:r>
              <a:rPr lang="en-US" sz="1000" b="1" spc="100" kern="0" dirty="0">
                <a:solidFill>
                  <a:schemeClr val="accent4"/>
                </a:solidFill>
              </a:rPr>
              <a:t>SEÇİM MEYARLARI</a:t>
            </a:r>
            <a:endParaRPr lang="en-US" sz="1000" dirty="0"/>
          </a:p>
        </p:txBody>
      </p:sp>
      <p:sp>
        <p:nvSpPr>
          <p:cNvPr id="6" name="icon-bg-77"/>
          <p:cNvSpPr/>
          <p:nvPr/>
        </p:nvSpPr>
        <p:spPr>
          <a:xfrm>
            <a:off x="713232" y="1700784"/>
            <a:ext cx="512064" cy="512064"/>
          </a:xfrm>
          <a:prstGeom prst="ellipse">
            <a:avLst/>
          </a:prstGeom>
          <a:solidFill>
            <a:schemeClr val="accent1">
              <a:alpha val="12000"/>
            </a:schemeClr>
          </a:solidFill>
          <a:ln/>
        </p:spPr>
      </p:sp>
      <p:pic>
        <p:nvPicPr>
          <p:cNvPr id="7" name="icon-LuNetwork-78" descr="Network">    </p:cNvPr>
          <p:cNvPicPr>
            <a:picLocks noChangeAspect="1"/>
          </p:cNvPicPr>
          <p:nvPr/>
        </p:nvPicPr>
        <p:blipFill>
          <a:blip r:embed="rId1"/>
          <a:stretch>
            <a:fillRect/>
          </a:stretch>
        </p:blipFill>
        <p:spPr>
          <a:xfrm>
            <a:off x="836127" y="1823679"/>
            <a:ext cx="266273" cy="266273"/>
          </a:xfrm>
          <a:prstGeom prst="rect">
            <a:avLst/>
          </a:prstGeom>
        </p:spPr>
      </p:pic>
      <p:sp>
        <p:nvSpPr>
          <p:cNvPr id="8" name="text-79"/>
          <p:cNvSpPr txBox="1"/>
          <p:nvPr/>
        </p:nvSpPr>
        <p:spPr>
          <a:xfrm>
            <a:off x="1371600" y="1682496"/>
            <a:ext cx="2926080" cy="274320"/>
          </a:xfrm>
          <a:prstGeom prst="rect">
            <a:avLst/>
          </a:prstGeom>
          <a:noFill/>
          <a:ln/>
        </p:spPr>
        <p:txBody>
          <a:bodyPr wrap="square" lIns="0" tIns="0" rIns="0" bIns="0" rtlCol="0" anchor="ctr"/>
          <a:lstStyle/>
          <a:p>
            <a:pPr algn="l" indent="0" marL="0">
              <a:lnSpc>
                <a:spcPct val="105000"/>
              </a:lnSpc>
              <a:buNone/>
            </a:pPr>
            <a:r>
              <a:rPr lang="en-US" sz="1400" b="1" dirty="0">
                <a:solidFill>
                  <a:schemeClr val="tx1"/>
                </a:solidFill>
              </a:rPr>
              <a:t>Prosesin mürəkkəbliyi</a:t>
            </a:r>
            <a:endParaRPr lang="en-US" sz="1400" dirty="0"/>
          </a:p>
        </p:txBody>
      </p:sp>
      <p:sp>
        <p:nvSpPr>
          <p:cNvPr id="9" name="text-80"/>
          <p:cNvSpPr txBox="1"/>
          <p:nvPr/>
        </p:nvSpPr>
        <p:spPr>
          <a:xfrm>
            <a:off x="1371600" y="1956816"/>
            <a:ext cx="2926080" cy="384048"/>
          </a:xfrm>
          <a:prstGeom prst="rect">
            <a:avLst/>
          </a:prstGeom>
          <a:noFill/>
          <a:ln/>
        </p:spPr>
        <p:txBody>
          <a:bodyPr wrap="square" lIns="0" tIns="0" rIns="0" bIns="0" rtlCol="0" anchor="t"/>
          <a:lstStyle/>
          <a:p>
            <a:pPr algn="l" indent="0" marL="0">
              <a:lnSpc>
                <a:spcPct val="105000"/>
              </a:lnSpc>
              <a:buNone/>
            </a:pPr>
            <a:r>
              <a:rPr lang="en-US" sz="1150" dirty="0">
                <a:solidFill>
                  <a:schemeClr val="tx2"/>
                </a:solidFill>
              </a:rPr>
              <a:t>Çoxlu departament, xərc mərkəzi və təsdiq səviyyəsi</a:t>
            </a:r>
            <a:endParaRPr lang="en-US" sz="1150" dirty="0"/>
          </a:p>
        </p:txBody>
      </p:sp>
      <p:sp>
        <p:nvSpPr>
          <p:cNvPr id="10" name="icon-bg-81"/>
          <p:cNvSpPr/>
          <p:nvPr/>
        </p:nvSpPr>
        <p:spPr>
          <a:xfrm>
            <a:off x="713232" y="2487168"/>
            <a:ext cx="512064" cy="512064"/>
          </a:xfrm>
          <a:prstGeom prst="ellipse">
            <a:avLst/>
          </a:prstGeom>
          <a:solidFill>
            <a:schemeClr val="accent1">
              <a:alpha val="12000"/>
            </a:schemeClr>
          </a:solidFill>
          <a:ln/>
        </p:spPr>
      </p:sp>
      <p:pic>
        <p:nvPicPr>
          <p:cNvPr id="11" name="icon-LuFileSpreadsheet-82" descr="FileSpreadsheet">    </p:cNvPr>
          <p:cNvPicPr>
            <a:picLocks noChangeAspect="1"/>
          </p:cNvPicPr>
          <p:nvPr/>
        </p:nvPicPr>
        <p:blipFill>
          <a:blip r:embed="rId2"/>
          <a:stretch>
            <a:fillRect/>
          </a:stretch>
        </p:blipFill>
        <p:spPr>
          <a:xfrm>
            <a:off x="836127" y="2610063"/>
            <a:ext cx="266273" cy="266273"/>
          </a:xfrm>
          <a:prstGeom prst="rect">
            <a:avLst/>
          </a:prstGeom>
        </p:spPr>
      </p:pic>
      <p:sp>
        <p:nvSpPr>
          <p:cNvPr id="12" name="text-83"/>
          <p:cNvSpPr txBox="1"/>
          <p:nvPr/>
        </p:nvSpPr>
        <p:spPr>
          <a:xfrm>
            <a:off x="1371600" y="2468880"/>
            <a:ext cx="2926080" cy="274320"/>
          </a:xfrm>
          <a:prstGeom prst="rect">
            <a:avLst/>
          </a:prstGeom>
          <a:noFill/>
          <a:ln/>
        </p:spPr>
        <p:txBody>
          <a:bodyPr wrap="square" lIns="0" tIns="0" rIns="0" bIns="0" rtlCol="0" anchor="ctr"/>
          <a:lstStyle/>
          <a:p>
            <a:pPr algn="l" indent="0" marL="0">
              <a:lnSpc>
                <a:spcPct val="105000"/>
              </a:lnSpc>
              <a:buNone/>
            </a:pPr>
            <a:r>
              <a:rPr lang="en-US" sz="1400" b="1" dirty="0">
                <a:solidFill>
                  <a:schemeClr val="tx1"/>
                </a:solidFill>
              </a:rPr>
              <a:t>Alətlərin yetərsizliyi</a:t>
            </a:r>
            <a:endParaRPr lang="en-US" sz="1400" dirty="0"/>
          </a:p>
        </p:txBody>
      </p:sp>
      <p:sp>
        <p:nvSpPr>
          <p:cNvPr id="13" name="text-84"/>
          <p:cNvSpPr txBox="1"/>
          <p:nvPr/>
        </p:nvSpPr>
        <p:spPr>
          <a:xfrm>
            <a:off x="1371600" y="2743200"/>
            <a:ext cx="2926080" cy="384048"/>
          </a:xfrm>
          <a:prstGeom prst="rect">
            <a:avLst/>
          </a:prstGeom>
          <a:noFill/>
          <a:ln/>
        </p:spPr>
        <p:txBody>
          <a:bodyPr wrap="square" lIns="0" tIns="0" rIns="0" bIns="0" rtlCol="0" anchor="t"/>
          <a:lstStyle/>
          <a:p>
            <a:pPr algn="l" indent="0" marL="0">
              <a:lnSpc>
                <a:spcPct val="105000"/>
              </a:lnSpc>
              <a:buNone/>
            </a:pPr>
            <a:r>
              <a:rPr lang="en-US" sz="1150" dirty="0">
                <a:solidFill>
                  <a:schemeClr val="tx2"/>
                </a:solidFill>
              </a:rPr>
              <a:t>Excel / VBA və ya büdcəni qismən əhatə edən ERP</a:t>
            </a:r>
            <a:endParaRPr lang="en-US" sz="1150" dirty="0"/>
          </a:p>
        </p:txBody>
      </p:sp>
      <p:sp>
        <p:nvSpPr>
          <p:cNvPr id="14" name="icon-bg-85"/>
          <p:cNvSpPr/>
          <p:nvPr/>
        </p:nvSpPr>
        <p:spPr>
          <a:xfrm>
            <a:off x="713232" y="3273552"/>
            <a:ext cx="512064" cy="512064"/>
          </a:xfrm>
          <a:prstGeom prst="ellipse">
            <a:avLst/>
          </a:prstGeom>
          <a:solidFill>
            <a:schemeClr val="accent1">
              <a:alpha val="12000"/>
            </a:schemeClr>
          </a:solidFill>
          <a:ln/>
        </p:spPr>
      </p:sp>
      <p:pic>
        <p:nvPicPr>
          <p:cNvPr id="15" name="icon-LuWallet-86" descr="Wallet">    </p:cNvPr>
          <p:cNvPicPr>
            <a:picLocks noChangeAspect="1"/>
          </p:cNvPicPr>
          <p:nvPr/>
        </p:nvPicPr>
        <p:blipFill>
          <a:blip r:embed="rId3"/>
          <a:stretch>
            <a:fillRect/>
          </a:stretch>
        </p:blipFill>
        <p:spPr>
          <a:xfrm>
            <a:off x="836127" y="3396447"/>
            <a:ext cx="266273" cy="266273"/>
          </a:xfrm>
          <a:prstGeom prst="rect">
            <a:avLst/>
          </a:prstGeom>
        </p:spPr>
      </p:pic>
      <p:sp>
        <p:nvSpPr>
          <p:cNvPr id="16" name="text-87"/>
          <p:cNvSpPr txBox="1"/>
          <p:nvPr/>
        </p:nvSpPr>
        <p:spPr>
          <a:xfrm>
            <a:off x="1371600" y="3255264"/>
            <a:ext cx="2926080" cy="274320"/>
          </a:xfrm>
          <a:prstGeom prst="rect">
            <a:avLst/>
          </a:prstGeom>
          <a:noFill/>
          <a:ln/>
        </p:spPr>
        <p:txBody>
          <a:bodyPr wrap="square" lIns="0" tIns="0" rIns="0" bIns="0" rtlCol="0" anchor="ctr"/>
          <a:lstStyle/>
          <a:p>
            <a:pPr algn="l" indent="0" marL="0">
              <a:lnSpc>
                <a:spcPct val="105000"/>
              </a:lnSpc>
              <a:buNone/>
            </a:pPr>
            <a:r>
              <a:rPr lang="en-US" sz="1400" b="1" dirty="0">
                <a:solidFill>
                  <a:schemeClr val="tx1"/>
                </a:solidFill>
              </a:rPr>
              <a:t>Alış potensialı</a:t>
            </a:r>
            <a:endParaRPr lang="en-US" sz="1400" dirty="0"/>
          </a:p>
        </p:txBody>
      </p:sp>
      <p:sp>
        <p:nvSpPr>
          <p:cNvPr id="17" name="text-88"/>
          <p:cNvSpPr txBox="1"/>
          <p:nvPr/>
        </p:nvSpPr>
        <p:spPr>
          <a:xfrm>
            <a:off x="1371600" y="3529584"/>
            <a:ext cx="2926080" cy="384048"/>
          </a:xfrm>
          <a:prstGeom prst="rect">
            <a:avLst/>
          </a:prstGeom>
          <a:noFill/>
          <a:ln/>
        </p:spPr>
        <p:txBody>
          <a:bodyPr wrap="square" lIns="0" tIns="0" rIns="0" bIns="0" rtlCol="0" anchor="t"/>
          <a:lstStyle/>
          <a:p>
            <a:pPr algn="l" indent="0" marL="0">
              <a:lnSpc>
                <a:spcPct val="105000"/>
              </a:lnSpc>
              <a:buNone/>
            </a:pPr>
            <a:r>
              <a:rPr lang="en-US" sz="1150" dirty="0">
                <a:solidFill>
                  <a:schemeClr val="tx2"/>
                </a:solidFill>
              </a:rPr>
              <a:t>Maliyyə komandası, CFO və illik büdcə dövrü var</a:t>
            </a:r>
            <a:endParaRPr lang="en-US" sz="1150" dirty="0"/>
          </a:p>
        </p:txBody>
      </p:sp>
      <p:sp>
        <p:nvSpPr>
          <p:cNvPr id="18" name="chip-89"/>
          <p:cNvSpPr/>
          <p:nvPr/>
        </p:nvSpPr>
        <p:spPr>
          <a:xfrm>
            <a:off x="713232" y="4160520"/>
            <a:ext cx="1783080" cy="274320"/>
          </a:xfrm>
          <a:prstGeom prst="roundRect">
            <a:avLst>
              <a:gd name="adj" fmla="val 50000"/>
            </a:avLst>
          </a:prstGeom>
          <a:solidFill>
            <a:schemeClr val="accent2">
              <a:alpha val="15000"/>
            </a:schemeClr>
          </a:solidFill>
          <a:ln/>
        </p:spPr>
      </p:sp>
      <p:sp>
        <p:nvSpPr>
          <p:cNvPr id="19" name="chip-text-90"/>
          <p:cNvSpPr txBox="1"/>
          <p:nvPr/>
        </p:nvSpPr>
        <p:spPr>
          <a:xfrm>
            <a:off x="713232" y="4160520"/>
            <a:ext cx="1783080" cy="274320"/>
          </a:xfrm>
          <a:prstGeom prst="rect">
            <a:avLst/>
          </a:prstGeom>
          <a:noFill/>
          <a:ln/>
        </p:spPr>
        <p:txBody>
          <a:bodyPr wrap="square" lIns="0" tIns="0" rIns="0" bIns="0" rtlCol="0" anchor="ctr"/>
          <a:lstStyle/>
          <a:p>
            <a:pPr algn="ctr" indent="0" marL="0">
              <a:lnSpc>
                <a:spcPct val="105000"/>
              </a:lnSpc>
              <a:buNone/>
            </a:pPr>
            <a:r>
              <a:rPr lang="en-US" sz="1100" b="1" dirty="0">
                <a:solidFill>
                  <a:schemeClr val="accent2"/>
                </a:solidFill>
              </a:rPr>
              <a:t>İlk bazar: Azərbaycan</a:t>
            </a:r>
            <a:endParaRPr lang="en-US" sz="1100" dirty="0"/>
          </a:p>
        </p:txBody>
      </p:sp>
      <p:sp>
        <p:nvSpPr>
          <p:cNvPr id="20" name="text-91"/>
          <p:cNvSpPr txBox="1"/>
          <p:nvPr/>
        </p:nvSpPr>
        <p:spPr>
          <a:xfrm>
            <a:off x="2606040" y="4160520"/>
            <a:ext cx="1691640" cy="274320"/>
          </a:xfrm>
          <a:prstGeom prst="rect">
            <a:avLst/>
          </a:prstGeom>
          <a:noFill/>
          <a:ln/>
        </p:spPr>
        <p:txBody>
          <a:bodyPr wrap="square" lIns="0" tIns="0" rIns="0" bIns="0" rtlCol="0" anchor="ctr"/>
          <a:lstStyle/>
          <a:p>
            <a:pPr algn="l" indent="0" marL="0">
              <a:lnSpc>
                <a:spcPct val="105000"/>
              </a:lnSpc>
              <a:buNone/>
            </a:pPr>
            <a:r>
              <a:rPr lang="en-US" sz="1000" i="1" dirty="0">
                <a:solidFill>
                  <a:schemeClr val="accent4"/>
                </a:solidFill>
              </a:rPr>
              <a:t>İşçi sayı tək meyar deyil</a:t>
            </a:r>
            <a:endParaRPr lang="en-US" sz="1000" dirty="0"/>
          </a:p>
        </p:txBody>
      </p:sp>
      <p:sp>
        <p:nvSpPr>
          <p:cNvPr id="21" name="alternatives-92"/>
          <p:cNvSpPr/>
          <p:nvPr/>
        </p:nvSpPr>
        <p:spPr>
          <a:xfrm>
            <a:off x="4617720" y="1188720"/>
            <a:ext cx="4069080" cy="3474720"/>
          </a:xfrm>
          <a:prstGeom prst="roundRect">
            <a:avLst>
              <a:gd name="adj" fmla="val 2632"/>
            </a:avLst>
          </a:prstGeom>
          <a:solidFill>
            <a:schemeClr val="bg1"/>
          </a:solidFill>
          <a:ln/>
          <a:effectLst>
            <a:outerShdw sx="100000" sy="100000" kx="0" ky="0" algn="bl" rotWithShape="0" blurRad="127000" dist="25400" dir="5400000">
              <a:srgbClr val="0B1F3A">
                <a:alpha val="8000"/>
              </a:srgbClr>
            </a:outerShdw>
          </a:effectLst>
        </p:spPr>
      </p:sp>
      <p:sp>
        <p:nvSpPr>
          <p:cNvPr id="22" name="text-93"/>
          <p:cNvSpPr txBox="1"/>
          <p:nvPr/>
        </p:nvSpPr>
        <p:spPr>
          <a:xfrm>
            <a:off x="4873752" y="1353312"/>
            <a:ext cx="3657600" cy="201168"/>
          </a:xfrm>
          <a:prstGeom prst="rect">
            <a:avLst/>
          </a:prstGeom>
          <a:noFill/>
          <a:ln/>
        </p:spPr>
        <p:txBody>
          <a:bodyPr wrap="square" lIns="0" tIns="0" rIns="0" bIns="0" rtlCol="0" anchor="t"/>
          <a:lstStyle/>
          <a:p>
            <a:pPr algn="l" indent="0" marL="0">
              <a:lnSpc>
                <a:spcPct val="105000"/>
              </a:lnSpc>
              <a:buNone/>
            </a:pPr>
            <a:r>
              <a:rPr lang="en-US" sz="1000" b="1" spc="100" kern="0" dirty="0">
                <a:solidFill>
                  <a:schemeClr val="accent4"/>
                </a:solidFill>
              </a:rPr>
              <a:t>MÖVCUD ALTERNATİVLƏR NİYƏ ÇATMIR</a:t>
            </a:r>
            <a:endParaRPr lang="en-US" sz="1000" dirty="0"/>
          </a:p>
        </p:txBody>
      </p:sp>
      <p:sp>
        <p:nvSpPr>
          <p:cNvPr id="23" name="text-94"/>
          <p:cNvSpPr txBox="1"/>
          <p:nvPr/>
        </p:nvSpPr>
        <p:spPr>
          <a:xfrm>
            <a:off x="4873752" y="1682496"/>
            <a:ext cx="3611880" cy="256032"/>
          </a:xfrm>
          <a:prstGeom prst="rect">
            <a:avLst/>
          </a:prstGeom>
          <a:noFill/>
          <a:ln/>
        </p:spPr>
        <p:txBody>
          <a:bodyPr wrap="square" lIns="0" tIns="0" rIns="0" bIns="0" rtlCol="0" anchor="ctr"/>
          <a:lstStyle/>
          <a:p>
            <a:pPr algn="l" indent="0" marL="0">
              <a:lnSpc>
                <a:spcPct val="105000"/>
              </a:lnSpc>
              <a:buNone/>
            </a:pPr>
            <a:r>
              <a:rPr lang="en-US" sz="1350" b="1" dirty="0">
                <a:solidFill>
                  <a:schemeClr val="tx1"/>
                </a:solidFill>
              </a:rPr>
              <a:t>Excel əsaslı manual büdcə</a:t>
            </a:r>
            <a:endParaRPr lang="en-US" sz="1350" dirty="0"/>
          </a:p>
        </p:txBody>
      </p:sp>
      <p:sp>
        <p:nvSpPr>
          <p:cNvPr id="24" name="text-95"/>
          <p:cNvSpPr txBox="1"/>
          <p:nvPr/>
        </p:nvSpPr>
        <p:spPr>
          <a:xfrm>
            <a:off x="4873752" y="1956816"/>
            <a:ext cx="3611880" cy="384048"/>
          </a:xfrm>
          <a:prstGeom prst="rect">
            <a:avLst/>
          </a:prstGeom>
          <a:noFill/>
          <a:ln/>
        </p:spPr>
        <p:txBody>
          <a:bodyPr wrap="square" lIns="0" tIns="0" rIns="0" bIns="0" rtlCol="0" anchor="t"/>
          <a:lstStyle/>
          <a:p>
            <a:pPr algn="l" indent="0" marL="0">
              <a:lnSpc>
                <a:spcPct val="105000"/>
              </a:lnSpc>
              <a:buNone/>
            </a:pPr>
            <a:r>
              <a:rPr lang="en-US" sz="1150" dirty="0">
                <a:solidFill>
                  <a:schemeClr val="tx2"/>
                </a:solidFill>
              </a:rPr>
              <a:t>Tanış və çevikdir, amma konsolidasiya, versiya və təsdiq əl ilə aparılır</a:t>
            </a:r>
            <a:endParaRPr lang="en-US" sz="1150" dirty="0"/>
          </a:p>
        </p:txBody>
      </p:sp>
      <p:sp>
        <p:nvSpPr>
          <p:cNvPr id="25" name="alt-line-96"/>
          <p:cNvSpPr/>
          <p:nvPr/>
        </p:nvSpPr>
        <p:spPr>
          <a:xfrm>
            <a:off x="4873752" y="2523744"/>
            <a:ext cx="3566160" cy="0"/>
          </a:xfrm>
          <a:prstGeom prst="line">
            <a:avLst/>
          </a:prstGeom>
          <a:noFill/>
          <a:ln w="9525">
            <a:solidFill>
              <a:schemeClr val="accent6"/>
            </a:solidFill>
            <a:prstDash val="solid"/>
          </a:ln>
        </p:spPr>
      </p:sp>
      <p:sp>
        <p:nvSpPr>
          <p:cNvPr id="26" name="text-97"/>
          <p:cNvSpPr txBox="1"/>
          <p:nvPr/>
        </p:nvSpPr>
        <p:spPr>
          <a:xfrm>
            <a:off x="4873752" y="2633472"/>
            <a:ext cx="3611880" cy="256032"/>
          </a:xfrm>
          <a:prstGeom prst="rect">
            <a:avLst/>
          </a:prstGeom>
          <a:noFill/>
          <a:ln/>
        </p:spPr>
        <p:txBody>
          <a:bodyPr wrap="square" lIns="0" tIns="0" rIns="0" bIns="0" rtlCol="0" anchor="ctr"/>
          <a:lstStyle/>
          <a:p>
            <a:pPr algn="l" indent="0" marL="0">
              <a:lnSpc>
                <a:spcPct val="105000"/>
              </a:lnSpc>
              <a:buNone/>
            </a:pPr>
            <a:r>
              <a:rPr lang="en-US" sz="1350" b="1" dirty="0">
                <a:solidFill>
                  <a:schemeClr val="tx1"/>
                </a:solidFill>
              </a:rPr>
              <a:t>ERP və mühasibat sistemləri</a:t>
            </a:r>
            <a:endParaRPr lang="en-US" sz="1350" dirty="0"/>
          </a:p>
        </p:txBody>
      </p:sp>
      <p:sp>
        <p:nvSpPr>
          <p:cNvPr id="27" name="text-98"/>
          <p:cNvSpPr txBox="1"/>
          <p:nvPr/>
        </p:nvSpPr>
        <p:spPr>
          <a:xfrm>
            <a:off x="4873752" y="2907792"/>
            <a:ext cx="3611880" cy="384048"/>
          </a:xfrm>
          <a:prstGeom prst="rect">
            <a:avLst/>
          </a:prstGeom>
          <a:noFill/>
          <a:ln/>
        </p:spPr>
        <p:txBody>
          <a:bodyPr wrap="square" lIns="0" tIns="0" rIns="0" bIns="0" rtlCol="0" anchor="t"/>
          <a:lstStyle/>
          <a:p>
            <a:pPr algn="l" indent="0" marL="0">
              <a:lnSpc>
                <a:spcPct val="105000"/>
              </a:lnSpc>
              <a:buNone/>
            </a:pPr>
            <a:r>
              <a:rPr lang="en-US" sz="1150" dirty="0">
                <a:solidFill>
                  <a:schemeClr val="tx2"/>
                </a:solidFill>
              </a:rPr>
              <a:t>Faktı uçota alır; planlama və təsdiq prosesi tam əhatə olunmaya bilər</a:t>
            </a:r>
            <a:endParaRPr lang="en-US" sz="1150" dirty="0"/>
          </a:p>
        </p:txBody>
      </p:sp>
      <p:sp>
        <p:nvSpPr>
          <p:cNvPr id="28" name="alt-line-99"/>
          <p:cNvSpPr/>
          <p:nvPr/>
        </p:nvSpPr>
        <p:spPr>
          <a:xfrm>
            <a:off x="4873752" y="3474720"/>
            <a:ext cx="3566160" cy="0"/>
          </a:xfrm>
          <a:prstGeom prst="line">
            <a:avLst/>
          </a:prstGeom>
          <a:noFill/>
          <a:ln w="9525">
            <a:solidFill>
              <a:schemeClr val="accent6"/>
            </a:solidFill>
            <a:prstDash val="solid"/>
          </a:ln>
        </p:spPr>
      </p:sp>
      <p:sp>
        <p:nvSpPr>
          <p:cNvPr id="29" name="text-100"/>
          <p:cNvSpPr txBox="1"/>
          <p:nvPr/>
        </p:nvSpPr>
        <p:spPr>
          <a:xfrm>
            <a:off x="4873752" y="3584448"/>
            <a:ext cx="3611880" cy="256032"/>
          </a:xfrm>
          <a:prstGeom prst="rect">
            <a:avLst/>
          </a:prstGeom>
          <a:noFill/>
          <a:ln/>
        </p:spPr>
        <p:txBody>
          <a:bodyPr wrap="square" lIns="0" tIns="0" rIns="0" bIns="0" rtlCol="0" anchor="ctr"/>
          <a:lstStyle/>
          <a:p>
            <a:pPr algn="l" indent="0" marL="0">
              <a:lnSpc>
                <a:spcPct val="105000"/>
              </a:lnSpc>
              <a:buNone/>
            </a:pPr>
            <a:r>
              <a:rPr lang="en-US" sz="1350" b="1" dirty="0">
                <a:solidFill>
                  <a:schemeClr val="tx1"/>
                </a:solidFill>
              </a:rPr>
              <a:t>Korporativ FP&amp;A platformaları</a:t>
            </a:r>
            <a:endParaRPr lang="en-US" sz="1350" dirty="0"/>
          </a:p>
        </p:txBody>
      </p:sp>
      <p:sp>
        <p:nvSpPr>
          <p:cNvPr id="30" name="text-101"/>
          <p:cNvSpPr txBox="1"/>
          <p:nvPr/>
        </p:nvSpPr>
        <p:spPr>
          <a:xfrm>
            <a:off x="4873752" y="3858768"/>
            <a:ext cx="3611880" cy="201168"/>
          </a:xfrm>
          <a:prstGeom prst="rect">
            <a:avLst/>
          </a:prstGeom>
          <a:noFill/>
          <a:ln/>
        </p:spPr>
        <p:txBody>
          <a:bodyPr wrap="square" lIns="0" tIns="0" rIns="0" bIns="0" rtlCol="0" anchor="t"/>
          <a:lstStyle/>
          <a:p>
            <a:pPr algn="l" indent="0" marL="0">
              <a:lnSpc>
                <a:spcPct val="105000"/>
              </a:lnSpc>
              <a:buNone/>
            </a:pPr>
            <a:r>
              <a:rPr lang="en-US" sz="1000" b="1" dirty="0">
                <a:solidFill>
                  <a:schemeClr val="accent1"/>
                </a:solidFill>
              </a:rPr>
              <a:t>Anaplan · Workday Adaptive Planning · Planful</a:t>
            </a:r>
            <a:endParaRPr lang="en-US" sz="1000" dirty="0"/>
          </a:p>
        </p:txBody>
      </p:sp>
      <p:sp>
        <p:nvSpPr>
          <p:cNvPr id="31" name="text-102"/>
          <p:cNvSpPr txBox="1"/>
          <p:nvPr/>
        </p:nvSpPr>
        <p:spPr>
          <a:xfrm>
            <a:off x="4873752" y="4078224"/>
            <a:ext cx="3611880" cy="384048"/>
          </a:xfrm>
          <a:prstGeom prst="rect">
            <a:avLst/>
          </a:prstGeom>
          <a:noFill/>
          <a:ln/>
        </p:spPr>
        <p:txBody>
          <a:bodyPr wrap="square" lIns="0" tIns="0" rIns="0" bIns="0" rtlCol="0" anchor="t"/>
          <a:lstStyle/>
          <a:p>
            <a:pPr algn="l" indent="0" marL="0">
              <a:lnSpc>
                <a:spcPct val="105000"/>
              </a:lnSpc>
              <a:buNone/>
            </a:pPr>
            <a:r>
              <a:rPr lang="en-US" sz="1150" dirty="0">
                <a:solidFill>
                  <a:schemeClr val="tx2"/>
                </a:solidFill>
              </a:rPr>
              <a:t>Güclü qlobal həllərdir; tətbiq, lisenziya xərci və yerli uyğunlaşdırma maneə ola bilər</a:t>
            </a:r>
            <a:endParaRPr lang="en-US" sz="1150" dirty="0"/>
          </a:p>
        </p:txBody>
      </p:sp>
      <p:sp>
        <p:nvSpPr>
          <p:cNvPr id="25" name="Slide Number Placeholder 0"/>
          <p:cNvSpPr>
            <a:spLocks noGrp="1"/>
          </p:cNvSpPr>
          <p:nvPr>
            <p:ph type="sldNum" sz="quarter" idx="4294967295"/>
          </p:nvPr>
        </p:nvSpPr>
        <p:spPr>
          <a:xfrm>
            <a:off x="8321040" y="481888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103"/>
          <p:cNvSpPr txBox="1"/>
          <p:nvPr/>
        </p:nvSpPr>
        <p:spPr>
          <a:xfrm>
            <a:off x="457200" y="128016"/>
            <a:ext cx="6858000" cy="201168"/>
          </a:xfrm>
          <a:prstGeom prst="rect">
            <a:avLst/>
          </a:prstGeom>
          <a:noFill/>
          <a:ln/>
        </p:spPr>
        <p:txBody>
          <a:bodyPr wrap="square" lIns="0" tIns="0" rIns="0" bIns="0" rtlCol="0" anchor="t"/>
          <a:lstStyle/>
          <a:p>
            <a:pPr algn="l" indent="0" marL="0">
              <a:lnSpc>
                <a:spcPct val="105000"/>
              </a:lnSpc>
              <a:buNone/>
            </a:pPr>
            <a:r>
              <a:rPr lang="en-US" sz="1000" b="1" spc="150" kern="0" dirty="0">
                <a:solidFill>
                  <a:schemeClr val="accent1"/>
                </a:solidFill>
              </a:rPr>
              <a:t>HƏLL VƏ FƏRQLƏNDİRMƏ</a:t>
            </a:r>
            <a:endParaRPr lang="en-US" sz="1000" dirty="0"/>
          </a:p>
        </p:txBody>
      </p:sp>
      <p:sp>
        <p:nvSpPr>
          <p:cNvPr id="3" name="Text 5"/>
          <p:cNvSpPr/>
          <p:nvPr>
            <p:ph idx="105" type="title" hasCustomPrompt="1"/>
          </p:nvPr>
        </p:nvSpPr>
        <p:spPr>
          <a:xfrm>
            <a:off x="457200" y="329184"/>
            <a:ext cx="7498080" cy="621792"/>
          </a:xfrm>
          <a:prstGeom prst="rect">
            <a:avLst/>
          </a:prstGeom>
          <a:noFill/>
          <a:ln/>
        </p:spPr>
        <p:txBody>
          <a:bodyPr wrap="square" lIns="0" tIns="0" rIns="0" bIns="0" rtlCol="0" anchor="ctr"/>
          <a:lstStyle/>
          <a:p>
            <a:pPr algn="l" indent="0" marL="0">
              <a:buNone/>
            </a:pPr>
            <a:r>
              <a:rPr lang="en-US" sz="2700" b="1" dirty="0">
                <a:solidFill>
                  <a:srgbClr val="0B1F3A"/>
                </a:solidFill>
                <a:latin typeface="Cambria" pitchFamily="34" charset="0"/>
                <a:ea typeface="Cambria" pitchFamily="34" charset="-122"/>
                <a:cs typeface="Cambria" pitchFamily="34" charset="-120"/>
              </a:rPr>
              <a:t>Həll: plan, təsdiq və nəzarət bir sistemdə</a:t>
            </a:r>
            <a:endParaRPr lang="en-US" sz="2700" dirty="0"/>
          </a:p>
        </p:txBody>
      </p:sp>
      <p:sp>
        <p:nvSpPr>
          <p:cNvPr id="4" name="process-104"/>
          <p:cNvSpPr/>
          <p:nvPr/>
        </p:nvSpPr>
        <p:spPr>
          <a:xfrm>
            <a:off x="457200" y="1188720"/>
            <a:ext cx="8229600" cy="1463040"/>
          </a:xfrm>
          <a:prstGeom prst="roundRect">
            <a:avLst>
              <a:gd name="adj" fmla="val 6250"/>
            </a:avLst>
          </a:prstGeom>
          <a:solidFill>
            <a:schemeClr val="bg1"/>
          </a:solidFill>
          <a:ln/>
          <a:effectLst>
            <a:outerShdw sx="100000" sy="100000" kx="0" ky="0" algn="bl" rotWithShape="0" blurRad="127000" dist="25400" dir="5400000">
              <a:srgbClr val="0B1F3A">
                <a:alpha val="8000"/>
              </a:srgbClr>
            </a:outerShdw>
          </a:effectLst>
        </p:spPr>
      </p:sp>
      <p:sp>
        <p:nvSpPr>
          <p:cNvPr id="5" name="process-line"/>
          <p:cNvSpPr/>
          <p:nvPr/>
        </p:nvSpPr>
        <p:spPr>
          <a:xfrm>
            <a:off x="1485900" y="1591056"/>
            <a:ext cx="6172200" cy="0"/>
          </a:xfrm>
          <a:prstGeom prst="line">
            <a:avLst/>
          </a:prstGeom>
          <a:noFill/>
          <a:ln w="19050">
            <a:solidFill>
              <a:schemeClr val="accent5"/>
            </a:solidFill>
            <a:prstDash val="solid"/>
          </a:ln>
        </p:spPr>
      </p:sp>
      <p:sp>
        <p:nvSpPr>
          <p:cNvPr id="6" name="num-105"/>
          <p:cNvSpPr/>
          <p:nvPr/>
        </p:nvSpPr>
        <p:spPr>
          <a:xfrm>
            <a:off x="1266444" y="1371600"/>
            <a:ext cx="438912" cy="438912"/>
          </a:xfrm>
          <a:prstGeom prst="ellipse">
            <a:avLst/>
          </a:prstGeom>
          <a:solidFill>
            <a:schemeClr val="accent1"/>
          </a:solidFill>
          <a:ln/>
        </p:spPr>
      </p:sp>
      <p:sp>
        <p:nvSpPr>
          <p:cNvPr id="7" name="num-text-106"/>
          <p:cNvSpPr txBox="1"/>
          <p:nvPr/>
        </p:nvSpPr>
        <p:spPr>
          <a:xfrm>
            <a:off x="1266444" y="1371600"/>
            <a:ext cx="438912" cy="438912"/>
          </a:xfrm>
          <a:prstGeom prst="rect">
            <a:avLst/>
          </a:prstGeom>
          <a:noFill/>
          <a:ln/>
        </p:spPr>
        <p:txBody>
          <a:bodyPr wrap="square" lIns="0" tIns="0" rIns="0" bIns="0" rtlCol="0" anchor="ctr"/>
          <a:lstStyle/>
          <a:p>
            <a:pPr algn="ctr" indent="0" marL="0">
              <a:lnSpc>
                <a:spcPct val="105000"/>
              </a:lnSpc>
              <a:buNone/>
            </a:pPr>
            <a:r>
              <a:rPr lang="en-US" sz="1500" b="1" dirty="0">
                <a:solidFill>
                  <a:schemeClr val="bg1"/>
                </a:solidFill>
              </a:rPr>
              <a:t>1</a:t>
            </a:r>
            <a:endParaRPr lang="en-US" sz="1500" dirty="0"/>
          </a:p>
        </p:txBody>
      </p:sp>
      <p:sp>
        <p:nvSpPr>
          <p:cNvPr id="8" name="text-107"/>
          <p:cNvSpPr txBox="1"/>
          <p:nvPr/>
        </p:nvSpPr>
        <p:spPr>
          <a:xfrm>
            <a:off x="525780" y="1892808"/>
            <a:ext cx="1920240" cy="274320"/>
          </a:xfrm>
          <a:prstGeom prst="rect">
            <a:avLst/>
          </a:prstGeom>
          <a:noFill/>
          <a:ln/>
        </p:spPr>
        <p:txBody>
          <a:bodyPr wrap="square" lIns="0" tIns="0" rIns="0" bIns="0" rtlCol="0" anchor="ctr"/>
          <a:lstStyle/>
          <a:p>
            <a:pPr algn="ctr" indent="0" marL="0">
              <a:lnSpc>
                <a:spcPct val="105000"/>
              </a:lnSpc>
              <a:buNone/>
            </a:pPr>
            <a:r>
              <a:rPr lang="en-US" sz="1500" b="1" dirty="0">
                <a:solidFill>
                  <a:schemeClr val="tx1"/>
                </a:solidFill>
                <a:latin typeface="Cambria" pitchFamily="34" charset="0"/>
                <a:ea typeface="Cambria" pitchFamily="34" charset="-122"/>
                <a:cs typeface="Cambria" pitchFamily="34" charset="-120"/>
              </a:rPr>
              <a:t>Planla</a:t>
            </a:r>
            <a:endParaRPr lang="en-US" sz="1500" dirty="0"/>
          </a:p>
        </p:txBody>
      </p:sp>
      <p:sp>
        <p:nvSpPr>
          <p:cNvPr id="9" name="text-108"/>
          <p:cNvSpPr txBox="1"/>
          <p:nvPr/>
        </p:nvSpPr>
        <p:spPr>
          <a:xfrm>
            <a:off x="525780" y="2176272"/>
            <a:ext cx="1920240" cy="365760"/>
          </a:xfrm>
          <a:prstGeom prst="rect">
            <a:avLst/>
          </a:prstGeom>
          <a:noFill/>
          <a:ln/>
        </p:spPr>
        <p:txBody>
          <a:bodyPr wrap="square" lIns="0" tIns="0" rIns="0" bIns="0" rtlCol="0" anchor="t"/>
          <a:lstStyle/>
          <a:p>
            <a:pPr algn="ctr" indent="0" marL="0">
              <a:lnSpc>
                <a:spcPct val="105000"/>
              </a:lnSpc>
              <a:buNone/>
            </a:pPr>
            <a:r>
              <a:rPr lang="en-US" sz="1150" dirty="0">
                <a:solidFill>
                  <a:schemeClr val="accent4"/>
                </a:solidFill>
              </a:rPr>
              <a:t>Keçmiş illərin faktı ilə yan-yana</a:t>
            </a:r>
            <a:endParaRPr lang="en-US" sz="1150" dirty="0"/>
          </a:p>
        </p:txBody>
      </p:sp>
      <p:sp>
        <p:nvSpPr>
          <p:cNvPr id="10" name="num-109"/>
          <p:cNvSpPr/>
          <p:nvPr/>
        </p:nvSpPr>
        <p:spPr>
          <a:xfrm>
            <a:off x="3323844" y="1371600"/>
            <a:ext cx="438912" cy="438912"/>
          </a:xfrm>
          <a:prstGeom prst="ellipse">
            <a:avLst/>
          </a:prstGeom>
          <a:solidFill>
            <a:schemeClr val="accent1"/>
          </a:solidFill>
          <a:ln/>
        </p:spPr>
      </p:sp>
      <p:sp>
        <p:nvSpPr>
          <p:cNvPr id="11" name="num-text-110"/>
          <p:cNvSpPr txBox="1"/>
          <p:nvPr/>
        </p:nvSpPr>
        <p:spPr>
          <a:xfrm>
            <a:off x="3323844" y="1371600"/>
            <a:ext cx="438912" cy="438912"/>
          </a:xfrm>
          <a:prstGeom prst="rect">
            <a:avLst/>
          </a:prstGeom>
          <a:noFill/>
          <a:ln/>
        </p:spPr>
        <p:txBody>
          <a:bodyPr wrap="square" lIns="0" tIns="0" rIns="0" bIns="0" rtlCol="0" anchor="ctr"/>
          <a:lstStyle/>
          <a:p>
            <a:pPr algn="ctr" indent="0" marL="0">
              <a:lnSpc>
                <a:spcPct val="105000"/>
              </a:lnSpc>
              <a:buNone/>
            </a:pPr>
            <a:r>
              <a:rPr lang="en-US" sz="1500" b="1" dirty="0">
                <a:solidFill>
                  <a:schemeClr val="bg1"/>
                </a:solidFill>
              </a:rPr>
              <a:t>2</a:t>
            </a:r>
            <a:endParaRPr lang="en-US" sz="1500" dirty="0"/>
          </a:p>
        </p:txBody>
      </p:sp>
      <p:sp>
        <p:nvSpPr>
          <p:cNvPr id="12" name="text-111"/>
          <p:cNvSpPr txBox="1"/>
          <p:nvPr/>
        </p:nvSpPr>
        <p:spPr>
          <a:xfrm>
            <a:off x="2583180" y="1892808"/>
            <a:ext cx="1920240" cy="274320"/>
          </a:xfrm>
          <a:prstGeom prst="rect">
            <a:avLst/>
          </a:prstGeom>
          <a:noFill/>
          <a:ln/>
        </p:spPr>
        <p:txBody>
          <a:bodyPr wrap="square" lIns="0" tIns="0" rIns="0" bIns="0" rtlCol="0" anchor="ctr"/>
          <a:lstStyle/>
          <a:p>
            <a:pPr algn="ctr" indent="0" marL="0">
              <a:lnSpc>
                <a:spcPct val="105000"/>
              </a:lnSpc>
              <a:buNone/>
            </a:pPr>
            <a:r>
              <a:rPr lang="en-US" sz="1500" b="1" dirty="0">
                <a:solidFill>
                  <a:schemeClr val="tx1"/>
                </a:solidFill>
                <a:latin typeface="Cambria" pitchFamily="34" charset="0"/>
                <a:ea typeface="Cambria" pitchFamily="34" charset="-122"/>
                <a:cs typeface="Cambria" pitchFamily="34" charset="-120"/>
              </a:rPr>
              <a:t>Təsdiqlə</a:t>
            </a:r>
            <a:endParaRPr lang="en-US" sz="1500" dirty="0"/>
          </a:p>
        </p:txBody>
      </p:sp>
      <p:sp>
        <p:nvSpPr>
          <p:cNvPr id="13" name="text-112"/>
          <p:cNvSpPr txBox="1"/>
          <p:nvPr/>
        </p:nvSpPr>
        <p:spPr>
          <a:xfrm>
            <a:off x="2583180" y="2176272"/>
            <a:ext cx="1920240" cy="365760"/>
          </a:xfrm>
          <a:prstGeom prst="rect">
            <a:avLst/>
          </a:prstGeom>
          <a:noFill/>
          <a:ln/>
        </p:spPr>
        <p:txBody>
          <a:bodyPr wrap="square" lIns="0" tIns="0" rIns="0" bIns="0" rtlCol="0" anchor="t"/>
          <a:lstStyle/>
          <a:p>
            <a:pPr algn="ctr" indent="0" marL="0">
              <a:lnSpc>
                <a:spcPct val="105000"/>
              </a:lnSpc>
              <a:buNone/>
            </a:pPr>
            <a:r>
              <a:rPr lang="en-US" sz="1150" dirty="0">
                <a:solidFill>
                  <a:schemeClr val="accent4"/>
                </a:solidFill>
              </a:rPr>
              <a:t>Şirkətin öz təsdiq mərhələləri</a:t>
            </a:r>
            <a:endParaRPr lang="en-US" sz="1150" dirty="0"/>
          </a:p>
        </p:txBody>
      </p:sp>
      <p:sp>
        <p:nvSpPr>
          <p:cNvPr id="14" name="num-113"/>
          <p:cNvSpPr/>
          <p:nvPr/>
        </p:nvSpPr>
        <p:spPr>
          <a:xfrm>
            <a:off x="5381244" y="1371600"/>
            <a:ext cx="438912" cy="438912"/>
          </a:xfrm>
          <a:prstGeom prst="ellipse">
            <a:avLst/>
          </a:prstGeom>
          <a:solidFill>
            <a:schemeClr val="accent1"/>
          </a:solidFill>
          <a:ln/>
        </p:spPr>
      </p:sp>
      <p:sp>
        <p:nvSpPr>
          <p:cNvPr id="15" name="num-text-114"/>
          <p:cNvSpPr txBox="1"/>
          <p:nvPr/>
        </p:nvSpPr>
        <p:spPr>
          <a:xfrm>
            <a:off x="5381244" y="1371600"/>
            <a:ext cx="438912" cy="438912"/>
          </a:xfrm>
          <a:prstGeom prst="rect">
            <a:avLst/>
          </a:prstGeom>
          <a:noFill/>
          <a:ln/>
        </p:spPr>
        <p:txBody>
          <a:bodyPr wrap="square" lIns="0" tIns="0" rIns="0" bIns="0" rtlCol="0" anchor="ctr"/>
          <a:lstStyle/>
          <a:p>
            <a:pPr algn="ctr" indent="0" marL="0">
              <a:lnSpc>
                <a:spcPct val="105000"/>
              </a:lnSpc>
              <a:buNone/>
            </a:pPr>
            <a:r>
              <a:rPr lang="en-US" sz="1500" b="1" dirty="0">
                <a:solidFill>
                  <a:schemeClr val="bg1"/>
                </a:solidFill>
              </a:rPr>
              <a:t>3</a:t>
            </a:r>
            <a:endParaRPr lang="en-US" sz="1500" dirty="0"/>
          </a:p>
        </p:txBody>
      </p:sp>
      <p:sp>
        <p:nvSpPr>
          <p:cNvPr id="16" name="text-115"/>
          <p:cNvSpPr txBox="1"/>
          <p:nvPr/>
        </p:nvSpPr>
        <p:spPr>
          <a:xfrm>
            <a:off x="4640580" y="1892808"/>
            <a:ext cx="1920240" cy="274320"/>
          </a:xfrm>
          <a:prstGeom prst="rect">
            <a:avLst/>
          </a:prstGeom>
          <a:noFill/>
          <a:ln/>
        </p:spPr>
        <p:txBody>
          <a:bodyPr wrap="square" lIns="0" tIns="0" rIns="0" bIns="0" rtlCol="0" anchor="ctr"/>
          <a:lstStyle/>
          <a:p>
            <a:pPr algn="ctr" indent="0" marL="0">
              <a:lnSpc>
                <a:spcPct val="105000"/>
              </a:lnSpc>
              <a:buNone/>
            </a:pPr>
            <a:r>
              <a:rPr lang="en-US" sz="1500" b="1" dirty="0">
                <a:solidFill>
                  <a:schemeClr val="tx1"/>
                </a:solidFill>
                <a:latin typeface="Cambria" pitchFamily="34" charset="0"/>
                <a:ea typeface="Cambria" pitchFamily="34" charset="-122"/>
                <a:cs typeface="Cambria" pitchFamily="34" charset="-120"/>
              </a:rPr>
              <a:t>Nəzarət et</a:t>
            </a:r>
            <a:endParaRPr lang="en-US" sz="1500" dirty="0"/>
          </a:p>
        </p:txBody>
      </p:sp>
      <p:sp>
        <p:nvSpPr>
          <p:cNvPr id="17" name="text-116"/>
          <p:cNvSpPr txBox="1"/>
          <p:nvPr/>
        </p:nvSpPr>
        <p:spPr>
          <a:xfrm>
            <a:off x="4640580" y="2176272"/>
            <a:ext cx="1920240" cy="365760"/>
          </a:xfrm>
          <a:prstGeom prst="rect">
            <a:avLst/>
          </a:prstGeom>
          <a:noFill/>
          <a:ln/>
        </p:spPr>
        <p:txBody>
          <a:bodyPr wrap="square" lIns="0" tIns="0" rIns="0" bIns="0" rtlCol="0" anchor="t"/>
          <a:lstStyle/>
          <a:p>
            <a:pPr algn="ctr" indent="0" marL="0">
              <a:lnSpc>
                <a:spcPct val="105000"/>
              </a:lnSpc>
              <a:buNone/>
            </a:pPr>
            <a:r>
              <a:rPr lang="en-US" sz="1150" dirty="0">
                <a:solidFill>
                  <a:schemeClr val="accent4"/>
                </a:solidFill>
              </a:rPr>
              <a:t>Xərc büdcə qalığı ilə yoxlanılır</a:t>
            </a:r>
            <a:endParaRPr lang="en-US" sz="1150" dirty="0"/>
          </a:p>
        </p:txBody>
      </p:sp>
      <p:sp>
        <p:nvSpPr>
          <p:cNvPr id="18" name="num-117"/>
          <p:cNvSpPr/>
          <p:nvPr/>
        </p:nvSpPr>
        <p:spPr>
          <a:xfrm>
            <a:off x="7438644" y="1371600"/>
            <a:ext cx="438912" cy="438912"/>
          </a:xfrm>
          <a:prstGeom prst="ellipse">
            <a:avLst/>
          </a:prstGeom>
          <a:solidFill>
            <a:schemeClr val="accent1"/>
          </a:solidFill>
          <a:ln/>
        </p:spPr>
      </p:sp>
      <p:sp>
        <p:nvSpPr>
          <p:cNvPr id="19" name="num-text-118"/>
          <p:cNvSpPr txBox="1"/>
          <p:nvPr/>
        </p:nvSpPr>
        <p:spPr>
          <a:xfrm>
            <a:off x="7438644" y="1371600"/>
            <a:ext cx="438912" cy="438912"/>
          </a:xfrm>
          <a:prstGeom prst="rect">
            <a:avLst/>
          </a:prstGeom>
          <a:noFill/>
          <a:ln/>
        </p:spPr>
        <p:txBody>
          <a:bodyPr wrap="square" lIns="0" tIns="0" rIns="0" bIns="0" rtlCol="0" anchor="ctr"/>
          <a:lstStyle/>
          <a:p>
            <a:pPr algn="ctr" indent="0" marL="0">
              <a:lnSpc>
                <a:spcPct val="105000"/>
              </a:lnSpc>
              <a:buNone/>
            </a:pPr>
            <a:r>
              <a:rPr lang="en-US" sz="1500" b="1" dirty="0">
                <a:solidFill>
                  <a:schemeClr val="bg1"/>
                </a:solidFill>
              </a:rPr>
              <a:t>4</a:t>
            </a:r>
            <a:endParaRPr lang="en-US" sz="1500" dirty="0"/>
          </a:p>
        </p:txBody>
      </p:sp>
      <p:sp>
        <p:nvSpPr>
          <p:cNvPr id="20" name="text-119"/>
          <p:cNvSpPr txBox="1"/>
          <p:nvPr/>
        </p:nvSpPr>
        <p:spPr>
          <a:xfrm>
            <a:off x="6697980" y="1892808"/>
            <a:ext cx="1920240" cy="274320"/>
          </a:xfrm>
          <a:prstGeom prst="rect">
            <a:avLst/>
          </a:prstGeom>
          <a:noFill/>
          <a:ln/>
        </p:spPr>
        <p:txBody>
          <a:bodyPr wrap="square" lIns="0" tIns="0" rIns="0" bIns="0" rtlCol="0" anchor="ctr"/>
          <a:lstStyle/>
          <a:p>
            <a:pPr algn="ctr" indent="0" marL="0">
              <a:lnSpc>
                <a:spcPct val="105000"/>
              </a:lnSpc>
              <a:buNone/>
            </a:pPr>
            <a:r>
              <a:rPr lang="en-US" sz="1500" b="1" dirty="0">
                <a:solidFill>
                  <a:schemeClr val="tx1"/>
                </a:solidFill>
                <a:latin typeface="Cambria" pitchFamily="34" charset="0"/>
                <a:ea typeface="Cambria" pitchFamily="34" charset="-122"/>
                <a:cs typeface="Cambria" pitchFamily="34" charset="-120"/>
              </a:rPr>
              <a:t>İzlə</a:t>
            </a:r>
            <a:endParaRPr lang="en-US" sz="1500" dirty="0"/>
          </a:p>
        </p:txBody>
      </p:sp>
      <p:sp>
        <p:nvSpPr>
          <p:cNvPr id="21" name="text-120"/>
          <p:cNvSpPr txBox="1"/>
          <p:nvPr/>
        </p:nvSpPr>
        <p:spPr>
          <a:xfrm>
            <a:off x="6697980" y="2176272"/>
            <a:ext cx="1920240" cy="365760"/>
          </a:xfrm>
          <a:prstGeom prst="rect">
            <a:avLst/>
          </a:prstGeom>
          <a:noFill/>
          <a:ln/>
        </p:spPr>
        <p:txBody>
          <a:bodyPr wrap="square" lIns="0" tIns="0" rIns="0" bIns="0" rtlCol="0" anchor="t"/>
          <a:lstStyle/>
          <a:p>
            <a:pPr algn="ctr" indent="0" marL="0">
              <a:lnSpc>
                <a:spcPct val="105000"/>
              </a:lnSpc>
              <a:buNone/>
            </a:pPr>
            <a:r>
              <a:rPr lang="en-US" sz="1150" dirty="0">
                <a:solidFill>
                  <a:schemeClr val="accent4"/>
                </a:solidFill>
              </a:rPr>
              <a:t>Plan, fakt, öhdəlik və qalıq</a:t>
            </a:r>
            <a:endParaRPr lang="en-US" sz="1150" dirty="0"/>
          </a:p>
        </p:txBody>
      </p:sp>
      <p:sp>
        <p:nvSpPr>
          <p:cNvPr id="22" name="text-121"/>
          <p:cNvSpPr txBox="1"/>
          <p:nvPr/>
        </p:nvSpPr>
        <p:spPr>
          <a:xfrm>
            <a:off x="457200" y="2807208"/>
            <a:ext cx="3657600" cy="201168"/>
          </a:xfrm>
          <a:prstGeom prst="rect">
            <a:avLst/>
          </a:prstGeom>
          <a:noFill/>
          <a:ln/>
        </p:spPr>
        <p:txBody>
          <a:bodyPr wrap="square" lIns="0" tIns="0" rIns="0" bIns="0" rtlCol="0" anchor="t"/>
          <a:lstStyle/>
          <a:p>
            <a:pPr algn="l" indent="0" marL="0">
              <a:lnSpc>
                <a:spcPct val="105000"/>
              </a:lnSpc>
              <a:buNone/>
            </a:pPr>
            <a:r>
              <a:rPr lang="en-US" sz="1000" b="1" spc="100" kern="0" dirty="0">
                <a:solidFill>
                  <a:schemeClr val="accent4"/>
                </a:solidFill>
              </a:rPr>
              <a:t>FƏRQLƏNDİRMƏ</a:t>
            </a:r>
            <a:endParaRPr lang="en-US" sz="1000" dirty="0"/>
          </a:p>
        </p:txBody>
      </p:sp>
      <p:sp>
        <p:nvSpPr>
          <p:cNvPr id="23" name="diff-card-122"/>
          <p:cNvSpPr/>
          <p:nvPr/>
        </p:nvSpPr>
        <p:spPr>
          <a:xfrm>
            <a:off x="457200" y="3072384"/>
            <a:ext cx="4023360" cy="1591056"/>
          </a:xfrm>
          <a:prstGeom prst="roundRect">
            <a:avLst>
              <a:gd name="adj" fmla="val 5747"/>
            </a:avLst>
          </a:prstGeom>
          <a:solidFill>
            <a:schemeClr val="bg1"/>
          </a:solidFill>
          <a:ln/>
          <a:effectLst>
            <a:outerShdw sx="100000" sy="100000" kx="0" ky="0" algn="bl" rotWithShape="0" blurRad="127000" dist="25400" dir="5400000">
              <a:srgbClr val="0B1F3A">
                <a:alpha val="8000"/>
              </a:srgbClr>
            </a:outerShdw>
          </a:effectLst>
        </p:spPr>
      </p:sp>
      <p:sp>
        <p:nvSpPr>
          <p:cNvPr id="24" name="chip-123"/>
          <p:cNvSpPr/>
          <p:nvPr/>
        </p:nvSpPr>
        <p:spPr>
          <a:xfrm>
            <a:off x="685800" y="3218688"/>
            <a:ext cx="1051560" cy="256032"/>
          </a:xfrm>
          <a:prstGeom prst="roundRect">
            <a:avLst>
              <a:gd name="adj" fmla="val 50000"/>
            </a:avLst>
          </a:prstGeom>
          <a:solidFill>
            <a:schemeClr val="accent2">
              <a:alpha val="14000"/>
            </a:schemeClr>
          </a:solidFill>
          <a:ln/>
        </p:spPr>
      </p:sp>
      <p:sp>
        <p:nvSpPr>
          <p:cNvPr id="25" name="chip-text-124"/>
          <p:cNvSpPr txBox="1"/>
          <p:nvPr/>
        </p:nvSpPr>
        <p:spPr>
          <a:xfrm>
            <a:off x="685800" y="3218688"/>
            <a:ext cx="1051560" cy="256032"/>
          </a:xfrm>
          <a:prstGeom prst="rect">
            <a:avLst/>
          </a:prstGeom>
          <a:noFill/>
          <a:ln/>
        </p:spPr>
        <p:txBody>
          <a:bodyPr wrap="square" lIns="0" tIns="0" rIns="0" bIns="0" rtlCol="0" anchor="ctr"/>
          <a:lstStyle/>
          <a:p>
            <a:pPr algn="ctr" indent="0" marL="0">
              <a:lnSpc>
                <a:spcPct val="105000"/>
              </a:lnSpc>
              <a:buNone/>
            </a:pPr>
            <a:r>
              <a:rPr lang="en-US" sz="1050" b="1" dirty="0">
                <a:solidFill>
                  <a:schemeClr val="accent2"/>
                </a:solidFill>
              </a:rPr>
              <a:t>MVP-də var</a:t>
            </a:r>
            <a:endParaRPr lang="en-US" sz="1050" dirty="0"/>
          </a:p>
        </p:txBody>
      </p:sp>
      <p:pic>
        <p:nvPicPr>
          <p:cNvPr id="26" name="icon-LuCircleCheck-125" descr="CircleCheck">    </p:cNvPr>
          <p:cNvPicPr>
            <a:picLocks noChangeAspect="1"/>
          </p:cNvPicPr>
          <p:nvPr/>
        </p:nvPicPr>
        <p:blipFill>
          <a:blip r:embed="rId1"/>
          <a:stretch>
            <a:fillRect/>
          </a:stretch>
        </p:blipFill>
        <p:spPr>
          <a:xfrm>
            <a:off x="704088" y="3639312"/>
            <a:ext cx="182880" cy="182880"/>
          </a:xfrm>
          <a:prstGeom prst="rect">
            <a:avLst/>
          </a:prstGeom>
        </p:spPr>
      </p:pic>
      <p:sp>
        <p:nvSpPr>
          <p:cNvPr id="27" name="text-126"/>
          <p:cNvSpPr txBox="1"/>
          <p:nvPr/>
        </p:nvSpPr>
        <p:spPr>
          <a:xfrm>
            <a:off x="987552" y="3611880"/>
            <a:ext cx="3291840" cy="237744"/>
          </a:xfrm>
          <a:prstGeom prst="rect">
            <a:avLst/>
          </a:prstGeom>
          <a:noFill/>
          <a:ln/>
        </p:spPr>
        <p:txBody>
          <a:bodyPr wrap="square" lIns="0" tIns="0" rIns="0" bIns="0" rtlCol="0" anchor="t"/>
          <a:lstStyle/>
          <a:p>
            <a:pPr algn="l" indent="0" marL="0">
              <a:lnSpc>
                <a:spcPct val="105000"/>
              </a:lnSpc>
              <a:buNone/>
            </a:pPr>
            <a:r>
              <a:rPr lang="en-US" sz="1200" dirty="0">
                <a:solidFill>
                  <a:schemeClr val="tx1"/>
                </a:solidFill>
              </a:rPr>
              <a:t>Plan, təsdiq və nəzarət bir sistemdə</a:t>
            </a:r>
            <a:endParaRPr lang="en-US" sz="1200" dirty="0"/>
          </a:p>
        </p:txBody>
      </p:sp>
      <p:pic>
        <p:nvPicPr>
          <p:cNvPr id="28" name="icon-LuCircleCheck-127" descr="CircleCheck">    </p:cNvPr>
          <p:cNvPicPr>
            <a:picLocks noChangeAspect="1"/>
          </p:cNvPicPr>
          <p:nvPr/>
        </p:nvPicPr>
        <p:blipFill>
          <a:blip r:embed="rId2"/>
          <a:stretch>
            <a:fillRect/>
          </a:stretch>
        </p:blipFill>
        <p:spPr>
          <a:xfrm>
            <a:off x="704088" y="3968496"/>
            <a:ext cx="182880" cy="182880"/>
          </a:xfrm>
          <a:prstGeom prst="rect">
            <a:avLst/>
          </a:prstGeom>
        </p:spPr>
      </p:pic>
      <p:sp>
        <p:nvSpPr>
          <p:cNvPr id="29" name="text-128"/>
          <p:cNvSpPr txBox="1"/>
          <p:nvPr/>
        </p:nvSpPr>
        <p:spPr>
          <a:xfrm>
            <a:off x="987552" y="3941064"/>
            <a:ext cx="3291840" cy="237744"/>
          </a:xfrm>
          <a:prstGeom prst="rect">
            <a:avLst/>
          </a:prstGeom>
          <a:noFill/>
          <a:ln/>
        </p:spPr>
        <p:txBody>
          <a:bodyPr wrap="square" lIns="0" tIns="0" rIns="0" bIns="0" rtlCol="0" anchor="t"/>
          <a:lstStyle/>
          <a:p>
            <a:pPr algn="l" indent="0" marL="0">
              <a:lnSpc>
                <a:spcPct val="105000"/>
              </a:lnSpc>
              <a:buNone/>
            </a:pPr>
            <a:r>
              <a:rPr lang="en-US" sz="1200" dirty="0">
                <a:solidFill>
                  <a:schemeClr val="tx1"/>
                </a:solidFill>
              </a:rPr>
              <a:t>Azərbaycan dilində; yerli hesablar planı əsasında</a:t>
            </a:r>
            <a:endParaRPr lang="en-US" sz="1200" dirty="0"/>
          </a:p>
        </p:txBody>
      </p:sp>
      <p:pic>
        <p:nvPicPr>
          <p:cNvPr id="30" name="icon-LuCircleCheck-129" descr="CircleCheck">    </p:cNvPr>
          <p:cNvPicPr>
            <a:picLocks noChangeAspect="1"/>
          </p:cNvPicPr>
          <p:nvPr/>
        </p:nvPicPr>
        <p:blipFill>
          <a:blip r:embed="rId3"/>
          <a:stretch>
            <a:fillRect/>
          </a:stretch>
        </p:blipFill>
        <p:spPr>
          <a:xfrm>
            <a:off x="704088" y="4297680"/>
            <a:ext cx="182880" cy="182880"/>
          </a:xfrm>
          <a:prstGeom prst="rect">
            <a:avLst/>
          </a:prstGeom>
        </p:spPr>
      </p:pic>
      <p:sp>
        <p:nvSpPr>
          <p:cNvPr id="31" name="text-130"/>
          <p:cNvSpPr txBox="1"/>
          <p:nvPr/>
        </p:nvSpPr>
        <p:spPr>
          <a:xfrm>
            <a:off x="987552" y="4270248"/>
            <a:ext cx="3291840" cy="237744"/>
          </a:xfrm>
          <a:prstGeom prst="rect">
            <a:avLst/>
          </a:prstGeom>
          <a:noFill/>
          <a:ln/>
        </p:spPr>
        <p:txBody>
          <a:bodyPr wrap="square" lIns="0" tIns="0" rIns="0" bIns="0" rtlCol="0" anchor="t"/>
          <a:lstStyle/>
          <a:p>
            <a:pPr algn="l" indent="0" marL="0">
              <a:lnSpc>
                <a:spcPct val="105000"/>
              </a:lnSpc>
              <a:buNone/>
            </a:pPr>
            <a:r>
              <a:rPr lang="en-US" sz="1200" dirty="0">
                <a:solidFill>
                  <a:schemeClr val="tx1"/>
                </a:solidFill>
              </a:rPr>
              <a:t>Sektora uyğun büdcə strukturu — 7 sektor şablonu</a:t>
            </a:r>
            <a:endParaRPr lang="en-US" sz="1200" dirty="0"/>
          </a:p>
        </p:txBody>
      </p:sp>
      <p:sp>
        <p:nvSpPr>
          <p:cNvPr id="32" name="diff-card-131"/>
          <p:cNvSpPr/>
          <p:nvPr/>
        </p:nvSpPr>
        <p:spPr>
          <a:xfrm>
            <a:off x="4663440" y="3072384"/>
            <a:ext cx="4023360" cy="1591056"/>
          </a:xfrm>
          <a:prstGeom prst="roundRect">
            <a:avLst>
              <a:gd name="adj" fmla="val 5747"/>
            </a:avLst>
          </a:prstGeom>
          <a:solidFill>
            <a:schemeClr val="bg1"/>
          </a:solidFill>
          <a:ln/>
          <a:effectLst>
            <a:outerShdw sx="100000" sy="100000" kx="0" ky="0" algn="bl" rotWithShape="0" blurRad="127000" dist="25400" dir="5400000">
              <a:srgbClr val="0B1F3A">
                <a:alpha val="8000"/>
              </a:srgbClr>
            </a:outerShdw>
          </a:effectLst>
        </p:spPr>
      </p:sp>
      <p:sp>
        <p:nvSpPr>
          <p:cNvPr id="33" name="chip-132"/>
          <p:cNvSpPr/>
          <p:nvPr/>
        </p:nvSpPr>
        <p:spPr>
          <a:xfrm>
            <a:off x="4892040" y="3218688"/>
            <a:ext cx="2286000" cy="256032"/>
          </a:xfrm>
          <a:prstGeom prst="roundRect">
            <a:avLst>
              <a:gd name="adj" fmla="val 50000"/>
            </a:avLst>
          </a:prstGeom>
          <a:solidFill>
            <a:srgbClr val="B45309">
              <a:alpha val="14000"/>
            </a:srgbClr>
          </a:solidFill>
          <a:ln/>
        </p:spPr>
      </p:sp>
      <p:sp>
        <p:nvSpPr>
          <p:cNvPr id="34" name="chip-text-133"/>
          <p:cNvSpPr txBox="1"/>
          <p:nvPr/>
        </p:nvSpPr>
        <p:spPr>
          <a:xfrm>
            <a:off x="4892040" y="3218688"/>
            <a:ext cx="2286000" cy="256032"/>
          </a:xfrm>
          <a:prstGeom prst="rect">
            <a:avLst/>
          </a:prstGeom>
          <a:noFill/>
          <a:ln/>
        </p:spPr>
        <p:txBody>
          <a:bodyPr wrap="square" lIns="0" tIns="0" rIns="0" bIns="0" rtlCol="0" anchor="ctr"/>
          <a:lstStyle/>
          <a:p>
            <a:pPr algn="ctr" indent="0" marL="0">
              <a:lnSpc>
                <a:spcPct val="105000"/>
              </a:lnSpc>
              <a:buNone/>
            </a:pPr>
            <a:r>
              <a:rPr lang="en-US" sz="1050" b="1" dirty="0">
                <a:solidFill>
                  <a:srgbClr val="B45309"/>
                </a:solidFill>
              </a:rPr>
              <a:t>Hədəf · pilotda yoxlanılacaq</a:t>
            </a:r>
            <a:endParaRPr lang="en-US" sz="1050" dirty="0"/>
          </a:p>
        </p:txBody>
      </p:sp>
      <p:pic>
        <p:nvPicPr>
          <p:cNvPr id="35" name="icon-LuTarget-134" descr="Target">    </p:cNvPr>
          <p:cNvPicPr>
            <a:picLocks noChangeAspect="1"/>
          </p:cNvPicPr>
          <p:nvPr/>
        </p:nvPicPr>
        <p:blipFill>
          <a:blip r:embed="rId4"/>
          <a:stretch>
            <a:fillRect/>
          </a:stretch>
        </p:blipFill>
        <p:spPr>
          <a:xfrm>
            <a:off x="4910328" y="3639312"/>
            <a:ext cx="182880" cy="182880"/>
          </a:xfrm>
          <a:prstGeom prst="rect">
            <a:avLst/>
          </a:prstGeom>
        </p:spPr>
      </p:pic>
      <p:sp>
        <p:nvSpPr>
          <p:cNvPr id="36" name="text-135"/>
          <p:cNvSpPr txBox="1"/>
          <p:nvPr/>
        </p:nvSpPr>
        <p:spPr>
          <a:xfrm>
            <a:off x="5193792" y="3611880"/>
            <a:ext cx="3291840" cy="237744"/>
          </a:xfrm>
          <a:prstGeom prst="rect">
            <a:avLst/>
          </a:prstGeom>
          <a:noFill/>
          <a:ln/>
        </p:spPr>
        <p:txBody>
          <a:bodyPr wrap="square" lIns="0" tIns="0" rIns="0" bIns="0" rtlCol="0" anchor="t"/>
          <a:lstStyle/>
          <a:p>
            <a:pPr algn="l" indent="0" marL="0">
              <a:lnSpc>
                <a:spcPct val="105000"/>
              </a:lnSpc>
              <a:buNone/>
            </a:pPr>
            <a:r>
              <a:rPr lang="en-US" sz="1200" dirty="0">
                <a:solidFill>
                  <a:schemeClr val="tx1"/>
                </a:solidFill>
              </a:rPr>
              <a:t>Daha əlçatan tətbiq və istifadə xərci</a:t>
            </a:r>
            <a:endParaRPr lang="en-US" sz="1200" dirty="0"/>
          </a:p>
        </p:txBody>
      </p:sp>
      <p:pic>
        <p:nvPicPr>
          <p:cNvPr id="37" name="icon-LuTarget-136" descr="Target">    </p:cNvPr>
          <p:cNvPicPr>
            <a:picLocks noChangeAspect="1"/>
          </p:cNvPicPr>
          <p:nvPr/>
        </p:nvPicPr>
        <p:blipFill>
          <a:blip r:embed="rId5"/>
          <a:stretch>
            <a:fillRect/>
          </a:stretch>
        </p:blipFill>
        <p:spPr>
          <a:xfrm>
            <a:off x="4910328" y="3968496"/>
            <a:ext cx="182880" cy="182880"/>
          </a:xfrm>
          <a:prstGeom prst="rect">
            <a:avLst/>
          </a:prstGeom>
        </p:spPr>
      </p:pic>
      <p:sp>
        <p:nvSpPr>
          <p:cNvPr id="38" name="text-137"/>
          <p:cNvSpPr txBox="1"/>
          <p:nvPr/>
        </p:nvSpPr>
        <p:spPr>
          <a:xfrm>
            <a:off x="5193792" y="3941064"/>
            <a:ext cx="3291840" cy="402336"/>
          </a:xfrm>
          <a:prstGeom prst="rect">
            <a:avLst/>
          </a:prstGeom>
          <a:noFill/>
          <a:ln/>
        </p:spPr>
        <p:txBody>
          <a:bodyPr wrap="square" lIns="0" tIns="0" rIns="0" bIns="0" rtlCol="0" anchor="t"/>
          <a:lstStyle/>
          <a:p>
            <a:pPr algn="l" indent="0" marL="0">
              <a:lnSpc>
                <a:spcPct val="105000"/>
              </a:lnSpc>
              <a:buNone/>
            </a:pPr>
            <a:r>
              <a:rPr lang="en-US" sz="1200" dirty="0">
                <a:solidFill>
                  <a:schemeClr val="tx1"/>
                </a:solidFill>
              </a:rPr>
              <a:t>Yerli qanunvericilik və mühasibat tələblərinə uyğunlaşdırılacaq şəkildə dizayn edilir</a:t>
            </a:r>
            <a:endParaRPr lang="en-US" sz="1200" dirty="0"/>
          </a:p>
        </p:txBody>
      </p:sp>
      <p:sp>
        <p:nvSpPr>
          <p:cNvPr id="25" name="Slide Number Placeholder 0"/>
          <p:cNvSpPr>
            <a:spLocks noGrp="1"/>
          </p:cNvSpPr>
          <p:nvPr>
            <p:ph type="sldNum" sz="quarter" idx="4294967295"/>
          </p:nvPr>
        </p:nvSpPr>
        <p:spPr>
          <a:xfrm>
            <a:off x="8321040" y="481888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138"/>
          <p:cNvSpPr txBox="1"/>
          <p:nvPr/>
        </p:nvSpPr>
        <p:spPr>
          <a:xfrm>
            <a:off x="457200" y="128016"/>
            <a:ext cx="6858000" cy="201168"/>
          </a:xfrm>
          <a:prstGeom prst="rect">
            <a:avLst/>
          </a:prstGeom>
          <a:noFill/>
          <a:ln/>
        </p:spPr>
        <p:txBody>
          <a:bodyPr wrap="square" lIns="0" tIns="0" rIns="0" bIns="0" rtlCol="0" anchor="t"/>
          <a:lstStyle/>
          <a:p>
            <a:pPr algn="l" indent="0" marL="0">
              <a:lnSpc>
                <a:spcPct val="105000"/>
              </a:lnSpc>
              <a:buNone/>
            </a:pPr>
            <a:r>
              <a:rPr lang="en-US" sz="1000" b="1" spc="150" kern="0" dirty="0">
                <a:solidFill>
                  <a:schemeClr val="accent1"/>
                </a:solidFill>
              </a:rPr>
              <a:t>MVP · REAL EKRANLAR 1/2</a:t>
            </a:r>
            <a:endParaRPr lang="en-US" sz="1000" dirty="0"/>
          </a:p>
        </p:txBody>
      </p:sp>
      <p:sp>
        <p:nvSpPr>
          <p:cNvPr id="3" name="Text 5"/>
          <p:cNvSpPr/>
          <p:nvPr>
            <p:ph idx="105" type="title" hasCustomPrompt="1"/>
          </p:nvPr>
        </p:nvSpPr>
        <p:spPr>
          <a:xfrm>
            <a:off x="457200" y="329184"/>
            <a:ext cx="7498080" cy="621792"/>
          </a:xfrm>
          <a:prstGeom prst="rect">
            <a:avLst/>
          </a:prstGeom>
          <a:noFill/>
          <a:ln/>
        </p:spPr>
        <p:txBody>
          <a:bodyPr wrap="square" lIns="0" tIns="0" rIns="0" bIns="0" rtlCol="0" anchor="ctr"/>
          <a:lstStyle/>
          <a:p>
            <a:pPr algn="l" indent="0" marL="0">
              <a:buNone/>
            </a:pPr>
            <a:r>
              <a:rPr lang="en-US" sz="2700" b="1" dirty="0">
                <a:solidFill>
                  <a:srgbClr val="0B1F3A"/>
                </a:solidFill>
                <a:latin typeface="Cambria" pitchFamily="34" charset="0"/>
                <a:ea typeface="Cambria" pitchFamily="34" charset="-122"/>
                <a:cs typeface="Cambria" pitchFamily="34" charset="-120"/>
              </a:rPr>
              <a:t>MVP: yeni il planı keçmiş illərlə yan-yana</a:t>
            </a:r>
            <a:endParaRPr lang="en-US" sz="2700" dirty="0"/>
          </a:p>
        </p:txBody>
      </p:sp>
      <p:sp>
        <p:nvSpPr>
          <p:cNvPr id="4" name="shot-frame-139"/>
          <p:cNvSpPr/>
          <p:nvPr/>
        </p:nvSpPr>
        <p:spPr>
          <a:xfrm>
            <a:off x="457200" y="1133856"/>
            <a:ext cx="4860837" cy="3584448"/>
          </a:xfrm>
          <a:prstGeom prst="roundRect">
            <a:avLst>
              <a:gd name="adj" fmla="val 2041"/>
            </a:avLst>
          </a:prstGeom>
          <a:solidFill>
            <a:schemeClr val="bg1"/>
          </a:solidFill>
          <a:ln/>
          <a:effectLst>
            <a:outerShdw sx="100000" sy="100000" kx="0" ky="0" algn="bl" rotWithShape="0" blurRad="127000" dist="25400" dir="5400000">
              <a:srgbClr val="0B1F3A">
                <a:alpha val="8000"/>
              </a:srgbClr>
            </a:outerShdw>
          </a:effectLst>
        </p:spPr>
      </p:sp>
      <p:pic>
        <p:nvPicPr>
          <p:cNvPr id="5" name="screenshot-140" descr="Planlama ekranı: Plan 2027, Proqnoz 2026, fərq və departamentlər üzrə 2025 fakt, 2026 büdcə və proqnoz, 2027 plan qrafiki">    </p:cNvPr>
          <p:cNvPicPr>
            <a:picLocks noChangeAspect="1"/>
          </p:cNvPicPr>
          <p:nvPr/>
        </p:nvPicPr>
        <p:blipFill>
          <a:blip r:embed="rId1"/>
          <a:stretch>
            <a:fillRect/>
          </a:stretch>
        </p:blipFill>
        <p:spPr>
          <a:xfrm>
            <a:off x="512064" y="1188720"/>
            <a:ext cx="4751109" cy="3474720"/>
          </a:xfrm>
          <a:prstGeom prst="rect">
            <a:avLst/>
          </a:prstGeom>
        </p:spPr>
      </p:pic>
      <p:sp>
        <p:nvSpPr>
          <p:cNvPr id="6" name="chip-141"/>
          <p:cNvSpPr/>
          <p:nvPr/>
        </p:nvSpPr>
        <p:spPr>
          <a:xfrm>
            <a:off x="5669280" y="1188720"/>
            <a:ext cx="2514600" cy="237744"/>
          </a:xfrm>
          <a:prstGeom prst="roundRect">
            <a:avLst>
              <a:gd name="adj" fmla="val 50000"/>
            </a:avLst>
          </a:prstGeom>
          <a:solidFill>
            <a:schemeClr val="accent4">
              <a:alpha val="15000"/>
            </a:schemeClr>
          </a:solidFill>
          <a:ln/>
        </p:spPr>
      </p:sp>
      <p:sp>
        <p:nvSpPr>
          <p:cNvPr id="7" name="chip-text-142"/>
          <p:cNvSpPr txBox="1"/>
          <p:nvPr/>
        </p:nvSpPr>
        <p:spPr>
          <a:xfrm>
            <a:off x="5669280" y="1188720"/>
            <a:ext cx="2514600" cy="237744"/>
          </a:xfrm>
          <a:prstGeom prst="rect">
            <a:avLst/>
          </a:prstGeom>
          <a:noFill/>
          <a:ln/>
        </p:spPr>
        <p:txBody>
          <a:bodyPr wrap="square" lIns="0" tIns="0" rIns="0" bIns="0" rtlCol="0" anchor="ctr"/>
          <a:lstStyle/>
          <a:p>
            <a:pPr algn="ctr" indent="0" marL="0">
              <a:lnSpc>
                <a:spcPct val="105000"/>
              </a:lnSpc>
              <a:buNone/>
            </a:pPr>
            <a:r>
              <a:rPr lang="en-US" sz="950" b="1" dirty="0">
                <a:solidFill>
                  <a:schemeClr val="tx2"/>
                </a:solidFill>
              </a:rPr>
              <a:t>Real MVP ekranı · demo məlumatlar</a:t>
            </a:r>
            <a:endParaRPr lang="en-US" sz="950" dirty="0"/>
          </a:p>
        </p:txBody>
      </p:sp>
      <p:sp>
        <p:nvSpPr>
          <p:cNvPr id="8" name="num-143"/>
          <p:cNvSpPr/>
          <p:nvPr/>
        </p:nvSpPr>
        <p:spPr>
          <a:xfrm>
            <a:off x="5669280" y="1700784"/>
            <a:ext cx="329184" cy="329184"/>
          </a:xfrm>
          <a:prstGeom prst="ellipse">
            <a:avLst/>
          </a:prstGeom>
          <a:solidFill>
            <a:schemeClr val="accent1"/>
          </a:solidFill>
          <a:ln/>
        </p:spPr>
      </p:sp>
      <p:sp>
        <p:nvSpPr>
          <p:cNvPr id="9" name="num-text-144"/>
          <p:cNvSpPr txBox="1"/>
          <p:nvPr/>
        </p:nvSpPr>
        <p:spPr>
          <a:xfrm>
            <a:off x="5669280" y="1700784"/>
            <a:ext cx="329184" cy="329184"/>
          </a:xfrm>
          <a:prstGeom prst="rect">
            <a:avLst/>
          </a:prstGeom>
          <a:noFill/>
          <a:ln/>
        </p:spPr>
        <p:txBody>
          <a:bodyPr wrap="square" lIns="0" tIns="0" rIns="0" bIns="0" rtlCol="0" anchor="ctr"/>
          <a:lstStyle/>
          <a:p>
            <a:pPr algn="ctr" indent="0" marL="0">
              <a:lnSpc>
                <a:spcPct val="105000"/>
              </a:lnSpc>
              <a:buNone/>
            </a:pPr>
            <a:r>
              <a:rPr lang="en-US" sz="1200" b="1" dirty="0">
                <a:solidFill>
                  <a:schemeClr val="bg1"/>
                </a:solidFill>
              </a:rPr>
              <a:t>1</a:t>
            </a:r>
            <a:endParaRPr lang="en-US" sz="1200" dirty="0"/>
          </a:p>
        </p:txBody>
      </p:sp>
      <p:sp>
        <p:nvSpPr>
          <p:cNvPr id="10" name="text-145"/>
          <p:cNvSpPr txBox="1"/>
          <p:nvPr/>
        </p:nvSpPr>
        <p:spPr>
          <a:xfrm>
            <a:off x="6108192" y="1682496"/>
            <a:ext cx="2560320" cy="365760"/>
          </a:xfrm>
          <a:prstGeom prst="rect">
            <a:avLst/>
          </a:prstGeom>
          <a:noFill/>
          <a:ln/>
        </p:spPr>
        <p:txBody>
          <a:bodyPr wrap="square" lIns="0" tIns="0" rIns="0" bIns="0" rtlCol="0" anchor="ctr"/>
          <a:lstStyle/>
          <a:p>
            <a:pPr algn="l" indent="0" marL="0">
              <a:lnSpc>
                <a:spcPct val="105000"/>
              </a:lnSpc>
              <a:buNone/>
            </a:pPr>
            <a:r>
              <a:rPr lang="en-US" sz="1700" b="1" dirty="0">
                <a:solidFill>
                  <a:schemeClr val="tx1"/>
                </a:solidFill>
                <a:latin typeface="Cambria" pitchFamily="34" charset="0"/>
                <a:ea typeface="Cambria" pitchFamily="34" charset="-122"/>
                <a:cs typeface="Cambria" pitchFamily="34" charset="-120"/>
              </a:rPr>
              <a:t>Planlama ekranı</a:t>
            </a:r>
            <a:endParaRPr lang="en-US" sz="1700" dirty="0"/>
          </a:p>
        </p:txBody>
      </p:sp>
      <p:sp>
        <p:nvSpPr>
          <p:cNvPr id="11" name="text-146"/>
          <p:cNvSpPr txBox="1"/>
          <p:nvPr/>
        </p:nvSpPr>
        <p:spPr>
          <a:xfrm>
            <a:off x="5669280" y="2286000"/>
            <a:ext cx="2926080" cy="201168"/>
          </a:xfrm>
          <a:prstGeom prst="rect">
            <a:avLst/>
          </a:prstGeom>
          <a:noFill/>
          <a:ln/>
        </p:spPr>
        <p:txBody>
          <a:bodyPr wrap="square" lIns="0" tIns="0" rIns="0" bIns="0" rtlCol="0" anchor="t"/>
          <a:lstStyle/>
          <a:p>
            <a:pPr algn="l" indent="0" marL="0">
              <a:lnSpc>
                <a:spcPct val="105000"/>
              </a:lnSpc>
              <a:buNone/>
            </a:pPr>
            <a:r>
              <a:rPr lang="en-US" sz="1000" b="1" spc="100" kern="0" dirty="0">
                <a:solidFill>
                  <a:schemeClr val="accent3"/>
                </a:solidFill>
              </a:rPr>
              <a:t>PROBLEM</a:t>
            </a:r>
            <a:endParaRPr lang="en-US" sz="1000" dirty="0"/>
          </a:p>
        </p:txBody>
      </p:sp>
      <p:sp>
        <p:nvSpPr>
          <p:cNvPr id="12" name="text-147"/>
          <p:cNvSpPr txBox="1"/>
          <p:nvPr/>
        </p:nvSpPr>
        <p:spPr>
          <a:xfrm>
            <a:off x="5669280" y="2505456"/>
            <a:ext cx="2971800" cy="603504"/>
          </a:xfrm>
          <a:prstGeom prst="rect">
            <a:avLst/>
          </a:prstGeom>
          <a:noFill/>
          <a:ln/>
        </p:spPr>
        <p:txBody>
          <a:bodyPr wrap="square" lIns="0" tIns="0" rIns="0" bIns="0" rtlCol="0" anchor="t"/>
          <a:lstStyle/>
          <a:p>
            <a:pPr algn="l" indent="0" marL="0">
              <a:lnSpc>
                <a:spcPct val="105000"/>
              </a:lnSpc>
              <a:buNone/>
            </a:pPr>
            <a:r>
              <a:rPr lang="en-US" sz="1300" dirty="0">
                <a:solidFill>
                  <a:schemeClr val="tx1"/>
                </a:solidFill>
              </a:rPr>
              <a:t>Departament planları ayrı fayllarda, keçmiş illərlə müqayisə əl ilə aparılır</a:t>
            </a:r>
            <a:endParaRPr lang="en-US" sz="1300" dirty="0"/>
          </a:p>
        </p:txBody>
      </p:sp>
      <p:sp>
        <p:nvSpPr>
          <p:cNvPr id="13" name="text-148"/>
          <p:cNvSpPr txBox="1"/>
          <p:nvPr/>
        </p:nvSpPr>
        <p:spPr>
          <a:xfrm>
            <a:off x="5669280" y="3255264"/>
            <a:ext cx="2926080" cy="201168"/>
          </a:xfrm>
          <a:prstGeom prst="rect">
            <a:avLst/>
          </a:prstGeom>
          <a:noFill/>
          <a:ln/>
        </p:spPr>
        <p:txBody>
          <a:bodyPr wrap="square" lIns="0" tIns="0" rIns="0" bIns="0" rtlCol="0" anchor="t"/>
          <a:lstStyle/>
          <a:p>
            <a:pPr algn="l" indent="0" marL="0">
              <a:lnSpc>
                <a:spcPct val="105000"/>
              </a:lnSpc>
              <a:buNone/>
            </a:pPr>
            <a:r>
              <a:rPr lang="en-US" sz="1000" b="1" spc="100" kern="0" dirty="0">
                <a:solidFill>
                  <a:schemeClr val="accent2"/>
                </a:solidFill>
              </a:rPr>
              <a:t>FAYDA</a:t>
            </a:r>
            <a:endParaRPr lang="en-US" sz="1000" dirty="0"/>
          </a:p>
        </p:txBody>
      </p:sp>
      <p:sp>
        <p:nvSpPr>
          <p:cNvPr id="14" name="text-149"/>
          <p:cNvSpPr txBox="1"/>
          <p:nvPr/>
        </p:nvSpPr>
        <p:spPr>
          <a:xfrm>
            <a:off x="5669280" y="3474720"/>
            <a:ext cx="2971800" cy="603504"/>
          </a:xfrm>
          <a:prstGeom prst="rect">
            <a:avLst/>
          </a:prstGeom>
          <a:noFill/>
          <a:ln/>
        </p:spPr>
        <p:txBody>
          <a:bodyPr wrap="square" lIns="0" tIns="0" rIns="0" bIns="0" rtlCol="0" anchor="t"/>
          <a:lstStyle/>
          <a:p>
            <a:pPr algn="l" indent="0" marL="0">
              <a:lnSpc>
                <a:spcPct val="105000"/>
              </a:lnSpc>
              <a:buNone/>
            </a:pPr>
            <a:r>
              <a:rPr lang="en-US" sz="1300" dirty="0">
                <a:solidFill>
                  <a:schemeClr val="tx1"/>
                </a:solidFill>
              </a:rPr>
              <a:t>2025 fakt, 2026 proqnoz və 2027 plan bir ekranda — departament və ya xərc mərkəzi üzrə</a:t>
            </a:r>
            <a:endParaRPr lang="en-US" sz="1300" dirty="0"/>
          </a:p>
        </p:txBody>
      </p:sp>
      <p:sp>
        <p:nvSpPr>
          <p:cNvPr id="15" name="text-150"/>
          <p:cNvSpPr txBox="1"/>
          <p:nvPr/>
        </p:nvSpPr>
        <p:spPr>
          <a:xfrm>
            <a:off x="5669280" y="4315968"/>
            <a:ext cx="2971800" cy="274320"/>
          </a:xfrm>
          <a:prstGeom prst="rect">
            <a:avLst/>
          </a:prstGeom>
          <a:noFill/>
          <a:ln/>
        </p:spPr>
        <p:txBody>
          <a:bodyPr wrap="square" lIns="0" tIns="0" rIns="0" bIns="0" rtlCol="0" anchor="t"/>
          <a:lstStyle/>
          <a:p>
            <a:pPr algn="l" indent="0" marL="0">
              <a:lnSpc>
                <a:spcPct val="105000"/>
              </a:lnSpc>
              <a:buNone/>
            </a:pPr>
            <a:r>
              <a:rPr lang="en-US" sz="1050" i="1" dirty="0">
                <a:solidFill>
                  <a:schemeClr val="accent4"/>
                </a:solidFill>
              </a:rPr>
              <a:t>2026 proqnozu = 9 ay fakt + qalan ayların büdcəsi</a:t>
            </a:r>
            <a:endParaRPr lang="en-US" sz="1050" dirty="0"/>
          </a:p>
        </p:txBody>
      </p:sp>
      <p:sp>
        <p:nvSpPr>
          <p:cNvPr id="25" name="Slide Number Placeholder 0"/>
          <p:cNvSpPr>
            <a:spLocks noGrp="1"/>
          </p:cNvSpPr>
          <p:nvPr>
            <p:ph type="sldNum" sz="quarter" idx="4294967295"/>
          </p:nvPr>
        </p:nvSpPr>
        <p:spPr>
          <a:xfrm>
            <a:off x="8321040" y="481888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151"/>
          <p:cNvSpPr txBox="1"/>
          <p:nvPr/>
        </p:nvSpPr>
        <p:spPr>
          <a:xfrm>
            <a:off x="457200" y="128016"/>
            <a:ext cx="6858000" cy="201168"/>
          </a:xfrm>
          <a:prstGeom prst="rect">
            <a:avLst/>
          </a:prstGeom>
          <a:noFill/>
          <a:ln/>
        </p:spPr>
        <p:txBody>
          <a:bodyPr wrap="square" lIns="0" tIns="0" rIns="0" bIns="0" rtlCol="0" anchor="t"/>
          <a:lstStyle/>
          <a:p>
            <a:pPr algn="l" indent="0" marL="0">
              <a:lnSpc>
                <a:spcPct val="105000"/>
              </a:lnSpc>
              <a:buNone/>
            </a:pPr>
            <a:r>
              <a:rPr lang="en-US" sz="1000" b="1" spc="150" kern="0" dirty="0">
                <a:solidFill>
                  <a:schemeClr val="accent1"/>
                </a:solidFill>
              </a:rPr>
              <a:t>MVP · REAL EKRANLAR 2/2</a:t>
            </a:r>
            <a:endParaRPr lang="en-US" sz="1000" dirty="0"/>
          </a:p>
        </p:txBody>
      </p:sp>
      <p:sp>
        <p:nvSpPr>
          <p:cNvPr id="3" name="Text 5"/>
          <p:cNvSpPr/>
          <p:nvPr>
            <p:ph idx="105" type="title" hasCustomPrompt="1"/>
          </p:nvPr>
        </p:nvSpPr>
        <p:spPr>
          <a:xfrm>
            <a:off x="457200" y="329184"/>
            <a:ext cx="7498080" cy="621792"/>
          </a:xfrm>
          <a:prstGeom prst="rect">
            <a:avLst/>
          </a:prstGeom>
          <a:noFill/>
          <a:ln/>
        </p:spPr>
        <p:txBody>
          <a:bodyPr wrap="square" lIns="0" tIns="0" rIns="0" bIns="0" rtlCol="0" anchor="ctr"/>
          <a:lstStyle/>
          <a:p>
            <a:pPr algn="l" indent="0" marL="0">
              <a:buNone/>
            </a:pPr>
            <a:r>
              <a:rPr lang="en-US" sz="2700" b="1" dirty="0">
                <a:solidFill>
                  <a:srgbClr val="0B1F3A"/>
                </a:solidFill>
                <a:latin typeface="Cambria" pitchFamily="34" charset="0"/>
                <a:ea typeface="Cambria" pitchFamily="34" charset="-122"/>
                <a:cs typeface="Cambria" pitchFamily="34" charset="-120"/>
              </a:rPr>
              <a:t>MVP: xərc yoxlanılır, təsdiqlənir, izlənir</a:t>
            </a:r>
            <a:endParaRPr lang="en-US" sz="2700" dirty="0"/>
          </a:p>
        </p:txBody>
      </p:sp>
      <p:sp>
        <p:nvSpPr>
          <p:cNvPr id="4" name="num-152"/>
          <p:cNvSpPr/>
          <p:nvPr/>
        </p:nvSpPr>
        <p:spPr>
          <a:xfrm>
            <a:off x="457200" y="1161288"/>
            <a:ext cx="292608" cy="292608"/>
          </a:xfrm>
          <a:prstGeom prst="ellipse">
            <a:avLst/>
          </a:prstGeom>
          <a:solidFill>
            <a:schemeClr val="accent1"/>
          </a:solidFill>
          <a:ln/>
        </p:spPr>
      </p:sp>
      <p:sp>
        <p:nvSpPr>
          <p:cNvPr id="5" name="num-text-153"/>
          <p:cNvSpPr txBox="1"/>
          <p:nvPr/>
        </p:nvSpPr>
        <p:spPr>
          <a:xfrm>
            <a:off x="457200" y="1161288"/>
            <a:ext cx="292608" cy="292608"/>
          </a:xfrm>
          <a:prstGeom prst="rect">
            <a:avLst/>
          </a:prstGeom>
          <a:noFill/>
          <a:ln/>
        </p:spPr>
        <p:txBody>
          <a:bodyPr wrap="square" lIns="0" tIns="0" rIns="0" bIns="0" rtlCol="0" anchor="ctr"/>
          <a:lstStyle/>
          <a:p>
            <a:pPr algn="ctr" indent="0" marL="0">
              <a:lnSpc>
                <a:spcPct val="105000"/>
              </a:lnSpc>
              <a:buNone/>
            </a:pPr>
            <a:r>
              <a:rPr lang="en-US" sz="1200" b="1" dirty="0">
                <a:solidFill>
                  <a:schemeClr val="bg1"/>
                </a:solidFill>
              </a:rPr>
              <a:t>2</a:t>
            </a:r>
            <a:endParaRPr lang="en-US" sz="1200" dirty="0"/>
          </a:p>
        </p:txBody>
      </p:sp>
      <p:sp>
        <p:nvSpPr>
          <p:cNvPr id="6" name="text-154"/>
          <p:cNvSpPr txBox="1"/>
          <p:nvPr/>
        </p:nvSpPr>
        <p:spPr>
          <a:xfrm>
            <a:off x="841248" y="1152144"/>
            <a:ext cx="2724912" cy="274320"/>
          </a:xfrm>
          <a:prstGeom prst="rect">
            <a:avLst/>
          </a:prstGeom>
          <a:noFill/>
          <a:ln/>
        </p:spPr>
        <p:txBody>
          <a:bodyPr wrap="square" lIns="0" tIns="0" rIns="0" bIns="0" rtlCol="0" anchor="ctr"/>
          <a:lstStyle/>
          <a:p>
            <a:pPr algn="l" indent="0" marL="0">
              <a:lnSpc>
                <a:spcPct val="105000"/>
              </a:lnSpc>
              <a:buNone/>
            </a:pPr>
            <a:r>
              <a:rPr lang="en-US" sz="1400" b="1" dirty="0">
                <a:solidFill>
                  <a:schemeClr val="tx1"/>
                </a:solidFill>
              </a:rPr>
              <a:t>Büdcə yoxlaması</a:t>
            </a:r>
            <a:endParaRPr lang="en-US" sz="1400" dirty="0"/>
          </a:p>
        </p:txBody>
      </p:sp>
      <p:sp>
        <p:nvSpPr>
          <p:cNvPr id="7" name="text-155"/>
          <p:cNvSpPr txBox="1"/>
          <p:nvPr/>
        </p:nvSpPr>
        <p:spPr>
          <a:xfrm>
            <a:off x="841248" y="1426464"/>
            <a:ext cx="2724912" cy="256032"/>
          </a:xfrm>
          <a:prstGeom prst="rect">
            <a:avLst/>
          </a:prstGeom>
          <a:noFill/>
          <a:ln/>
        </p:spPr>
        <p:txBody>
          <a:bodyPr wrap="square" lIns="0" tIns="0" rIns="0" bIns="0" rtlCol="0" anchor="ctr"/>
          <a:lstStyle/>
          <a:p>
            <a:pPr algn="l" indent="0" marL="0">
              <a:lnSpc>
                <a:spcPct val="105000"/>
              </a:lnSpc>
              <a:buNone/>
            </a:pPr>
            <a:r>
              <a:rPr lang="en-US" sz="1150" dirty="0">
                <a:solidFill>
                  <a:schemeClr val="tx2"/>
                </a:solidFill>
              </a:rPr>
              <a:t>Büdcəni aşan sorğu təsdiqdən əvvəl görünür</a:t>
            </a:r>
            <a:endParaRPr lang="en-US" sz="1150" dirty="0"/>
          </a:p>
        </p:txBody>
      </p:sp>
      <p:sp>
        <p:nvSpPr>
          <p:cNvPr id="8" name="shot-frame-156"/>
          <p:cNvSpPr/>
          <p:nvPr/>
        </p:nvSpPr>
        <p:spPr>
          <a:xfrm>
            <a:off x="457200" y="1755648"/>
            <a:ext cx="3035808" cy="2639371"/>
          </a:xfrm>
          <a:prstGeom prst="roundRect">
            <a:avLst>
              <a:gd name="adj" fmla="val 2772"/>
            </a:avLst>
          </a:prstGeom>
          <a:solidFill>
            <a:schemeClr val="bg1"/>
          </a:solidFill>
          <a:ln/>
          <a:effectLst>
            <a:outerShdw sx="100000" sy="100000" kx="0" ky="0" algn="bl" rotWithShape="0" blurRad="127000" dist="25400" dir="5400000">
              <a:srgbClr val="0B1F3A">
                <a:alpha val="8000"/>
              </a:srgbClr>
            </a:outerShdw>
          </a:effectLst>
        </p:spPr>
      </p:sp>
      <p:pic>
        <p:nvPicPr>
          <p:cNvPr id="9" name="screenshot-157" descr="Satınalma sorğusunda büdcə yoxlaması: büdcəni aşır, sorğudan sonra qalıq mənfi">    </p:cNvPr>
          <p:cNvPicPr>
            <a:picLocks noChangeAspect="1"/>
          </p:cNvPicPr>
          <p:nvPr/>
        </p:nvPicPr>
        <p:blipFill>
          <a:blip r:embed="rId1"/>
          <a:stretch>
            <a:fillRect/>
          </a:stretch>
        </p:blipFill>
        <p:spPr>
          <a:xfrm>
            <a:off x="512064" y="1810512"/>
            <a:ext cx="2926080" cy="2529643"/>
          </a:xfrm>
          <a:prstGeom prst="rect">
            <a:avLst/>
          </a:prstGeom>
        </p:spPr>
      </p:pic>
      <p:sp>
        <p:nvSpPr>
          <p:cNvPr id="10" name="chip-158"/>
          <p:cNvSpPr/>
          <p:nvPr/>
        </p:nvSpPr>
        <p:spPr>
          <a:xfrm>
            <a:off x="512064" y="4480560"/>
            <a:ext cx="2377440" cy="237744"/>
          </a:xfrm>
          <a:prstGeom prst="roundRect">
            <a:avLst>
              <a:gd name="adj" fmla="val 50000"/>
            </a:avLst>
          </a:prstGeom>
          <a:solidFill>
            <a:schemeClr val="accent4">
              <a:alpha val="15000"/>
            </a:schemeClr>
          </a:solidFill>
          <a:ln/>
        </p:spPr>
      </p:sp>
      <p:sp>
        <p:nvSpPr>
          <p:cNvPr id="11" name="chip-text-159"/>
          <p:cNvSpPr txBox="1"/>
          <p:nvPr/>
        </p:nvSpPr>
        <p:spPr>
          <a:xfrm>
            <a:off x="512064" y="4480560"/>
            <a:ext cx="2377440" cy="237744"/>
          </a:xfrm>
          <a:prstGeom prst="rect">
            <a:avLst/>
          </a:prstGeom>
          <a:noFill/>
          <a:ln/>
        </p:spPr>
        <p:txBody>
          <a:bodyPr wrap="square" lIns="0" tIns="0" rIns="0" bIns="0" rtlCol="0" anchor="ctr"/>
          <a:lstStyle/>
          <a:p>
            <a:pPr algn="ctr" indent="0" marL="0">
              <a:lnSpc>
                <a:spcPct val="105000"/>
              </a:lnSpc>
              <a:buNone/>
            </a:pPr>
            <a:r>
              <a:rPr lang="en-US" sz="950" b="1" dirty="0">
                <a:solidFill>
                  <a:schemeClr val="tx2"/>
                </a:solidFill>
              </a:rPr>
              <a:t>Real MVP ekranı · demo məlumatlar</a:t>
            </a:r>
            <a:endParaRPr lang="en-US" sz="950" dirty="0"/>
          </a:p>
        </p:txBody>
      </p:sp>
      <p:sp>
        <p:nvSpPr>
          <p:cNvPr id="12" name="num-160"/>
          <p:cNvSpPr/>
          <p:nvPr/>
        </p:nvSpPr>
        <p:spPr>
          <a:xfrm>
            <a:off x="3840480" y="1161288"/>
            <a:ext cx="292608" cy="292608"/>
          </a:xfrm>
          <a:prstGeom prst="ellipse">
            <a:avLst/>
          </a:prstGeom>
          <a:solidFill>
            <a:schemeClr val="accent1"/>
          </a:solidFill>
          <a:ln/>
        </p:spPr>
      </p:sp>
      <p:sp>
        <p:nvSpPr>
          <p:cNvPr id="13" name="num-text-161"/>
          <p:cNvSpPr txBox="1"/>
          <p:nvPr/>
        </p:nvSpPr>
        <p:spPr>
          <a:xfrm>
            <a:off x="3840480" y="1161288"/>
            <a:ext cx="292608" cy="292608"/>
          </a:xfrm>
          <a:prstGeom prst="rect">
            <a:avLst/>
          </a:prstGeom>
          <a:noFill/>
          <a:ln/>
        </p:spPr>
        <p:txBody>
          <a:bodyPr wrap="square" lIns="0" tIns="0" rIns="0" bIns="0" rtlCol="0" anchor="ctr"/>
          <a:lstStyle/>
          <a:p>
            <a:pPr algn="ctr" indent="0" marL="0">
              <a:lnSpc>
                <a:spcPct val="105000"/>
              </a:lnSpc>
              <a:buNone/>
            </a:pPr>
            <a:r>
              <a:rPr lang="en-US" sz="1200" b="1" dirty="0">
                <a:solidFill>
                  <a:schemeClr val="bg1"/>
                </a:solidFill>
              </a:rPr>
              <a:t>3</a:t>
            </a:r>
            <a:endParaRPr lang="en-US" sz="1200" dirty="0"/>
          </a:p>
        </p:txBody>
      </p:sp>
      <p:sp>
        <p:nvSpPr>
          <p:cNvPr id="14" name="text-162"/>
          <p:cNvSpPr txBox="1"/>
          <p:nvPr/>
        </p:nvSpPr>
        <p:spPr>
          <a:xfrm>
            <a:off x="4224528" y="1152144"/>
            <a:ext cx="4462272" cy="274320"/>
          </a:xfrm>
          <a:prstGeom prst="rect">
            <a:avLst/>
          </a:prstGeom>
          <a:noFill/>
          <a:ln/>
        </p:spPr>
        <p:txBody>
          <a:bodyPr wrap="square" lIns="0" tIns="0" rIns="0" bIns="0" rtlCol="0" anchor="ctr"/>
          <a:lstStyle/>
          <a:p>
            <a:pPr algn="l" indent="0" marL="0">
              <a:lnSpc>
                <a:spcPct val="105000"/>
              </a:lnSpc>
              <a:buNone/>
            </a:pPr>
            <a:r>
              <a:rPr lang="en-US" sz="1400" b="1" dirty="0">
                <a:solidFill>
                  <a:schemeClr val="tx1"/>
                </a:solidFill>
              </a:rPr>
              <a:t>Konfiqurasiya olunan təsdiq axını</a:t>
            </a:r>
            <a:endParaRPr lang="en-US" sz="1400" dirty="0"/>
          </a:p>
        </p:txBody>
      </p:sp>
      <p:sp>
        <p:nvSpPr>
          <p:cNvPr id="15" name="text-163"/>
          <p:cNvSpPr txBox="1"/>
          <p:nvPr/>
        </p:nvSpPr>
        <p:spPr>
          <a:xfrm>
            <a:off x="4224528" y="1426464"/>
            <a:ext cx="4462272" cy="256032"/>
          </a:xfrm>
          <a:prstGeom prst="rect">
            <a:avLst/>
          </a:prstGeom>
          <a:noFill/>
          <a:ln/>
        </p:spPr>
        <p:txBody>
          <a:bodyPr wrap="square" lIns="0" tIns="0" rIns="0" bIns="0" rtlCol="0" anchor="ctr"/>
          <a:lstStyle/>
          <a:p>
            <a:pPr algn="l" indent="0" marL="0">
              <a:lnSpc>
                <a:spcPct val="105000"/>
              </a:lnSpc>
              <a:buNone/>
            </a:pPr>
            <a:r>
              <a:rPr lang="en-US" sz="1150" dirty="0">
                <a:solidFill>
                  <a:schemeClr val="tx2"/>
                </a:solidFill>
              </a:rPr>
              <a:t>Mərhələləri, məbləğ şərtlərini və qaytarmanı şirkət özü qurur</a:t>
            </a:r>
            <a:endParaRPr lang="en-US" sz="1150" dirty="0"/>
          </a:p>
        </p:txBody>
      </p:sp>
      <p:sp>
        <p:nvSpPr>
          <p:cNvPr id="16" name="shot-frame-164"/>
          <p:cNvSpPr/>
          <p:nvPr/>
        </p:nvSpPr>
        <p:spPr>
          <a:xfrm>
            <a:off x="3840480" y="1755648"/>
            <a:ext cx="4846320" cy="1595436"/>
          </a:xfrm>
          <a:prstGeom prst="roundRect">
            <a:avLst>
              <a:gd name="adj" fmla="val 4585"/>
            </a:avLst>
          </a:prstGeom>
          <a:solidFill>
            <a:schemeClr val="bg1"/>
          </a:solidFill>
          <a:ln/>
          <a:effectLst>
            <a:outerShdw sx="100000" sy="100000" kx="0" ky="0" algn="bl" rotWithShape="0" blurRad="127000" dist="25400" dir="5400000">
              <a:srgbClr val="0B1F3A">
                <a:alpha val="8000"/>
              </a:srgbClr>
            </a:outerShdw>
          </a:effectLst>
        </p:spPr>
      </p:sp>
      <p:pic>
        <p:nvPicPr>
          <p:cNvPr id="17" name="screenshot-165" descr="Təsdiq axınının qurulması: xərc mərkəzi sahibi, divizion rəhbəri, maliyyə yoxlaması, CFO, şərti CEO mərhələsi">    </p:cNvPr>
          <p:cNvPicPr>
            <a:picLocks noChangeAspect="1"/>
          </p:cNvPicPr>
          <p:nvPr/>
        </p:nvPicPr>
        <p:blipFill>
          <a:blip r:embed="rId2"/>
          <a:stretch>
            <a:fillRect/>
          </a:stretch>
        </p:blipFill>
        <p:spPr>
          <a:xfrm>
            <a:off x="3895344" y="1810512"/>
            <a:ext cx="4736592" cy="1485708"/>
          </a:xfrm>
          <a:prstGeom prst="rect">
            <a:avLst/>
          </a:prstGeom>
        </p:spPr>
      </p:pic>
      <p:sp>
        <p:nvSpPr>
          <p:cNvPr id="18" name="num-166"/>
          <p:cNvSpPr/>
          <p:nvPr/>
        </p:nvSpPr>
        <p:spPr>
          <a:xfrm>
            <a:off x="3840480" y="3447288"/>
            <a:ext cx="292608" cy="292608"/>
          </a:xfrm>
          <a:prstGeom prst="ellipse">
            <a:avLst/>
          </a:prstGeom>
          <a:solidFill>
            <a:schemeClr val="accent1"/>
          </a:solidFill>
          <a:ln/>
        </p:spPr>
      </p:sp>
      <p:sp>
        <p:nvSpPr>
          <p:cNvPr id="19" name="num-text-167"/>
          <p:cNvSpPr txBox="1"/>
          <p:nvPr/>
        </p:nvSpPr>
        <p:spPr>
          <a:xfrm>
            <a:off x="3840480" y="3447288"/>
            <a:ext cx="292608" cy="292608"/>
          </a:xfrm>
          <a:prstGeom prst="rect">
            <a:avLst/>
          </a:prstGeom>
          <a:noFill/>
          <a:ln/>
        </p:spPr>
        <p:txBody>
          <a:bodyPr wrap="square" lIns="0" tIns="0" rIns="0" bIns="0" rtlCol="0" anchor="ctr"/>
          <a:lstStyle/>
          <a:p>
            <a:pPr algn="ctr" indent="0" marL="0">
              <a:lnSpc>
                <a:spcPct val="105000"/>
              </a:lnSpc>
              <a:buNone/>
            </a:pPr>
            <a:r>
              <a:rPr lang="en-US" sz="1200" b="1" dirty="0">
                <a:solidFill>
                  <a:schemeClr val="bg1"/>
                </a:solidFill>
              </a:rPr>
              <a:t>4</a:t>
            </a:r>
            <a:endParaRPr lang="en-US" sz="1200" dirty="0"/>
          </a:p>
        </p:txBody>
      </p:sp>
      <p:sp>
        <p:nvSpPr>
          <p:cNvPr id="20" name="text-168"/>
          <p:cNvSpPr txBox="1"/>
          <p:nvPr/>
        </p:nvSpPr>
        <p:spPr>
          <a:xfrm>
            <a:off x="4224528" y="3438144"/>
            <a:ext cx="4462272" cy="274320"/>
          </a:xfrm>
          <a:prstGeom prst="rect">
            <a:avLst/>
          </a:prstGeom>
          <a:noFill/>
          <a:ln/>
        </p:spPr>
        <p:txBody>
          <a:bodyPr wrap="square" lIns="0" tIns="0" rIns="0" bIns="0" rtlCol="0" anchor="ctr"/>
          <a:lstStyle/>
          <a:p>
            <a:pPr algn="l" indent="0" marL="0">
              <a:lnSpc>
                <a:spcPct val="105000"/>
              </a:lnSpc>
              <a:buNone/>
            </a:pPr>
            <a:r>
              <a:rPr lang="en-US" sz="1400" b="1" dirty="0">
                <a:solidFill>
                  <a:schemeClr val="tx1"/>
                </a:solidFill>
              </a:rPr>
              <a:t>Rəhbərlik paneli</a:t>
            </a:r>
            <a:endParaRPr lang="en-US" sz="1400" dirty="0"/>
          </a:p>
        </p:txBody>
      </p:sp>
      <p:sp>
        <p:nvSpPr>
          <p:cNvPr id="21" name="text-169"/>
          <p:cNvSpPr txBox="1"/>
          <p:nvPr/>
        </p:nvSpPr>
        <p:spPr>
          <a:xfrm>
            <a:off x="4224528" y="3712464"/>
            <a:ext cx="4462272" cy="256032"/>
          </a:xfrm>
          <a:prstGeom prst="rect">
            <a:avLst/>
          </a:prstGeom>
          <a:noFill/>
          <a:ln/>
        </p:spPr>
        <p:txBody>
          <a:bodyPr wrap="square" lIns="0" tIns="0" rIns="0" bIns="0" rtlCol="0" anchor="ctr"/>
          <a:lstStyle/>
          <a:p>
            <a:pPr algn="l" indent="0" marL="0">
              <a:lnSpc>
                <a:spcPct val="105000"/>
              </a:lnSpc>
              <a:buNone/>
            </a:pPr>
            <a:r>
              <a:rPr lang="en-US" sz="1150" dirty="0">
                <a:solidFill>
                  <a:schemeClr val="tx2"/>
                </a:solidFill>
              </a:rPr>
              <a:t>Plan, fakt, öhdəlik və qalıq bir baxışda</a:t>
            </a:r>
            <a:endParaRPr lang="en-US" sz="1150" dirty="0"/>
          </a:p>
        </p:txBody>
      </p:sp>
      <p:sp>
        <p:nvSpPr>
          <p:cNvPr id="22" name="shot-frame-170"/>
          <p:cNvSpPr/>
          <p:nvPr/>
        </p:nvSpPr>
        <p:spPr>
          <a:xfrm>
            <a:off x="3840480" y="4005072"/>
            <a:ext cx="4846320" cy="756737"/>
          </a:xfrm>
          <a:prstGeom prst="roundRect">
            <a:avLst>
              <a:gd name="adj" fmla="val 9667"/>
            </a:avLst>
          </a:prstGeom>
          <a:solidFill>
            <a:schemeClr val="bg1"/>
          </a:solidFill>
          <a:ln/>
          <a:effectLst>
            <a:outerShdw sx="100000" sy="100000" kx="0" ky="0" algn="bl" rotWithShape="0" blurRad="127000" dist="25400" dir="5400000">
              <a:srgbClr val="0B1F3A">
                <a:alpha val="8000"/>
              </a:srgbClr>
            </a:outerShdw>
          </a:effectLst>
        </p:spPr>
      </p:sp>
      <p:pic>
        <p:nvPicPr>
          <p:cNvPr id="23" name="screenshot-171" descr="İdarəetmə paneli: illik büdcə, dövr üzrə büdcə, fakt, açıq öhdəliklər, qalıq">    </p:cNvPr>
          <p:cNvPicPr>
            <a:picLocks noChangeAspect="1"/>
          </p:cNvPicPr>
          <p:nvPr/>
        </p:nvPicPr>
        <p:blipFill>
          <a:blip r:embed="rId3"/>
          <a:stretch>
            <a:fillRect/>
          </a:stretch>
        </p:blipFill>
        <p:spPr>
          <a:xfrm>
            <a:off x="3895344" y="4059936"/>
            <a:ext cx="4736592" cy="647009"/>
          </a:xfrm>
          <a:prstGeom prst="rect">
            <a:avLst/>
          </a:prstGeom>
        </p:spPr>
      </p:pic>
      <p:sp>
        <p:nvSpPr>
          <p:cNvPr id="25" name="Slide Number Placeholder 0"/>
          <p:cNvSpPr>
            <a:spLocks noGrp="1"/>
          </p:cNvSpPr>
          <p:nvPr>
            <p:ph type="sldNum" sz="quarter" idx="4294967295"/>
          </p:nvPr>
        </p:nvSpPr>
        <p:spPr>
          <a:xfrm>
            <a:off x="8321040" y="481888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172"/>
          <p:cNvSpPr txBox="1"/>
          <p:nvPr/>
        </p:nvSpPr>
        <p:spPr>
          <a:xfrm>
            <a:off x="457200" y="128016"/>
            <a:ext cx="6858000" cy="201168"/>
          </a:xfrm>
          <a:prstGeom prst="rect">
            <a:avLst/>
          </a:prstGeom>
          <a:noFill/>
          <a:ln/>
        </p:spPr>
        <p:txBody>
          <a:bodyPr wrap="square" lIns="0" tIns="0" rIns="0" bIns="0" rtlCol="0" anchor="t"/>
          <a:lstStyle/>
          <a:p>
            <a:pPr algn="l" indent="0" marL="0">
              <a:lnSpc>
                <a:spcPct val="105000"/>
              </a:lnSpc>
              <a:buNone/>
            </a:pPr>
            <a:r>
              <a:rPr lang="en-US" sz="1000" b="1" spc="150" kern="0" dirty="0">
                <a:solidFill>
                  <a:schemeClr val="accent1"/>
                </a:solidFill>
              </a:rPr>
              <a:t>İLK MÜŞTƏRİLƏR VƏ VALİDASİYA</a:t>
            </a:r>
            <a:endParaRPr lang="en-US" sz="1000" dirty="0"/>
          </a:p>
        </p:txBody>
      </p:sp>
      <p:sp>
        <p:nvSpPr>
          <p:cNvPr id="3" name="Text 5"/>
          <p:cNvSpPr/>
          <p:nvPr>
            <p:ph idx="105" type="title" hasCustomPrompt="1"/>
          </p:nvPr>
        </p:nvSpPr>
        <p:spPr>
          <a:xfrm>
            <a:off x="457200" y="329184"/>
            <a:ext cx="7498080" cy="621792"/>
          </a:xfrm>
          <a:prstGeom prst="rect">
            <a:avLst/>
          </a:prstGeom>
          <a:noFill/>
          <a:ln/>
        </p:spPr>
        <p:txBody>
          <a:bodyPr wrap="square" lIns="0" tIns="0" rIns="0" bIns="0" rtlCol="0" anchor="ctr"/>
          <a:lstStyle/>
          <a:p>
            <a:pPr algn="l" indent="0" marL="0">
              <a:buNone/>
            </a:pPr>
            <a:r>
              <a:rPr lang="en-US" sz="2700" b="1" dirty="0">
                <a:solidFill>
                  <a:srgbClr val="0B1F3A"/>
                </a:solidFill>
                <a:latin typeface="Cambria" pitchFamily="34" charset="0"/>
                <a:ea typeface="Cambria" pitchFamily="34" charset="-122"/>
                <a:cs typeface="Cambria" pitchFamily="34" charset="-120"/>
              </a:rPr>
              <a:t>İlk müştərilər və validasiya planı</a:t>
            </a:r>
            <a:endParaRPr lang="en-US" sz="2700" dirty="0"/>
          </a:p>
        </p:txBody>
      </p:sp>
      <p:sp>
        <p:nvSpPr>
          <p:cNvPr id="4" name="gtm-steps-173"/>
          <p:cNvSpPr/>
          <p:nvPr/>
        </p:nvSpPr>
        <p:spPr>
          <a:xfrm>
            <a:off x="457200" y="1188720"/>
            <a:ext cx="8229600" cy="1691640"/>
          </a:xfrm>
          <a:prstGeom prst="roundRect">
            <a:avLst>
              <a:gd name="adj" fmla="val 5405"/>
            </a:avLst>
          </a:prstGeom>
          <a:solidFill>
            <a:schemeClr val="bg1"/>
          </a:solidFill>
          <a:ln/>
          <a:effectLst>
            <a:outerShdw sx="100000" sy="100000" kx="0" ky="0" algn="bl" rotWithShape="0" blurRad="127000" dist="25400" dir="5400000">
              <a:srgbClr val="0B1F3A">
                <a:alpha val="8000"/>
              </a:srgbClr>
            </a:outerShdw>
          </a:effectLst>
        </p:spPr>
      </p:sp>
      <p:sp>
        <p:nvSpPr>
          <p:cNvPr id="5" name="steps-line"/>
          <p:cNvSpPr/>
          <p:nvPr/>
        </p:nvSpPr>
        <p:spPr>
          <a:xfrm>
            <a:off x="1280160" y="1572768"/>
            <a:ext cx="6583680" cy="0"/>
          </a:xfrm>
          <a:prstGeom prst="line">
            <a:avLst/>
          </a:prstGeom>
          <a:noFill/>
          <a:ln w="19050">
            <a:solidFill>
              <a:schemeClr val="accent5"/>
            </a:solidFill>
            <a:prstDash val="solid"/>
          </a:ln>
        </p:spPr>
      </p:sp>
      <p:sp>
        <p:nvSpPr>
          <p:cNvPr id="6" name="num-174"/>
          <p:cNvSpPr/>
          <p:nvPr/>
        </p:nvSpPr>
        <p:spPr>
          <a:xfrm>
            <a:off x="1078992" y="1371600"/>
            <a:ext cx="402336" cy="402336"/>
          </a:xfrm>
          <a:prstGeom prst="ellipse">
            <a:avLst/>
          </a:prstGeom>
          <a:solidFill>
            <a:schemeClr val="accent1"/>
          </a:solidFill>
          <a:ln/>
        </p:spPr>
      </p:sp>
      <p:sp>
        <p:nvSpPr>
          <p:cNvPr id="7" name="num-text-175"/>
          <p:cNvSpPr txBox="1"/>
          <p:nvPr/>
        </p:nvSpPr>
        <p:spPr>
          <a:xfrm>
            <a:off x="1078992" y="1371600"/>
            <a:ext cx="402336" cy="402336"/>
          </a:xfrm>
          <a:prstGeom prst="rect">
            <a:avLst/>
          </a:prstGeom>
          <a:noFill/>
          <a:ln/>
        </p:spPr>
        <p:txBody>
          <a:bodyPr wrap="square" lIns="0" tIns="0" rIns="0" bIns="0" rtlCol="0" anchor="ctr"/>
          <a:lstStyle/>
          <a:p>
            <a:pPr algn="ctr" indent="0" marL="0">
              <a:lnSpc>
                <a:spcPct val="105000"/>
              </a:lnSpc>
              <a:buNone/>
            </a:pPr>
            <a:r>
              <a:rPr lang="en-US" sz="1400" b="1" dirty="0">
                <a:solidFill>
                  <a:schemeClr val="bg1"/>
                </a:solidFill>
              </a:rPr>
              <a:t>1</a:t>
            </a:r>
            <a:endParaRPr lang="en-US" sz="1400" dirty="0"/>
          </a:p>
        </p:txBody>
      </p:sp>
      <p:sp>
        <p:nvSpPr>
          <p:cNvPr id="8" name="text-176"/>
          <p:cNvSpPr txBox="1"/>
          <p:nvPr/>
        </p:nvSpPr>
        <p:spPr>
          <a:xfrm>
            <a:off x="502920" y="1883664"/>
            <a:ext cx="1554480" cy="274320"/>
          </a:xfrm>
          <a:prstGeom prst="rect">
            <a:avLst/>
          </a:prstGeom>
          <a:noFill/>
          <a:ln/>
        </p:spPr>
        <p:txBody>
          <a:bodyPr wrap="square" lIns="0" tIns="0" rIns="0" bIns="0" rtlCol="0" anchor="ctr"/>
          <a:lstStyle/>
          <a:p>
            <a:pPr algn="ctr" indent="0" marL="0">
              <a:lnSpc>
                <a:spcPct val="105000"/>
              </a:lnSpc>
              <a:buNone/>
            </a:pPr>
            <a:r>
              <a:rPr lang="en-US" sz="1250" b="1" dirty="0">
                <a:solidFill>
                  <a:schemeClr val="tx1"/>
                </a:solidFill>
              </a:rPr>
              <a:t>LinkedIn müraciəti</a:t>
            </a:r>
            <a:endParaRPr lang="en-US" sz="1250" dirty="0"/>
          </a:p>
        </p:txBody>
      </p:sp>
      <p:sp>
        <p:nvSpPr>
          <p:cNvPr id="9" name="text-177"/>
          <p:cNvSpPr txBox="1"/>
          <p:nvPr/>
        </p:nvSpPr>
        <p:spPr>
          <a:xfrm>
            <a:off x="530352" y="2176272"/>
            <a:ext cx="1499616" cy="566928"/>
          </a:xfrm>
          <a:prstGeom prst="rect">
            <a:avLst/>
          </a:prstGeom>
          <a:noFill/>
          <a:ln/>
        </p:spPr>
        <p:txBody>
          <a:bodyPr wrap="square" lIns="0" tIns="0" rIns="0" bIns="0" rtlCol="0" anchor="t"/>
          <a:lstStyle/>
          <a:p>
            <a:pPr algn="ctr" indent="0" marL="0">
              <a:lnSpc>
                <a:spcPct val="105000"/>
              </a:lnSpc>
              <a:buNone/>
            </a:pPr>
            <a:r>
              <a:rPr lang="en-US" sz="1050" dirty="0">
                <a:solidFill>
                  <a:schemeClr val="accent4"/>
                </a:solidFill>
              </a:rPr>
              <a:t>CFO, maliyyə direktoru və büdcə sahibləri</a:t>
            </a:r>
            <a:endParaRPr lang="en-US" sz="1050" dirty="0"/>
          </a:p>
        </p:txBody>
      </p:sp>
      <p:sp>
        <p:nvSpPr>
          <p:cNvPr id="10" name="num-178"/>
          <p:cNvSpPr/>
          <p:nvPr/>
        </p:nvSpPr>
        <p:spPr>
          <a:xfrm>
            <a:off x="2724912" y="1371600"/>
            <a:ext cx="402336" cy="402336"/>
          </a:xfrm>
          <a:prstGeom prst="ellipse">
            <a:avLst/>
          </a:prstGeom>
          <a:solidFill>
            <a:schemeClr val="accent1"/>
          </a:solidFill>
          <a:ln/>
        </p:spPr>
      </p:sp>
      <p:sp>
        <p:nvSpPr>
          <p:cNvPr id="11" name="num-text-179"/>
          <p:cNvSpPr txBox="1"/>
          <p:nvPr/>
        </p:nvSpPr>
        <p:spPr>
          <a:xfrm>
            <a:off x="2724912" y="1371600"/>
            <a:ext cx="402336" cy="402336"/>
          </a:xfrm>
          <a:prstGeom prst="rect">
            <a:avLst/>
          </a:prstGeom>
          <a:noFill/>
          <a:ln/>
        </p:spPr>
        <p:txBody>
          <a:bodyPr wrap="square" lIns="0" tIns="0" rIns="0" bIns="0" rtlCol="0" anchor="ctr"/>
          <a:lstStyle/>
          <a:p>
            <a:pPr algn="ctr" indent="0" marL="0">
              <a:lnSpc>
                <a:spcPct val="105000"/>
              </a:lnSpc>
              <a:buNone/>
            </a:pPr>
            <a:r>
              <a:rPr lang="en-US" sz="1400" b="1" dirty="0">
                <a:solidFill>
                  <a:schemeClr val="bg1"/>
                </a:solidFill>
              </a:rPr>
              <a:t>2</a:t>
            </a:r>
            <a:endParaRPr lang="en-US" sz="1400" dirty="0"/>
          </a:p>
        </p:txBody>
      </p:sp>
      <p:sp>
        <p:nvSpPr>
          <p:cNvPr id="12" name="text-180"/>
          <p:cNvSpPr txBox="1"/>
          <p:nvPr/>
        </p:nvSpPr>
        <p:spPr>
          <a:xfrm>
            <a:off x="2148840" y="1883664"/>
            <a:ext cx="1554480" cy="274320"/>
          </a:xfrm>
          <a:prstGeom prst="rect">
            <a:avLst/>
          </a:prstGeom>
          <a:noFill/>
          <a:ln/>
        </p:spPr>
        <p:txBody>
          <a:bodyPr wrap="square" lIns="0" tIns="0" rIns="0" bIns="0" rtlCol="0" anchor="ctr"/>
          <a:lstStyle/>
          <a:p>
            <a:pPr algn="ctr" indent="0" marL="0">
              <a:lnSpc>
                <a:spcPct val="105000"/>
              </a:lnSpc>
              <a:buNone/>
            </a:pPr>
            <a:r>
              <a:rPr lang="en-US" sz="1250" b="1" dirty="0">
                <a:solidFill>
                  <a:schemeClr val="tx1"/>
                </a:solidFill>
              </a:rPr>
              <a:t>Görüş və canlı demo</a:t>
            </a:r>
            <a:endParaRPr lang="en-US" sz="1250" dirty="0"/>
          </a:p>
        </p:txBody>
      </p:sp>
      <p:sp>
        <p:nvSpPr>
          <p:cNvPr id="13" name="text-181"/>
          <p:cNvSpPr txBox="1"/>
          <p:nvPr/>
        </p:nvSpPr>
        <p:spPr>
          <a:xfrm>
            <a:off x="2176272" y="2176272"/>
            <a:ext cx="1499616" cy="566928"/>
          </a:xfrm>
          <a:prstGeom prst="rect">
            <a:avLst/>
          </a:prstGeom>
          <a:noFill/>
          <a:ln/>
        </p:spPr>
        <p:txBody>
          <a:bodyPr wrap="square" lIns="0" tIns="0" rIns="0" bIns="0" rtlCol="0" anchor="t"/>
          <a:lstStyle/>
          <a:p>
            <a:pPr algn="ctr" indent="0" marL="0">
              <a:lnSpc>
                <a:spcPct val="105000"/>
              </a:lnSpc>
              <a:buNone/>
            </a:pPr>
            <a:r>
              <a:rPr lang="en-US" sz="1050" dirty="0">
                <a:solidFill>
                  <a:schemeClr val="accent4"/>
                </a:solidFill>
              </a:rPr>
              <a:t>Üz-üzə görüşdə MVP-nin nümayişi</a:t>
            </a:r>
            <a:endParaRPr lang="en-US" sz="1050" dirty="0"/>
          </a:p>
        </p:txBody>
      </p:sp>
      <p:sp>
        <p:nvSpPr>
          <p:cNvPr id="14" name="num-182"/>
          <p:cNvSpPr/>
          <p:nvPr/>
        </p:nvSpPr>
        <p:spPr>
          <a:xfrm>
            <a:off x="4370832" y="1371600"/>
            <a:ext cx="402336" cy="402336"/>
          </a:xfrm>
          <a:prstGeom prst="ellipse">
            <a:avLst/>
          </a:prstGeom>
          <a:solidFill>
            <a:schemeClr val="accent1"/>
          </a:solidFill>
          <a:ln/>
        </p:spPr>
      </p:sp>
      <p:sp>
        <p:nvSpPr>
          <p:cNvPr id="15" name="num-text-183"/>
          <p:cNvSpPr txBox="1"/>
          <p:nvPr/>
        </p:nvSpPr>
        <p:spPr>
          <a:xfrm>
            <a:off x="4370832" y="1371600"/>
            <a:ext cx="402336" cy="402336"/>
          </a:xfrm>
          <a:prstGeom prst="rect">
            <a:avLst/>
          </a:prstGeom>
          <a:noFill/>
          <a:ln/>
        </p:spPr>
        <p:txBody>
          <a:bodyPr wrap="square" lIns="0" tIns="0" rIns="0" bIns="0" rtlCol="0" anchor="ctr"/>
          <a:lstStyle/>
          <a:p>
            <a:pPr algn="ctr" indent="0" marL="0">
              <a:lnSpc>
                <a:spcPct val="105000"/>
              </a:lnSpc>
              <a:buNone/>
            </a:pPr>
            <a:r>
              <a:rPr lang="en-US" sz="1400" b="1" dirty="0">
                <a:solidFill>
                  <a:schemeClr val="bg1"/>
                </a:solidFill>
              </a:rPr>
              <a:t>3</a:t>
            </a:r>
            <a:endParaRPr lang="en-US" sz="1400" dirty="0"/>
          </a:p>
        </p:txBody>
      </p:sp>
      <p:sp>
        <p:nvSpPr>
          <p:cNvPr id="16" name="text-184"/>
          <p:cNvSpPr txBox="1"/>
          <p:nvPr/>
        </p:nvSpPr>
        <p:spPr>
          <a:xfrm>
            <a:off x="3794760" y="1883664"/>
            <a:ext cx="1554480" cy="274320"/>
          </a:xfrm>
          <a:prstGeom prst="rect">
            <a:avLst/>
          </a:prstGeom>
          <a:noFill/>
          <a:ln/>
        </p:spPr>
        <p:txBody>
          <a:bodyPr wrap="square" lIns="0" tIns="0" rIns="0" bIns="0" rtlCol="0" anchor="ctr"/>
          <a:lstStyle/>
          <a:p>
            <a:pPr algn="ctr" indent="0" marL="0">
              <a:lnSpc>
                <a:spcPct val="105000"/>
              </a:lnSpc>
              <a:buNone/>
            </a:pPr>
            <a:r>
              <a:rPr lang="en-US" sz="1250" b="1" dirty="0">
                <a:solidFill>
                  <a:schemeClr val="tx1"/>
                </a:solidFill>
              </a:rPr>
              <a:t>Test mühiti</a:t>
            </a:r>
            <a:endParaRPr lang="en-US" sz="1250" dirty="0"/>
          </a:p>
        </p:txBody>
      </p:sp>
      <p:sp>
        <p:nvSpPr>
          <p:cNvPr id="17" name="text-185"/>
          <p:cNvSpPr txBox="1"/>
          <p:nvPr/>
        </p:nvSpPr>
        <p:spPr>
          <a:xfrm>
            <a:off x="3822192" y="2176272"/>
            <a:ext cx="1499616" cy="566928"/>
          </a:xfrm>
          <a:prstGeom prst="rect">
            <a:avLst/>
          </a:prstGeom>
          <a:noFill/>
          <a:ln/>
        </p:spPr>
        <p:txBody>
          <a:bodyPr wrap="square" lIns="0" tIns="0" rIns="0" bIns="0" rtlCol="0" anchor="t"/>
          <a:lstStyle/>
          <a:p>
            <a:pPr algn="ctr" indent="0" marL="0">
              <a:lnSpc>
                <a:spcPct val="105000"/>
              </a:lnSpc>
              <a:buNone/>
            </a:pPr>
            <a:r>
              <a:rPr lang="en-US" sz="1050" dirty="0">
                <a:solidFill>
                  <a:schemeClr val="accent4"/>
                </a:solidFill>
              </a:rPr>
              <a:t>Şirkətin öz strukturu və büdcə ssenariləri ilə</a:t>
            </a:r>
            <a:endParaRPr lang="en-US" sz="1050" dirty="0"/>
          </a:p>
        </p:txBody>
      </p:sp>
      <p:sp>
        <p:nvSpPr>
          <p:cNvPr id="18" name="num-186"/>
          <p:cNvSpPr/>
          <p:nvPr/>
        </p:nvSpPr>
        <p:spPr>
          <a:xfrm>
            <a:off x="6016752" y="1371600"/>
            <a:ext cx="402336" cy="402336"/>
          </a:xfrm>
          <a:prstGeom prst="ellipse">
            <a:avLst/>
          </a:prstGeom>
          <a:solidFill>
            <a:schemeClr val="accent1"/>
          </a:solidFill>
          <a:ln/>
        </p:spPr>
      </p:sp>
      <p:sp>
        <p:nvSpPr>
          <p:cNvPr id="19" name="num-text-187"/>
          <p:cNvSpPr txBox="1"/>
          <p:nvPr/>
        </p:nvSpPr>
        <p:spPr>
          <a:xfrm>
            <a:off x="6016752" y="1371600"/>
            <a:ext cx="402336" cy="402336"/>
          </a:xfrm>
          <a:prstGeom prst="rect">
            <a:avLst/>
          </a:prstGeom>
          <a:noFill/>
          <a:ln/>
        </p:spPr>
        <p:txBody>
          <a:bodyPr wrap="square" lIns="0" tIns="0" rIns="0" bIns="0" rtlCol="0" anchor="ctr"/>
          <a:lstStyle/>
          <a:p>
            <a:pPr algn="ctr" indent="0" marL="0">
              <a:lnSpc>
                <a:spcPct val="105000"/>
              </a:lnSpc>
              <a:buNone/>
            </a:pPr>
            <a:r>
              <a:rPr lang="en-US" sz="1400" b="1" dirty="0">
                <a:solidFill>
                  <a:schemeClr val="bg1"/>
                </a:solidFill>
              </a:rPr>
              <a:t>4</a:t>
            </a:r>
            <a:endParaRPr lang="en-US" sz="1400" dirty="0"/>
          </a:p>
        </p:txBody>
      </p:sp>
      <p:sp>
        <p:nvSpPr>
          <p:cNvPr id="20" name="text-188"/>
          <p:cNvSpPr txBox="1"/>
          <p:nvPr/>
        </p:nvSpPr>
        <p:spPr>
          <a:xfrm>
            <a:off x="5440680" y="1883664"/>
            <a:ext cx="1554480" cy="274320"/>
          </a:xfrm>
          <a:prstGeom prst="rect">
            <a:avLst/>
          </a:prstGeom>
          <a:noFill/>
          <a:ln/>
        </p:spPr>
        <p:txBody>
          <a:bodyPr wrap="square" lIns="0" tIns="0" rIns="0" bIns="0" rtlCol="0" anchor="ctr"/>
          <a:lstStyle/>
          <a:p>
            <a:pPr algn="ctr" indent="0" marL="0">
              <a:lnSpc>
                <a:spcPct val="105000"/>
              </a:lnSpc>
              <a:buNone/>
            </a:pPr>
            <a:r>
              <a:rPr lang="en-US" sz="1250" b="1" dirty="0">
                <a:solidFill>
                  <a:schemeClr val="tx1"/>
                </a:solidFill>
              </a:rPr>
              <a:t>Rəy və pilot</a:t>
            </a:r>
            <a:endParaRPr lang="en-US" sz="1250" dirty="0"/>
          </a:p>
        </p:txBody>
      </p:sp>
      <p:sp>
        <p:nvSpPr>
          <p:cNvPr id="21" name="text-189"/>
          <p:cNvSpPr txBox="1"/>
          <p:nvPr/>
        </p:nvSpPr>
        <p:spPr>
          <a:xfrm>
            <a:off x="5468112" y="2176272"/>
            <a:ext cx="1499616" cy="566928"/>
          </a:xfrm>
          <a:prstGeom prst="rect">
            <a:avLst/>
          </a:prstGeom>
          <a:noFill/>
          <a:ln/>
        </p:spPr>
        <p:txBody>
          <a:bodyPr wrap="square" lIns="0" tIns="0" rIns="0" bIns="0" rtlCol="0" anchor="t"/>
          <a:lstStyle/>
          <a:p>
            <a:pPr algn="ctr" indent="0" marL="0">
              <a:lnSpc>
                <a:spcPct val="105000"/>
              </a:lnSpc>
              <a:buNone/>
            </a:pPr>
            <a:r>
              <a:rPr lang="en-US" sz="1050" dirty="0">
                <a:solidFill>
                  <a:schemeClr val="accent4"/>
                </a:solidFill>
              </a:rPr>
              <a:t>Uyğun şirkətlərlə pilot</a:t>
            </a:r>
            <a:endParaRPr lang="en-US" sz="1050" dirty="0"/>
          </a:p>
        </p:txBody>
      </p:sp>
      <p:sp>
        <p:nvSpPr>
          <p:cNvPr id="22" name="num-190"/>
          <p:cNvSpPr/>
          <p:nvPr/>
        </p:nvSpPr>
        <p:spPr>
          <a:xfrm>
            <a:off x="7662672" y="1371600"/>
            <a:ext cx="402336" cy="402336"/>
          </a:xfrm>
          <a:prstGeom prst="ellipse">
            <a:avLst/>
          </a:prstGeom>
          <a:solidFill>
            <a:schemeClr val="accent2"/>
          </a:solidFill>
          <a:ln/>
        </p:spPr>
      </p:sp>
      <p:sp>
        <p:nvSpPr>
          <p:cNvPr id="23" name="num-text-191"/>
          <p:cNvSpPr txBox="1"/>
          <p:nvPr/>
        </p:nvSpPr>
        <p:spPr>
          <a:xfrm>
            <a:off x="7662672" y="1371600"/>
            <a:ext cx="402336" cy="402336"/>
          </a:xfrm>
          <a:prstGeom prst="rect">
            <a:avLst/>
          </a:prstGeom>
          <a:noFill/>
          <a:ln/>
        </p:spPr>
        <p:txBody>
          <a:bodyPr wrap="square" lIns="0" tIns="0" rIns="0" bIns="0" rtlCol="0" anchor="ctr"/>
          <a:lstStyle/>
          <a:p>
            <a:pPr algn="ctr" indent="0" marL="0">
              <a:lnSpc>
                <a:spcPct val="105000"/>
              </a:lnSpc>
              <a:buNone/>
            </a:pPr>
            <a:r>
              <a:rPr lang="en-US" sz="1400" b="1" dirty="0">
                <a:solidFill>
                  <a:schemeClr val="bg1"/>
                </a:solidFill>
              </a:rPr>
              <a:t>5</a:t>
            </a:r>
            <a:endParaRPr lang="en-US" sz="1400" dirty="0"/>
          </a:p>
        </p:txBody>
      </p:sp>
      <p:sp>
        <p:nvSpPr>
          <p:cNvPr id="24" name="text-192"/>
          <p:cNvSpPr txBox="1"/>
          <p:nvPr/>
        </p:nvSpPr>
        <p:spPr>
          <a:xfrm>
            <a:off x="7086600" y="1883664"/>
            <a:ext cx="1554480" cy="274320"/>
          </a:xfrm>
          <a:prstGeom prst="rect">
            <a:avLst/>
          </a:prstGeom>
          <a:noFill/>
          <a:ln/>
        </p:spPr>
        <p:txBody>
          <a:bodyPr wrap="square" lIns="0" tIns="0" rIns="0" bIns="0" rtlCol="0" anchor="ctr"/>
          <a:lstStyle/>
          <a:p>
            <a:pPr algn="ctr" indent="0" marL="0">
              <a:lnSpc>
                <a:spcPct val="105000"/>
              </a:lnSpc>
              <a:buNone/>
            </a:pPr>
            <a:r>
              <a:rPr lang="en-US" sz="1250" b="1" dirty="0">
                <a:solidFill>
                  <a:schemeClr val="tx1"/>
                </a:solidFill>
              </a:rPr>
              <a:t>Təkmilləşdirmə</a:t>
            </a:r>
            <a:endParaRPr lang="en-US" sz="1250" dirty="0"/>
          </a:p>
        </p:txBody>
      </p:sp>
      <p:sp>
        <p:nvSpPr>
          <p:cNvPr id="25" name="text-193"/>
          <p:cNvSpPr txBox="1"/>
          <p:nvPr/>
        </p:nvSpPr>
        <p:spPr>
          <a:xfrm>
            <a:off x="7114032" y="2176272"/>
            <a:ext cx="1499616" cy="566928"/>
          </a:xfrm>
          <a:prstGeom prst="rect">
            <a:avLst/>
          </a:prstGeom>
          <a:noFill/>
          <a:ln/>
        </p:spPr>
        <p:txBody>
          <a:bodyPr wrap="square" lIns="0" tIns="0" rIns="0" bIns="0" rtlCol="0" anchor="t"/>
          <a:lstStyle/>
          <a:p>
            <a:pPr algn="ctr" indent="0" marL="0">
              <a:lnSpc>
                <a:spcPct val="105000"/>
              </a:lnSpc>
              <a:buNone/>
            </a:pPr>
            <a:r>
              <a:rPr lang="en-US" sz="1050" dirty="0">
                <a:solidFill>
                  <a:schemeClr val="accent4"/>
                </a:solidFill>
              </a:rPr>
              <a:t>Pilot nəticələri; ödəməyə hazırlığın yoxlanılması</a:t>
            </a:r>
            <a:endParaRPr lang="en-US" sz="1050" dirty="0"/>
          </a:p>
        </p:txBody>
      </p:sp>
      <p:sp>
        <p:nvSpPr>
          <p:cNvPr id="26" name="gtm-box-194"/>
          <p:cNvSpPr/>
          <p:nvPr/>
        </p:nvSpPr>
        <p:spPr>
          <a:xfrm>
            <a:off x="457200" y="3063240"/>
            <a:ext cx="2514600" cy="1600200"/>
          </a:xfrm>
          <a:prstGeom prst="roundRect">
            <a:avLst>
              <a:gd name="adj" fmla="val 5714"/>
            </a:avLst>
          </a:prstGeom>
          <a:solidFill>
            <a:schemeClr val="bg1"/>
          </a:solidFill>
          <a:ln/>
          <a:effectLst>
            <a:outerShdw sx="100000" sy="100000" kx="0" ky="0" algn="bl" rotWithShape="0" blurRad="127000" dist="25400" dir="5400000">
              <a:srgbClr val="0B1F3A">
                <a:alpha val="8000"/>
              </a:srgbClr>
            </a:outerShdw>
          </a:effectLst>
        </p:spPr>
      </p:sp>
      <p:sp>
        <p:nvSpPr>
          <p:cNvPr id="27" name="icon-bg-195"/>
          <p:cNvSpPr/>
          <p:nvPr/>
        </p:nvSpPr>
        <p:spPr>
          <a:xfrm>
            <a:off x="658368" y="3227832"/>
            <a:ext cx="402336" cy="402336"/>
          </a:xfrm>
          <a:prstGeom prst="ellipse">
            <a:avLst/>
          </a:prstGeom>
          <a:solidFill>
            <a:schemeClr val="accent1">
              <a:alpha val="12000"/>
            </a:schemeClr>
          </a:solidFill>
          <a:ln/>
        </p:spPr>
      </p:sp>
      <p:pic>
        <p:nvPicPr>
          <p:cNvPr id="28" name="icon-LuTarget-196" descr="Target">    </p:cNvPr>
          <p:cNvPicPr>
            <a:picLocks noChangeAspect="1"/>
          </p:cNvPicPr>
          <p:nvPr/>
        </p:nvPicPr>
        <p:blipFill>
          <a:blip r:embed="rId1"/>
          <a:stretch>
            <a:fillRect/>
          </a:stretch>
        </p:blipFill>
        <p:spPr>
          <a:xfrm>
            <a:off x="754929" y="3324393"/>
            <a:ext cx="209215" cy="209215"/>
          </a:xfrm>
          <a:prstGeom prst="rect">
            <a:avLst/>
          </a:prstGeom>
        </p:spPr>
      </p:pic>
      <p:sp>
        <p:nvSpPr>
          <p:cNvPr id="29" name="text-197"/>
          <p:cNvSpPr txBox="1"/>
          <p:nvPr/>
        </p:nvSpPr>
        <p:spPr>
          <a:xfrm>
            <a:off x="1170432" y="3200400"/>
            <a:ext cx="1645920" cy="457200"/>
          </a:xfrm>
          <a:prstGeom prst="rect">
            <a:avLst/>
          </a:prstGeom>
          <a:noFill/>
          <a:ln/>
        </p:spPr>
        <p:txBody>
          <a:bodyPr wrap="square" lIns="0" tIns="0" rIns="0" bIns="0" rtlCol="0" anchor="ctr"/>
          <a:lstStyle/>
          <a:p>
            <a:pPr algn="l" indent="0" marL="0">
              <a:lnSpc>
                <a:spcPct val="105000"/>
              </a:lnSpc>
              <a:buNone/>
            </a:pPr>
            <a:r>
              <a:rPr lang="en-US" sz="1250" b="1" dirty="0">
                <a:solidFill>
                  <a:schemeClr val="tx1"/>
                </a:solidFill>
              </a:rPr>
              <a:t>İlk dəvətlər</a:t>
            </a:r>
            <a:endParaRPr lang="en-US" sz="1250" dirty="0"/>
          </a:p>
        </p:txBody>
      </p:sp>
      <p:sp>
        <p:nvSpPr>
          <p:cNvPr id="30" name="text-198"/>
          <p:cNvSpPr txBox="1"/>
          <p:nvPr/>
        </p:nvSpPr>
        <p:spPr>
          <a:xfrm>
            <a:off x="658368" y="3749040"/>
            <a:ext cx="2148840" cy="548640"/>
          </a:xfrm>
          <a:prstGeom prst="rect">
            <a:avLst/>
          </a:prstGeom>
          <a:noFill/>
          <a:ln/>
        </p:spPr>
        <p:txBody>
          <a:bodyPr wrap="square" lIns="0" tIns="0" rIns="0" bIns="0" rtlCol="0" anchor="t"/>
          <a:lstStyle/>
          <a:p>
            <a:pPr algn="l" indent="0" marL="0">
              <a:lnSpc>
                <a:spcPct val="105000"/>
              </a:lnSpc>
              <a:buNone/>
            </a:pPr>
            <a:r>
              <a:rPr lang="en-US" sz="1150" dirty="0">
                <a:solidFill>
                  <a:schemeClr val="tx1"/>
                </a:solidFill>
              </a:rPr>
              <a:t>Müsahibə etdiyimiz 6 şirkət — test mühitinə ilk dəvət hədəfləri</a:t>
            </a:r>
            <a:endParaRPr lang="en-US" sz="1150" dirty="0"/>
          </a:p>
        </p:txBody>
      </p:sp>
      <p:sp>
        <p:nvSpPr>
          <p:cNvPr id="31" name="text-199"/>
          <p:cNvSpPr txBox="1"/>
          <p:nvPr/>
        </p:nvSpPr>
        <p:spPr>
          <a:xfrm>
            <a:off x="658368" y="4315968"/>
            <a:ext cx="2148840" cy="228600"/>
          </a:xfrm>
          <a:prstGeom prst="rect">
            <a:avLst/>
          </a:prstGeom>
          <a:noFill/>
          <a:ln/>
        </p:spPr>
        <p:txBody>
          <a:bodyPr wrap="square" lIns="0" tIns="0" rIns="0" bIns="0" rtlCol="0" anchor="t"/>
          <a:lstStyle/>
          <a:p>
            <a:pPr algn="l" indent="0" marL="0">
              <a:lnSpc>
                <a:spcPct val="105000"/>
              </a:lnSpc>
              <a:buNone/>
            </a:pPr>
            <a:r>
              <a:rPr lang="en-US" sz="1000" b="1" i="1" dirty="0">
                <a:solidFill>
                  <a:srgbClr val="B45309"/>
                </a:solidFill>
              </a:rPr>
              <a:t>Hələ pilot razılaşması yoxdur</a:t>
            </a:r>
            <a:endParaRPr lang="en-US" sz="1000" dirty="0"/>
          </a:p>
        </p:txBody>
      </p:sp>
      <p:sp>
        <p:nvSpPr>
          <p:cNvPr id="32" name="gtm-box-200"/>
          <p:cNvSpPr/>
          <p:nvPr/>
        </p:nvSpPr>
        <p:spPr>
          <a:xfrm>
            <a:off x="3127248" y="3063240"/>
            <a:ext cx="2514600" cy="1600200"/>
          </a:xfrm>
          <a:prstGeom prst="roundRect">
            <a:avLst>
              <a:gd name="adj" fmla="val 5714"/>
            </a:avLst>
          </a:prstGeom>
          <a:solidFill>
            <a:schemeClr val="bg1"/>
          </a:solidFill>
          <a:ln/>
          <a:effectLst>
            <a:outerShdw sx="100000" sy="100000" kx="0" ky="0" algn="bl" rotWithShape="0" blurRad="127000" dist="25400" dir="5400000">
              <a:srgbClr val="0B1F3A">
                <a:alpha val="8000"/>
              </a:srgbClr>
            </a:outerShdw>
          </a:effectLst>
        </p:spPr>
      </p:sp>
      <p:sp>
        <p:nvSpPr>
          <p:cNvPr id="33" name="icon-bg-201"/>
          <p:cNvSpPr/>
          <p:nvPr/>
        </p:nvSpPr>
        <p:spPr>
          <a:xfrm>
            <a:off x="3328416" y="3227832"/>
            <a:ext cx="402336" cy="402336"/>
          </a:xfrm>
          <a:prstGeom prst="ellipse">
            <a:avLst/>
          </a:prstGeom>
          <a:solidFill>
            <a:schemeClr val="accent1">
              <a:alpha val="12000"/>
            </a:schemeClr>
          </a:solidFill>
          <a:ln/>
        </p:spPr>
      </p:sp>
      <p:pic>
        <p:nvPicPr>
          <p:cNvPr id="34" name="icon-LuCalendarClock-202" descr="CalendarClock">    </p:cNvPr>
          <p:cNvPicPr>
            <a:picLocks noChangeAspect="1"/>
          </p:cNvPicPr>
          <p:nvPr/>
        </p:nvPicPr>
        <p:blipFill>
          <a:blip r:embed="rId2"/>
          <a:stretch>
            <a:fillRect/>
          </a:stretch>
        </p:blipFill>
        <p:spPr>
          <a:xfrm>
            <a:off x="3424977" y="3324393"/>
            <a:ext cx="209215" cy="209215"/>
          </a:xfrm>
          <a:prstGeom prst="rect">
            <a:avLst/>
          </a:prstGeom>
        </p:spPr>
      </p:pic>
      <p:sp>
        <p:nvSpPr>
          <p:cNvPr id="35" name="text-203"/>
          <p:cNvSpPr txBox="1"/>
          <p:nvPr/>
        </p:nvSpPr>
        <p:spPr>
          <a:xfrm>
            <a:off x="3840480" y="3200400"/>
            <a:ext cx="1645920" cy="457200"/>
          </a:xfrm>
          <a:prstGeom prst="rect">
            <a:avLst/>
          </a:prstGeom>
          <a:noFill/>
          <a:ln/>
        </p:spPr>
        <p:txBody>
          <a:bodyPr wrap="square" lIns="0" tIns="0" rIns="0" bIns="0" rtlCol="0" anchor="ctr"/>
          <a:lstStyle/>
          <a:p>
            <a:pPr algn="l" indent="0" marL="0">
              <a:lnSpc>
                <a:spcPct val="105000"/>
              </a:lnSpc>
              <a:buNone/>
            </a:pPr>
            <a:r>
              <a:rPr lang="en-US" sz="1250" b="1" dirty="0">
                <a:solidFill>
                  <a:schemeClr val="tx1"/>
                </a:solidFill>
              </a:rPr>
              <a:t>Pilot imkanı: 2027 büdcə dövrü</a:t>
            </a:r>
            <a:endParaRPr lang="en-US" sz="1250" dirty="0"/>
          </a:p>
        </p:txBody>
      </p:sp>
      <p:sp>
        <p:nvSpPr>
          <p:cNvPr id="36" name="text-204"/>
          <p:cNvSpPr txBox="1"/>
          <p:nvPr/>
        </p:nvSpPr>
        <p:spPr>
          <a:xfrm>
            <a:off x="3328416" y="3749040"/>
            <a:ext cx="2148840" cy="548640"/>
          </a:xfrm>
          <a:prstGeom prst="rect">
            <a:avLst/>
          </a:prstGeom>
          <a:noFill/>
          <a:ln/>
        </p:spPr>
        <p:txBody>
          <a:bodyPr wrap="square" lIns="0" tIns="0" rIns="0" bIns="0" rtlCol="0" anchor="t"/>
          <a:lstStyle/>
          <a:p>
            <a:pPr algn="l" indent="0" marL="0">
              <a:lnSpc>
                <a:spcPct val="105000"/>
              </a:lnSpc>
              <a:buNone/>
            </a:pPr>
            <a:r>
              <a:rPr lang="en-US" sz="1150" dirty="0">
                <a:solidFill>
                  <a:schemeClr val="tx1"/>
                </a:solidFill>
              </a:rPr>
              <a:t>Hazırlıq mərhələsində Excel-ə paralel test, 2027-də icraya nəzarət</a:t>
            </a:r>
            <a:endParaRPr lang="en-US" sz="1150" dirty="0"/>
          </a:p>
        </p:txBody>
      </p:sp>
      <p:sp>
        <p:nvSpPr>
          <p:cNvPr id="37" name="metrics-205"/>
          <p:cNvSpPr/>
          <p:nvPr/>
        </p:nvSpPr>
        <p:spPr>
          <a:xfrm>
            <a:off x="5797296" y="3063240"/>
            <a:ext cx="2889504" cy="1600200"/>
          </a:xfrm>
          <a:prstGeom prst="roundRect">
            <a:avLst>
              <a:gd name="adj" fmla="val 5714"/>
            </a:avLst>
          </a:prstGeom>
          <a:solidFill>
            <a:schemeClr val="bg1"/>
          </a:solidFill>
          <a:ln/>
          <a:effectLst>
            <a:outerShdw sx="100000" sy="100000" kx="0" ky="0" algn="bl" rotWithShape="0" blurRad="127000" dist="25400" dir="5400000">
              <a:srgbClr val="0B1F3A">
                <a:alpha val="8000"/>
              </a:srgbClr>
            </a:outerShdw>
          </a:effectLst>
        </p:spPr>
      </p:sp>
      <p:sp>
        <p:nvSpPr>
          <p:cNvPr id="38" name="icon-bg-206"/>
          <p:cNvSpPr/>
          <p:nvPr/>
        </p:nvSpPr>
        <p:spPr>
          <a:xfrm>
            <a:off x="5998464" y="3227832"/>
            <a:ext cx="402336" cy="402336"/>
          </a:xfrm>
          <a:prstGeom prst="ellipse">
            <a:avLst/>
          </a:prstGeom>
          <a:solidFill>
            <a:schemeClr val="accent1">
              <a:alpha val="12000"/>
            </a:schemeClr>
          </a:solidFill>
          <a:ln/>
        </p:spPr>
      </p:sp>
      <p:pic>
        <p:nvPicPr>
          <p:cNvPr id="39" name="icon-LuGauge-207" descr="Gauge">    </p:cNvPr>
          <p:cNvPicPr>
            <a:picLocks noChangeAspect="1"/>
          </p:cNvPicPr>
          <p:nvPr/>
        </p:nvPicPr>
        <p:blipFill>
          <a:blip r:embed="rId3"/>
          <a:stretch>
            <a:fillRect/>
          </a:stretch>
        </p:blipFill>
        <p:spPr>
          <a:xfrm>
            <a:off x="6095025" y="3324393"/>
            <a:ext cx="209215" cy="209215"/>
          </a:xfrm>
          <a:prstGeom prst="rect">
            <a:avLst/>
          </a:prstGeom>
        </p:spPr>
      </p:pic>
      <p:sp>
        <p:nvSpPr>
          <p:cNvPr id="40" name="text-208"/>
          <p:cNvSpPr txBox="1"/>
          <p:nvPr/>
        </p:nvSpPr>
        <p:spPr>
          <a:xfrm>
            <a:off x="6510528" y="3200400"/>
            <a:ext cx="2103120" cy="274320"/>
          </a:xfrm>
          <a:prstGeom prst="rect">
            <a:avLst/>
          </a:prstGeom>
          <a:noFill/>
          <a:ln/>
        </p:spPr>
        <p:txBody>
          <a:bodyPr wrap="square" lIns="0" tIns="0" rIns="0" bIns="0" rtlCol="0" anchor="ctr"/>
          <a:lstStyle/>
          <a:p>
            <a:pPr algn="l" indent="0" marL="0">
              <a:lnSpc>
                <a:spcPct val="105000"/>
              </a:lnSpc>
              <a:buNone/>
            </a:pPr>
            <a:r>
              <a:rPr lang="en-US" sz="1250" b="1" dirty="0">
                <a:solidFill>
                  <a:schemeClr val="tx1"/>
                </a:solidFill>
              </a:rPr>
              <a:t>Ölçəcəyimiz göstəricilər</a:t>
            </a:r>
            <a:endParaRPr lang="en-US" sz="1250" dirty="0"/>
          </a:p>
        </p:txBody>
      </p:sp>
      <p:sp>
        <p:nvSpPr>
          <p:cNvPr id="41" name="text-209"/>
          <p:cNvSpPr txBox="1"/>
          <p:nvPr/>
        </p:nvSpPr>
        <p:spPr>
          <a:xfrm>
            <a:off x="6510528" y="3447288"/>
            <a:ext cx="2103120" cy="182880"/>
          </a:xfrm>
          <a:prstGeom prst="rect">
            <a:avLst/>
          </a:prstGeom>
          <a:noFill/>
          <a:ln/>
        </p:spPr>
        <p:txBody>
          <a:bodyPr wrap="square" lIns="0" tIns="0" rIns="0" bIns="0" rtlCol="0" anchor="t"/>
          <a:lstStyle/>
          <a:p>
            <a:pPr algn="l" indent="0" marL="0">
              <a:lnSpc>
                <a:spcPct val="105000"/>
              </a:lnSpc>
              <a:buNone/>
            </a:pPr>
            <a:r>
              <a:rPr lang="en-US" sz="950" b="1" i="1" dirty="0">
                <a:solidFill>
                  <a:srgbClr val="B45309"/>
                </a:solidFill>
              </a:rPr>
              <a:t>hələ ölçülməyib</a:t>
            </a:r>
            <a:endParaRPr lang="en-US" sz="950" dirty="0"/>
          </a:p>
        </p:txBody>
      </p:sp>
      <p:sp>
        <p:nvSpPr>
          <p:cNvPr id="42" name="dot-210"/>
          <p:cNvSpPr/>
          <p:nvPr/>
        </p:nvSpPr>
        <p:spPr>
          <a:xfrm>
            <a:off x="5998464" y="3840480"/>
            <a:ext cx="73152" cy="73152"/>
          </a:xfrm>
          <a:prstGeom prst="ellipse">
            <a:avLst/>
          </a:prstGeom>
          <a:solidFill>
            <a:schemeClr val="accent1"/>
          </a:solidFill>
          <a:ln/>
        </p:spPr>
      </p:sp>
      <p:sp>
        <p:nvSpPr>
          <p:cNvPr id="43" name="text-211"/>
          <p:cNvSpPr txBox="1"/>
          <p:nvPr/>
        </p:nvSpPr>
        <p:spPr>
          <a:xfrm>
            <a:off x="6135624" y="3767328"/>
            <a:ext cx="1234440" cy="219456"/>
          </a:xfrm>
          <a:prstGeom prst="rect">
            <a:avLst/>
          </a:prstGeom>
          <a:noFill/>
          <a:ln/>
        </p:spPr>
        <p:txBody>
          <a:bodyPr wrap="square" lIns="0" tIns="0" rIns="0" bIns="0" rtlCol="0" anchor="ctr"/>
          <a:lstStyle/>
          <a:p>
            <a:pPr algn="l" indent="0" marL="0">
              <a:lnSpc>
                <a:spcPct val="105000"/>
              </a:lnSpc>
              <a:buNone/>
            </a:pPr>
            <a:r>
              <a:rPr lang="en-US" sz="1050" dirty="0">
                <a:solidFill>
                  <a:schemeClr val="tx1"/>
                </a:solidFill>
              </a:rPr>
              <a:t>Demo qəbulu</a:t>
            </a:r>
            <a:endParaRPr lang="en-US" sz="1050" dirty="0"/>
          </a:p>
        </p:txBody>
      </p:sp>
      <p:sp>
        <p:nvSpPr>
          <p:cNvPr id="44" name="dot-212"/>
          <p:cNvSpPr/>
          <p:nvPr/>
        </p:nvSpPr>
        <p:spPr>
          <a:xfrm>
            <a:off x="7342632" y="3840480"/>
            <a:ext cx="73152" cy="73152"/>
          </a:xfrm>
          <a:prstGeom prst="ellipse">
            <a:avLst/>
          </a:prstGeom>
          <a:solidFill>
            <a:schemeClr val="accent1"/>
          </a:solidFill>
          <a:ln/>
        </p:spPr>
      </p:sp>
      <p:sp>
        <p:nvSpPr>
          <p:cNvPr id="45" name="text-213"/>
          <p:cNvSpPr txBox="1"/>
          <p:nvPr/>
        </p:nvSpPr>
        <p:spPr>
          <a:xfrm>
            <a:off x="7479792" y="3767328"/>
            <a:ext cx="1234440" cy="219456"/>
          </a:xfrm>
          <a:prstGeom prst="rect">
            <a:avLst/>
          </a:prstGeom>
          <a:noFill/>
          <a:ln/>
        </p:spPr>
        <p:txBody>
          <a:bodyPr wrap="square" lIns="0" tIns="0" rIns="0" bIns="0" rtlCol="0" anchor="ctr"/>
          <a:lstStyle/>
          <a:p>
            <a:pPr algn="l" indent="0" marL="0">
              <a:lnSpc>
                <a:spcPct val="105000"/>
              </a:lnSpc>
              <a:buNone/>
            </a:pPr>
            <a:r>
              <a:rPr lang="en-US" sz="1050" dirty="0">
                <a:solidFill>
                  <a:schemeClr val="tx1"/>
                </a:solidFill>
              </a:rPr>
              <a:t>Test mühitinə keçid</a:t>
            </a:r>
            <a:endParaRPr lang="en-US" sz="1050" dirty="0"/>
          </a:p>
        </p:txBody>
      </p:sp>
      <p:sp>
        <p:nvSpPr>
          <p:cNvPr id="46" name="dot-214"/>
          <p:cNvSpPr/>
          <p:nvPr/>
        </p:nvSpPr>
        <p:spPr>
          <a:xfrm>
            <a:off x="5998464" y="4114800"/>
            <a:ext cx="73152" cy="73152"/>
          </a:xfrm>
          <a:prstGeom prst="ellipse">
            <a:avLst/>
          </a:prstGeom>
          <a:solidFill>
            <a:schemeClr val="accent1"/>
          </a:solidFill>
          <a:ln/>
        </p:spPr>
      </p:sp>
      <p:sp>
        <p:nvSpPr>
          <p:cNvPr id="47" name="text-215"/>
          <p:cNvSpPr txBox="1"/>
          <p:nvPr/>
        </p:nvSpPr>
        <p:spPr>
          <a:xfrm>
            <a:off x="6135624" y="4041648"/>
            <a:ext cx="1234440" cy="219456"/>
          </a:xfrm>
          <a:prstGeom prst="rect">
            <a:avLst/>
          </a:prstGeom>
          <a:noFill/>
          <a:ln/>
        </p:spPr>
        <p:txBody>
          <a:bodyPr wrap="square" lIns="0" tIns="0" rIns="0" bIns="0" rtlCol="0" anchor="ctr"/>
          <a:lstStyle/>
          <a:p>
            <a:pPr algn="l" indent="0" marL="0">
              <a:lnSpc>
                <a:spcPct val="105000"/>
              </a:lnSpc>
              <a:buNone/>
            </a:pPr>
            <a:r>
              <a:rPr lang="en-US" sz="1050" dirty="0">
                <a:solidFill>
                  <a:schemeClr val="tx1"/>
                </a:solidFill>
              </a:rPr>
              <a:t>Aktiv istifadə</a:t>
            </a:r>
            <a:endParaRPr lang="en-US" sz="1050" dirty="0"/>
          </a:p>
        </p:txBody>
      </p:sp>
      <p:sp>
        <p:nvSpPr>
          <p:cNvPr id="48" name="dot-216"/>
          <p:cNvSpPr/>
          <p:nvPr/>
        </p:nvSpPr>
        <p:spPr>
          <a:xfrm>
            <a:off x="7342632" y="4114800"/>
            <a:ext cx="73152" cy="73152"/>
          </a:xfrm>
          <a:prstGeom prst="ellipse">
            <a:avLst/>
          </a:prstGeom>
          <a:solidFill>
            <a:schemeClr val="accent1"/>
          </a:solidFill>
          <a:ln/>
        </p:spPr>
      </p:sp>
      <p:sp>
        <p:nvSpPr>
          <p:cNvPr id="49" name="text-217"/>
          <p:cNvSpPr txBox="1"/>
          <p:nvPr/>
        </p:nvSpPr>
        <p:spPr>
          <a:xfrm>
            <a:off x="7479792" y="4041648"/>
            <a:ext cx="1234440" cy="219456"/>
          </a:xfrm>
          <a:prstGeom prst="rect">
            <a:avLst/>
          </a:prstGeom>
          <a:noFill/>
          <a:ln/>
        </p:spPr>
        <p:txBody>
          <a:bodyPr wrap="square" lIns="0" tIns="0" rIns="0" bIns="0" rtlCol="0" anchor="ctr"/>
          <a:lstStyle/>
          <a:p>
            <a:pPr algn="l" indent="0" marL="0">
              <a:lnSpc>
                <a:spcPct val="105000"/>
              </a:lnSpc>
              <a:buNone/>
            </a:pPr>
            <a:r>
              <a:rPr lang="en-US" sz="1050" dirty="0">
                <a:solidFill>
                  <a:schemeClr val="tx1"/>
                </a:solidFill>
              </a:rPr>
              <a:t>Pilot razılığı</a:t>
            </a:r>
            <a:endParaRPr lang="en-US" sz="1050" dirty="0"/>
          </a:p>
        </p:txBody>
      </p:sp>
      <p:sp>
        <p:nvSpPr>
          <p:cNvPr id="50" name="dot-218"/>
          <p:cNvSpPr/>
          <p:nvPr/>
        </p:nvSpPr>
        <p:spPr>
          <a:xfrm>
            <a:off x="5998464" y="4389120"/>
            <a:ext cx="73152" cy="73152"/>
          </a:xfrm>
          <a:prstGeom prst="ellipse">
            <a:avLst/>
          </a:prstGeom>
          <a:solidFill>
            <a:schemeClr val="accent1"/>
          </a:solidFill>
          <a:ln/>
        </p:spPr>
      </p:sp>
      <p:sp>
        <p:nvSpPr>
          <p:cNvPr id="51" name="text-219"/>
          <p:cNvSpPr txBox="1"/>
          <p:nvPr/>
        </p:nvSpPr>
        <p:spPr>
          <a:xfrm>
            <a:off x="6135624" y="4315968"/>
            <a:ext cx="1234440" cy="219456"/>
          </a:xfrm>
          <a:prstGeom prst="rect">
            <a:avLst/>
          </a:prstGeom>
          <a:noFill/>
          <a:ln/>
        </p:spPr>
        <p:txBody>
          <a:bodyPr wrap="square" lIns="0" tIns="0" rIns="0" bIns="0" rtlCol="0" anchor="ctr"/>
          <a:lstStyle/>
          <a:p>
            <a:pPr algn="l" indent="0" marL="0">
              <a:lnSpc>
                <a:spcPct val="105000"/>
              </a:lnSpc>
              <a:buNone/>
            </a:pPr>
            <a:r>
              <a:rPr lang="en-US" sz="1050" dirty="0">
                <a:solidFill>
                  <a:schemeClr val="tx1"/>
                </a:solidFill>
              </a:rPr>
              <a:t>Büdcə hazırlıq vaxtı</a:t>
            </a:r>
            <a:endParaRPr lang="en-US" sz="1050" dirty="0"/>
          </a:p>
        </p:txBody>
      </p:sp>
      <p:sp>
        <p:nvSpPr>
          <p:cNvPr id="52" name="dot-220"/>
          <p:cNvSpPr/>
          <p:nvPr/>
        </p:nvSpPr>
        <p:spPr>
          <a:xfrm>
            <a:off x="7342632" y="4389120"/>
            <a:ext cx="73152" cy="73152"/>
          </a:xfrm>
          <a:prstGeom prst="ellipse">
            <a:avLst/>
          </a:prstGeom>
          <a:solidFill>
            <a:schemeClr val="accent1"/>
          </a:solidFill>
          <a:ln/>
        </p:spPr>
      </p:sp>
      <p:sp>
        <p:nvSpPr>
          <p:cNvPr id="53" name="text-221"/>
          <p:cNvSpPr txBox="1"/>
          <p:nvPr/>
        </p:nvSpPr>
        <p:spPr>
          <a:xfrm>
            <a:off x="7479792" y="4315968"/>
            <a:ext cx="1234440" cy="219456"/>
          </a:xfrm>
          <a:prstGeom prst="rect">
            <a:avLst/>
          </a:prstGeom>
          <a:noFill/>
          <a:ln/>
        </p:spPr>
        <p:txBody>
          <a:bodyPr wrap="square" lIns="0" tIns="0" rIns="0" bIns="0" rtlCol="0" anchor="ctr"/>
          <a:lstStyle/>
          <a:p>
            <a:pPr algn="l" indent="0" marL="0">
              <a:lnSpc>
                <a:spcPct val="105000"/>
              </a:lnSpc>
              <a:buNone/>
            </a:pPr>
            <a:r>
              <a:rPr lang="en-US" sz="1050" dirty="0">
                <a:solidFill>
                  <a:schemeClr val="tx1"/>
                </a:solidFill>
              </a:rPr>
              <a:t>Ödəməyə hazırlıq</a:t>
            </a:r>
            <a:endParaRPr lang="en-US" sz="1050" dirty="0"/>
          </a:p>
        </p:txBody>
      </p:sp>
      <p:sp>
        <p:nvSpPr>
          <p:cNvPr id="25" name="Slide Number Placeholder 0"/>
          <p:cNvSpPr>
            <a:spLocks noGrp="1"/>
          </p:cNvSpPr>
          <p:nvPr>
            <p:ph type="sldNum" sz="quarter" idx="4294967295"/>
          </p:nvPr>
        </p:nvSpPr>
        <p:spPr>
          <a:xfrm>
            <a:off x="8321040" y="481888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logo" descr="FinBridge loqosu">    </p:cNvPr>
          <p:cNvPicPr>
            <a:picLocks noChangeAspect="1"/>
          </p:cNvPicPr>
          <p:nvPr/>
        </p:nvPicPr>
        <p:blipFill>
          <a:blip r:embed="rId1"/>
          <a:stretch>
            <a:fillRect/>
          </a:stretch>
        </p:blipFill>
        <p:spPr>
          <a:xfrm>
            <a:off x="548640" y="1188720"/>
            <a:ext cx="502920" cy="502920"/>
          </a:xfrm>
          <a:prstGeom prst="rect">
            <a:avLst/>
          </a:prstGeom>
        </p:spPr>
      </p:pic>
      <p:sp>
        <p:nvSpPr>
          <p:cNvPr id="3" name="Text 7"/>
          <p:cNvSpPr/>
          <p:nvPr>
            <p:ph idx="107" type="title" hasCustomPrompt="1"/>
          </p:nvPr>
        </p:nvSpPr>
        <p:spPr>
          <a:xfrm>
            <a:off x="548640" y="1783080"/>
            <a:ext cx="4754880" cy="868680"/>
          </a:xfrm>
          <a:prstGeom prst="rect">
            <a:avLst/>
          </a:prstGeom>
          <a:noFill/>
          <a:ln/>
        </p:spPr>
        <p:txBody>
          <a:bodyPr wrap="square" lIns="0" tIns="0" rIns="0" bIns="0" rtlCol="0" anchor="ctr"/>
          <a:lstStyle/>
          <a:p>
            <a:pPr algn="l" indent="0" marL="0">
              <a:buNone/>
            </a:pPr>
            <a:r>
              <a:rPr lang="en-US" sz="5000" b="1" dirty="0">
                <a:solidFill>
                  <a:schemeClr val="bg1"/>
                </a:solidFill>
                <a:latin typeface="Cambria" pitchFamily="34" charset="0"/>
                <a:ea typeface="Cambria" pitchFamily="34" charset="-122"/>
                <a:cs typeface="Cambria" pitchFamily="34" charset="-120"/>
              </a:rPr>
              <a:t>FinBridge</a:t>
            </a:r>
            <a:endParaRPr lang="en-US" sz="5000" dirty="0"/>
          </a:p>
        </p:txBody>
      </p:sp>
      <p:sp>
        <p:nvSpPr>
          <p:cNvPr id="4" name="Text 7"/>
          <p:cNvSpPr/>
          <p:nvPr>
            <p:ph idx="108" type="body" hasCustomPrompt="1"/>
          </p:nvPr>
        </p:nvSpPr>
        <p:spPr>
          <a:xfrm>
            <a:off x="548640" y="2697480"/>
            <a:ext cx="4572000" cy="777240"/>
          </a:xfrm>
          <a:prstGeom prst="rect">
            <a:avLst/>
          </a:prstGeom>
          <a:noFill/>
          <a:ln/>
        </p:spPr>
        <p:txBody>
          <a:bodyPr wrap="square" lIns="0" tIns="0" rIns="0" bIns="0" rtlCol="0" anchor="t"/>
          <a:lstStyle/>
          <a:p>
            <a:pPr algn="l" indent="0" marL="0">
              <a:buNone/>
            </a:pPr>
            <a:r>
              <a:rPr lang="en-US" sz="2000" dirty="0">
                <a:solidFill>
                  <a:srgbClr val="CBD5E1"/>
                </a:solidFill>
                <a:latin typeface="Calibri" pitchFamily="34" charset="0"/>
                <a:ea typeface="Calibri" pitchFamily="34" charset="-122"/>
                <a:cs typeface="Calibri" pitchFamily="34" charset="-120"/>
              </a:rPr>
              <a:t>Büdcəni dağınıq fayllardan vahid, izlənən prosesə keçiririk.</a:t>
            </a:r>
            <a:endParaRPr lang="en-US" sz="2000" dirty="0"/>
          </a:p>
        </p:txBody>
      </p:sp>
      <p:sp>
        <p:nvSpPr>
          <p:cNvPr id="5" name="text-222"/>
          <p:cNvSpPr txBox="1"/>
          <p:nvPr/>
        </p:nvSpPr>
        <p:spPr>
          <a:xfrm>
            <a:off x="548640" y="3474720"/>
            <a:ext cx="4663440" cy="256032"/>
          </a:xfrm>
          <a:prstGeom prst="rect">
            <a:avLst/>
          </a:prstGeom>
          <a:noFill/>
          <a:ln/>
        </p:spPr>
        <p:txBody>
          <a:bodyPr wrap="square" lIns="0" tIns="0" rIns="0" bIns="0" rtlCol="0" anchor="t"/>
          <a:lstStyle/>
          <a:p>
            <a:pPr algn="l" indent="0" marL="0">
              <a:lnSpc>
                <a:spcPct val="105000"/>
              </a:lnSpc>
              <a:buNone/>
            </a:pPr>
            <a:r>
              <a:rPr lang="en-US" sz="1250" dirty="0">
                <a:solidFill>
                  <a:schemeClr val="accent5"/>
                </a:solidFill>
              </a:rPr>
              <a:t>Vizyon: yerli şirkətlər üçün əsas büdcə platforması</a:t>
            </a:r>
            <a:endParaRPr lang="en-US" sz="1250" dirty="0"/>
          </a:p>
        </p:txBody>
      </p:sp>
      <p:sp>
        <p:nvSpPr>
          <p:cNvPr id="6" name="next-steps-223"/>
          <p:cNvSpPr/>
          <p:nvPr/>
        </p:nvSpPr>
        <p:spPr>
          <a:xfrm>
            <a:off x="5532120" y="914400"/>
            <a:ext cx="3108960" cy="3154680"/>
          </a:xfrm>
          <a:prstGeom prst="roundRect">
            <a:avLst>
              <a:gd name="adj" fmla="val 2941"/>
            </a:avLst>
          </a:prstGeom>
          <a:solidFill>
            <a:schemeClr val="bg1"/>
          </a:solidFill>
          <a:ln/>
          <a:effectLst>
            <a:outerShdw sx="100000" sy="100000" kx="0" ky="0" algn="bl" rotWithShape="0" blurRad="127000" dist="25400" dir="5400000">
              <a:srgbClr val="0B1F3A">
                <a:alpha val="8000"/>
              </a:srgbClr>
            </a:outerShdw>
          </a:effectLst>
        </p:spPr>
      </p:sp>
      <p:sp>
        <p:nvSpPr>
          <p:cNvPr id="7" name="text-224"/>
          <p:cNvSpPr txBox="1"/>
          <p:nvPr/>
        </p:nvSpPr>
        <p:spPr>
          <a:xfrm>
            <a:off x="5779008" y="1097280"/>
            <a:ext cx="2651760" cy="292608"/>
          </a:xfrm>
          <a:prstGeom prst="rect">
            <a:avLst/>
          </a:prstGeom>
          <a:noFill/>
          <a:ln/>
        </p:spPr>
        <p:txBody>
          <a:bodyPr wrap="square" lIns="0" tIns="0" rIns="0" bIns="0" rtlCol="0" anchor="ctr"/>
          <a:lstStyle/>
          <a:p>
            <a:pPr algn="l" indent="0" marL="0">
              <a:lnSpc>
                <a:spcPct val="105000"/>
              </a:lnSpc>
              <a:buNone/>
            </a:pPr>
            <a:r>
              <a:rPr lang="en-US" sz="1500" b="1" dirty="0">
                <a:solidFill>
                  <a:schemeClr val="tx1"/>
                </a:solidFill>
                <a:latin typeface="Cambria" pitchFamily="34" charset="0"/>
                <a:ea typeface="Cambria" pitchFamily="34" charset="-122"/>
                <a:cs typeface="Cambria" pitchFamily="34" charset="-120"/>
              </a:rPr>
              <a:t>Növbəti addımlar</a:t>
            </a:r>
            <a:endParaRPr lang="en-US" sz="1500" dirty="0"/>
          </a:p>
        </p:txBody>
      </p:sp>
      <p:sp>
        <p:nvSpPr>
          <p:cNvPr id="8" name="num-225"/>
          <p:cNvSpPr/>
          <p:nvPr/>
        </p:nvSpPr>
        <p:spPr>
          <a:xfrm>
            <a:off x="5779008" y="1572768"/>
            <a:ext cx="292608" cy="292608"/>
          </a:xfrm>
          <a:prstGeom prst="ellipse">
            <a:avLst/>
          </a:prstGeom>
          <a:solidFill>
            <a:schemeClr val="accent1"/>
          </a:solidFill>
          <a:ln/>
        </p:spPr>
      </p:sp>
      <p:sp>
        <p:nvSpPr>
          <p:cNvPr id="9" name="num-text-226"/>
          <p:cNvSpPr txBox="1"/>
          <p:nvPr/>
        </p:nvSpPr>
        <p:spPr>
          <a:xfrm>
            <a:off x="5779008" y="1572768"/>
            <a:ext cx="292608" cy="292608"/>
          </a:xfrm>
          <a:prstGeom prst="rect">
            <a:avLst/>
          </a:prstGeom>
          <a:noFill/>
          <a:ln/>
        </p:spPr>
        <p:txBody>
          <a:bodyPr wrap="square" lIns="0" tIns="0" rIns="0" bIns="0" rtlCol="0" anchor="ctr"/>
          <a:lstStyle/>
          <a:p>
            <a:pPr algn="ctr" indent="0" marL="0">
              <a:lnSpc>
                <a:spcPct val="105000"/>
              </a:lnSpc>
              <a:buNone/>
            </a:pPr>
            <a:r>
              <a:rPr lang="en-US" sz="1200" b="1" dirty="0">
                <a:solidFill>
                  <a:schemeClr val="bg1"/>
                </a:solidFill>
              </a:rPr>
              <a:t>1</a:t>
            </a:r>
            <a:endParaRPr lang="en-US" sz="1200" dirty="0"/>
          </a:p>
        </p:txBody>
      </p:sp>
      <p:sp>
        <p:nvSpPr>
          <p:cNvPr id="10" name="text-227"/>
          <p:cNvSpPr txBox="1"/>
          <p:nvPr/>
        </p:nvSpPr>
        <p:spPr>
          <a:xfrm>
            <a:off x="6199632" y="1536192"/>
            <a:ext cx="2331720" cy="365760"/>
          </a:xfrm>
          <a:prstGeom prst="rect">
            <a:avLst/>
          </a:prstGeom>
          <a:noFill/>
          <a:ln/>
        </p:spPr>
        <p:txBody>
          <a:bodyPr wrap="square" lIns="0" tIns="0" rIns="0" bIns="0" rtlCol="0" anchor="ctr"/>
          <a:lstStyle/>
          <a:p>
            <a:pPr algn="l" indent="0" marL="0">
              <a:lnSpc>
                <a:spcPct val="105000"/>
              </a:lnSpc>
              <a:buNone/>
            </a:pPr>
            <a:r>
              <a:rPr lang="en-US" sz="1250" dirty="0">
                <a:solidFill>
                  <a:schemeClr val="tx1"/>
                </a:solidFill>
              </a:rPr>
              <a:t>6 şirkətə demo və test mühiti</a:t>
            </a:r>
            <a:endParaRPr lang="en-US" sz="1250" dirty="0"/>
          </a:p>
        </p:txBody>
      </p:sp>
      <p:sp>
        <p:nvSpPr>
          <p:cNvPr id="11" name="num-228"/>
          <p:cNvSpPr/>
          <p:nvPr/>
        </p:nvSpPr>
        <p:spPr>
          <a:xfrm>
            <a:off x="5779008" y="2048256"/>
            <a:ext cx="292608" cy="292608"/>
          </a:xfrm>
          <a:prstGeom prst="ellipse">
            <a:avLst/>
          </a:prstGeom>
          <a:solidFill>
            <a:schemeClr val="accent1"/>
          </a:solidFill>
          <a:ln/>
        </p:spPr>
      </p:sp>
      <p:sp>
        <p:nvSpPr>
          <p:cNvPr id="12" name="num-text-229"/>
          <p:cNvSpPr txBox="1"/>
          <p:nvPr/>
        </p:nvSpPr>
        <p:spPr>
          <a:xfrm>
            <a:off x="5779008" y="2048256"/>
            <a:ext cx="292608" cy="292608"/>
          </a:xfrm>
          <a:prstGeom prst="rect">
            <a:avLst/>
          </a:prstGeom>
          <a:noFill/>
          <a:ln/>
        </p:spPr>
        <p:txBody>
          <a:bodyPr wrap="square" lIns="0" tIns="0" rIns="0" bIns="0" rtlCol="0" anchor="ctr"/>
          <a:lstStyle/>
          <a:p>
            <a:pPr algn="ctr" indent="0" marL="0">
              <a:lnSpc>
                <a:spcPct val="105000"/>
              </a:lnSpc>
              <a:buNone/>
            </a:pPr>
            <a:r>
              <a:rPr lang="en-US" sz="1200" b="1" dirty="0">
                <a:solidFill>
                  <a:schemeClr val="bg1"/>
                </a:solidFill>
              </a:rPr>
              <a:t>2</a:t>
            </a:r>
            <a:endParaRPr lang="en-US" sz="1200" dirty="0"/>
          </a:p>
        </p:txBody>
      </p:sp>
      <p:sp>
        <p:nvSpPr>
          <p:cNvPr id="13" name="text-230"/>
          <p:cNvSpPr txBox="1"/>
          <p:nvPr/>
        </p:nvSpPr>
        <p:spPr>
          <a:xfrm>
            <a:off x="6199632" y="2011680"/>
            <a:ext cx="2331720" cy="365760"/>
          </a:xfrm>
          <a:prstGeom prst="rect">
            <a:avLst/>
          </a:prstGeom>
          <a:noFill/>
          <a:ln/>
        </p:spPr>
        <p:txBody>
          <a:bodyPr wrap="square" lIns="0" tIns="0" rIns="0" bIns="0" rtlCol="0" anchor="ctr"/>
          <a:lstStyle/>
          <a:p>
            <a:pPr algn="l" indent="0" marL="0">
              <a:lnSpc>
                <a:spcPct val="105000"/>
              </a:lnSpc>
              <a:buNone/>
            </a:pPr>
            <a:r>
              <a:rPr lang="en-US" sz="1250" dirty="0">
                <a:solidFill>
                  <a:schemeClr val="tx1"/>
                </a:solidFill>
              </a:rPr>
              <a:t>2027 büdcə dövründə ilk pilot</a:t>
            </a:r>
            <a:endParaRPr lang="en-US" sz="1250" dirty="0"/>
          </a:p>
        </p:txBody>
      </p:sp>
      <p:sp>
        <p:nvSpPr>
          <p:cNvPr id="14" name="num-231"/>
          <p:cNvSpPr/>
          <p:nvPr/>
        </p:nvSpPr>
        <p:spPr>
          <a:xfrm>
            <a:off x="5779008" y="2523744"/>
            <a:ext cx="292608" cy="292608"/>
          </a:xfrm>
          <a:prstGeom prst="ellipse">
            <a:avLst/>
          </a:prstGeom>
          <a:solidFill>
            <a:schemeClr val="accent1"/>
          </a:solidFill>
          <a:ln/>
        </p:spPr>
      </p:sp>
      <p:sp>
        <p:nvSpPr>
          <p:cNvPr id="15" name="num-text-232"/>
          <p:cNvSpPr txBox="1"/>
          <p:nvPr/>
        </p:nvSpPr>
        <p:spPr>
          <a:xfrm>
            <a:off x="5779008" y="2523744"/>
            <a:ext cx="292608" cy="292608"/>
          </a:xfrm>
          <a:prstGeom prst="rect">
            <a:avLst/>
          </a:prstGeom>
          <a:noFill/>
          <a:ln/>
        </p:spPr>
        <p:txBody>
          <a:bodyPr wrap="square" lIns="0" tIns="0" rIns="0" bIns="0" rtlCol="0" anchor="ctr"/>
          <a:lstStyle/>
          <a:p>
            <a:pPr algn="ctr" indent="0" marL="0">
              <a:lnSpc>
                <a:spcPct val="105000"/>
              </a:lnSpc>
              <a:buNone/>
            </a:pPr>
            <a:r>
              <a:rPr lang="en-US" sz="1200" b="1" dirty="0">
                <a:solidFill>
                  <a:schemeClr val="bg1"/>
                </a:solidFill>
              </a:rPr>
              <a:t>3</a:t>
            </a:r>
            <a:endParaRPr lang="en-US" sz="1200" dirty="0"/>
          </a:p>
        </p:txBody>
      </p:sp>
      <p:sp>
        <p:nvSpPr>
          <p:cNvPr id="16" name="text-233"/>
          <p:cNvSpPr txBox="1"/>
          <p:nvPr/>
        </p:nvSpPr>
        <p:spPr>
          <a:xfrm>
            <a:off x="6199632" y="2487168"/>
            <a:ext cx="2331720" cy="365760"/>
          </a:xfrm>
          <a:prstGeom prst="rect">
            <a:avLst/>
          </a:prstGeom>
          <a:noFill/>
          <a:ln/>
        </p:spPr>
        <p:txBody>
          <a:bodyPr wrap="square" lIns="0" tIns="0" rIns="0" bIns="0" rtlCol="0" anchor="ctr"/>
          <a:lstStyle/>
          <a:p>
            <a:pPr algn="l" indent="0" marL="0">
              <a:lnSpc>
                <a:spcPct val="105000"/>
              </a:lnSpc>
              <a:buNone/>
            </a:pPr>
            <a:r>
              <a:rPr lang="en-US" sz="1250" dirty="0">
                <a:solidFill>
                  <a:schemeClr val="tx1"/>
                </a:solidFill>
              </a:rPr>
              <a:t>Pilotda ödəməyə hazırlığı yoxlamaq</a:t>
            </a:r>
            <a:endParaRPr lang="en-US" sz="1250" dirty="0"/>
          </a:p>
        </p:txBody>
      </p:sp>
      <p:sp>
        <p:nvSpPr>
          <p:cNvPr id="17" name="ask-line"/>
          <p:cNvSpPr/>
          <p:nvPr/>
        </p:nvSpPr>
        <p:spPr>
          <a:xfrm>
            <a:off x="5779008" y="3072384"/>
            <a:ext cx="2615184" cy="0"/>
          </a:xfrm>
          <a:prstGeom prst="line">
            <a:avLst/>
          </a:prstGeom>
          <a:noFill/>
          <a:ln w="12700">
            <a:solidFill>
              <a:schemeClr val="accent6"/>
            </a:solidFill>
            <a:prstDash val="solid"/>
          </a:ln>
        </p:spPr>
      </p:sp>
      <p:sp>
        <p:nvSpPr>
          <p:cNvPr id="18" name="text-234"/>
          <p:cNvSpPr txBox="1"/>
          <p:nvPr/>
        </p:nvSpPr>
        <p:spPr>
          <a:xfrm>
            <a:off x="5779008" y="3182112"/>
            <a:ext cx="2651760" cy="201168"/>
          </a:xfrm>
          <a:prstGeom prst="rect">
            <a:avLst/>
          </a:prstGeom>
          <a:noFill/>
          <a:ln/>
        </p:spPr>
        <p:txBody>
          <a:bodyPr wrap="square" lIns="0" tIns="0" rIns="0" bIns="0" rtlCol="0" anchor="t"/>
          <a:lstStyle/>
          <a:p>
            <a:pPr algn="l" indent="0" marL="0">
              <a:lnSpc>
                <a:spcPct val="105000"/>
              </a:lnSpc>
              <a:buNone/>
            </a:pPr>
            <a:r>
              <a:rPr lang="en-US" sz="1000" b="1" spc="100" kern="0" dirty="0">
                <a:solidFill>
                  <a:schemeClr val="accent2"/>
                </a:solidFill>
              </a:rPr>
              <a:t>JÜRİDƏN XAHİŞİMİZ</a:t>
            </a:r>
            <a:endParaRPr lang="en-US" sz="1000" dirty="0"/>
          </a:p>
        </p:txBody>
      </p:sp>
      <p:sp>
        <p:nvSpPr>
          <p:cNvPr id="19" name="text-235"/>
          <p:cNvSpPr txBox="1"/>
          <p:nvPr/>
        </p:nvSpPr>
        <p:spPr>
          <a:xfrm>
            <a:off x="5779008" y="3419856"/>
            <a:ext cx="2651760" cy="548640"/>
          </a:xfrm>
          <a:prstGeom prst="rect">
            <a:avLst/>
          </a:prstGeom>
          <a:noFill/>
          <a:ln/>
        </p:spPr>
        <p:txBody>
          <a:bodyPr wrap="square" lIns="0" tIns="0" rIns="0" bIns="0" rtlCol="0" anchor="t"/>
          <a:lstStyle/>
          <a:p>
            <a:pPr algn="l" indent="0" marL="0">
              <a:lnSpc>
                <a:spcPct val="105000"/>
              </a:lnSpc>
              <a:buNone/>
            </a:pPr>
            <a:r>
              <a:rPr lang="en-US" sz="1250" b="1" dirty="0">
                <a:solidFill>
                  <a:schemeClr val="tx1"/>
                </a:solidFill>
              </a:rPr>
              <a:t>Pilot üçün maliyyə rəhbərləri ilə tanışlıq və mentor dəstəyi</a:t>
            </a:r>
            <a:endParaRPr lang="en-US" sz="1250" dirty="0"/>
          </a:p>
        </p:txBody>
      </p:sp>
      <p:sp>
        <p:nvSpPr>
          <p:cNvPr id="20" name="text-236"/>
          <p:cNvSpPr txBox="1"/>
          <p:nvPr/>
        </p:nvSpPr>
        <p:spPr>
          <a:xfrm>
            <a:off x="548640" y="3767328"/>
            <a:ext cx="3657600" cy="292608"/>
          </a:xfrm>
          <a:prstGeom prst="rect">
            <a:avLst/>
          </a:prstGeom>
          <a:noFill/>
          <a:ln/>
        </p:spPr>
        <p:txBody>
          <a:bodyPr wrap="square" lIns="0" tIns="0" rIns="0" bIns="0" rtlCol="0" anchor="t"/>
          <a:lstStyle/>
          <a:p>
            <a:pPr algn="l" indent="0" marL="0">
              <a:lnSpc>
                <a:spcPct val="105000"/>
              </a:lnSpc>
              <a:buNone/>
            </a:pPr>
            <a:r>
              <a:rPr lang="en-US" sz="1500" b="1" dirty="0">
                <a:solidFill>
                  <a:schemeClr val="bg1"/>
                </a:solidFill>
                <a:latin typeface="Cambria" pitchFamily="34" charset="0"/>
                <a:ea typeface="Cambria" pitchFamily="34" charset="-122"/>
                <a:cs typeface="Cambria" pitchFamily="34" charset="-120"/>
              </a:rPr>
              <a:t>Təşəkkür edirik!</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237"/>
          <p:cNvSpPr txBox="1"/>
          <p:nvPr/>
        </p:nvSpPr>
        <p:spPr>
          <a:xfrm>
            <a:off x="457200" y="128016"/>
            <a:ext cx="6858000" cy="201168"/>
          </a:xfrm>
          <a:prstGeom prst="rect">
            <a:avLst/>
          </a:prstGeom>
          <a:noFill/>
          <a:ln/>
        </p:spPr>
        <p:txBody>
          <a:bodyPr wrap="square" lIns="0" tIns="0" rIns="0" bIns="0" rtlCol="0" anchor="t"/>
          <a:lstStyle/>
          <a:p>
            <a:pPr algn="l" indent="0" marL="0">
              <a:lnSpc>
                <a:spcPct val="105000"/>
              </a:lnSpc>
              <a:buNone/>
            </a:pPr>
            <a:r>
              <a:rPr lang="en-US" sz="1000" b="1" spc="150" kern="0" dirty="0">
                <a:solidFill>
                  <a:schemeClr val="accent4"/>
                </a:solidFill>
              </a:rPr>
              <a:t>ƏLAVƏ · SUALLAR ÜÇÜN</a:t>
            </a:r>
            <a:endParaRPr lang="en-US" sz="1000" dirty="0"/>
          </a:p>
        </p:txBody>
      </p:sp>
      <p:sp>
        <p:nvSpPr>
          <p:cNvPr id="3" name="Text 5"/>
          <p:cNvSpPr/>
          <p:nvPr>
            <p:ph idx="105" type="title" hasCustomPrompt="1"/>
          </p:nvPr>
        </p:nvSpPr>
        <p:spPr>
          <a:xfrm>
            <a:off x="457200" y="329184"/>
            <a:ext cx="7498080" cy="621792"/>
          </a:xfrm>
          <a:prstGeom prst="rect">
            <a:avLst/>
          </a:prstGeom>
          <a:noFill/>
          <a:ln/>
        </p:spPr>
        <p:txBody>
          <a:bodyPr wrap="square" lIns="0" tIns="0" rIns="0" bIns="0" rtlCol="0" anchor="ctr"/>
          <a:lstStyle/>
          <a:p>
            <a:pPr algn="l" indent="0" marL="0">
              <a:buNone/>
            </a:pPr>
            <a:r>
              <a:rPr lang="en-US" sz="2700" b="1" dirty="0">
                <a:solidFill>
                  <a:srgbClr val="0B1F3A"/>
                </a:solidFill>
                <a:latin typeface="Cambria" pitchFamily="34" charset="0"/>
                <a:ea typeface="Cambria" pitchFamily="34" charset="-122"/>
                <a:cs typeface="Cambria" pitchFamily="34" charset="-120"/>
              </a:rPr>
              <a:t>Planlama cədvəli: departament üzrə rəqəmlər</a:t>
            </a:r>
            <a:endParaRPr lang="en-US" sz="2700" dirty="0"/>
          </a:p>
        </p:txBody>
      </p:sp>
      <p:sp>
        <p:nvSpPr>
          <p:cNvPr id="4" name="shot-frame-238"/>
          <p:cNvSpPr/>
          <p:nvPr/>
        </p:nvSpPr>
        <p:spPr>
          <a:xfrm>
            <a:off x="457200" y="1133856"/>
            <a:ext cx="8229600" cy="3437544"/>
          </a:xfrm>
          <a:prstGeom prst="roundRect">
            <a:avLst>
              <a:gd name="adj" fmla="val 2128"/>
            </a:avLst>
          </a:prstGeom>
          <a:solidFill>
            <a:schemeClr val="bg1"/>
          </a:solidFill>
          <a:ln/>
          <a:effectLst>
            <a:outerShdw sx="100000" sy="100000" kx="0" ky="0" algn="bl" rotWithShape="0" blurRad="127000" dist="25400" dir="5400000">
              <a:srgbClr val="0B1F3A">
                <a:alpha val="8000"/>
              </a:srgbClr>
            </a:outerShdw>
          </a:effectLst>
        </p:spPr>
      </p:sp>
      <p:pic>
        <p:nvPicPr>
          <p:cNvPr id="5" name="screenshot-239" descr="Planlama cədvəli: 2025 büdcə və fakt, 2026 ilkin və yekun büdcə, 9 ay fakt və proqnoz, 2027 plan və fərqlər">    </p:cNvPr>
          <p:cNvPicPr>
            <a:picLocks noChangeAspect="1"/>
          </p:cNvPicPr>
          <p:nvPr/>
        </p:nvPicPr>
        <p:blipFill>
          <a:blip r:embed="rId1"/>
          <a:stretch>
            <a:fillRect/>
          </a:stretch>
        </p:blipFill>
        <p:spPr>
          <a:xfrm>
            <a:off x="512064" y="1188720"/>
            <a:ext cx="8119872" cy="3327816"/>
          </a:xfrm>
          <a:prstGeom prst="rect">
            <a:avLst/>
          </a:prstGeom>
        </p:spPr>
      </p:pic>
      <p:sp>
        <p:nvSpPr>
          <p:cNvPr id="6" name="chip-240"/>
          <p:cNvSpPr/>
          <p:nvPr/>
        </p:nvSpPr>
        <p:spPr>
          <a:xfrm>
            <a:off x="512064" y="4572000"/>
            <a:ext cx="2514600" cy="237744"/>
          </a:xfrm>
          <a:prstGeom prst="roundRect">
            <a:avLst>
              <a:gd name="adj" fmla="val 50000"/>
            </a:avLst>
          </a:prstGeom>
          <a:solidFill>
            <a:schemeClr val="accent4">
              <a:alpha val="15000"/>
            </a:schemeClr>
          </a:solidFill>
          <a:ln/>
        </p:spPr>
      </p:sp>
      <p:sp>
        <p:nvSpPr>
          <p:cNvPr id="7" name="chip-text-241"/>
          <p:cNvSpPr txBox="1"/>
          <p:nvPr/>
        </p:nvSpPr>
        <p:spPr>
          <a:xfrm>
            <a:off x="512064" y="4572000"/>
            <a:ext cx="2514600" cy="237744"/>
          </a:xfrm>
          <a:prstGeom prst="rect">
            <a:avLst/>
          </a:prstGeom>
          <a:noFill/>
          <a:ln/>
        </p:spPr>
        <p:txBody>
          <a:bodyPr wrap="square" lIns="0" tIns="0" rIns="0" bIns="0" rtlCol="0" anchor="ctr"/>
          <a:lstStyle/>
          <a:p>
            <a:pPr algn="ctr" indent="0" marL="0">
              <a:lnSpc>
                <a:spcPct val="105000"/>
              </a:lnSpc>
              <a:buNone/>
            </a:pPr>
            <a:r>
              <a:rPr lang="en-US" sz="950" b="1" dirty="0">
                <a:solidFill>
                  <a:schemeClr val="tx2"/>
                </a:solidFill>
              </a:rPr>
              <a:t>Real MVP ekranı · demo məlumatlar</a:t>
            </a:r>
            <a:endParaRPr lang="en-US" sz="950" dirty="0"/>
          </a:p>
        </p:txBody>
      </p:sp>
      <p:sp>
        <p:nvSpPr>
          <p:cNvPr id="8" name="text-242"/>
          <p:cNvSpPr txBox="1"/>
          <p:nvPr/>
        </p:nvSpPr>
        <p:spPr>
          <a:xfrm>
            <a:off x="3200400" y="4572000"/>
            <a:ext cx="5029200" cy="237744"/>
          </a:xfrm>
          <a:prstGeom prst="rect">
            <a:avLst/>
          </a:prstGeom>
          <a:noFill/>
          <a:ln/>
        </p:spPr>
        <p:txBody>
          <a:bodyPr wrap="square" lIns="0" tIns="0" rIns="0" bIns="0" rtlCol="0" anchor="ctr"/>
          <a:lstStyle/>
          <a:p>
            <a:pPr algn="l" indent="0" marL="0">
              <a:lnSpc>
                <a:spcPct val="105000"/>
              </a:lnSpc>
              <a:buNone/>
            </a:pPr>
            <a:r>
              <a:rPr lang="en-US" sz="1050" i="1" dirty="0">
                <a:solidFill>
                  <a:schemeClr val="accent4"/>
                </a:solidFill>
              </a:rPr>
              <a:t>Hər sətirdən xərc mərkəzinə və hesaba qədər açmaq olur</a:t>
            </a:r>
            <a:endParaRPr lang="en-US" sz="1050" dirty="0"/>
          </a:p>
        </p:txBody>
      </p:sp>
      <p:sp>
        <p:nvSpPr>
          <p:cNvPr id="25" name="Slide Number Placeholder 0"/>
          <p:cNvSpPr>
            <a:spLocks noGrp="1"/>
          </p:cNvSpPr>
          <p:nvPr>
            <p:ph type="sldNum" sz="quarter" idx="4294967295"/>
          </p:nvPr>
        </p:nvSpPr>
        <p:spPr>
          <a:xfrm>
            <a:off x="8321040" y="481888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er-243"/>
          <p:cNvSpPr txBox="1"/>
          <p:nvPr/>
        </p:nvSpPr>
        <p:spPr>
          <a:xfrm>
            <a:off x="457200" y="128016"/>
            <a:ext cx="6858000" cy="201168"/>
          </a:xfrm>
          <a:prstGeom prst="rect">
            <a:avLst/>
          </a:prstGeom>
          <a:noFill/>
          <a:ln/>
        </p:spPr>
        <p:txBody>
          <a:bodyPr wrap="square" lIns="0" tIns="0" rIns="0" bIns="0" rtlCol="0" anchor="t"/>
          <a:lstStyle/>
          <a:p>
            <a:pPr algn="l" indent="0" marL="0">
              <a:lnSpc>
                <a:spcPct val="105000"/>
              </a:lnSpc>
              <a:buNone/>
            </a:pPr>
            <a:r>
              <a:rPr lang="en-US" sz="1000" b="1" spc="150" kern="0" dirty="0">
                <a:solidFill>
                  <a:schemeClr val="accent4"/>
                </a:solidFill>
              </a:rPr>
              <a:t>ƏLAVƏ · SUALLAR ÜÇÜN</a:t>
            </a:r>
            <a:endParaRPr lang="en-US" sz="1000" dirty="0"/>
          </a:p>
        </p:txBody>
      </p:sp>
      <p:sp>
        <p:nvSpPr>
          <p:cNvPr id="3" name="Text 5"/>
          <p:cNvSpPr/>
          <p:nvPr>
            <p:ph idx="105" type="title" hasCustomPrompt="1"/>
          </p:nvPr>
        </p:nvSpPr>
        <p:spPr>
          <a:xfrm>
            <a:off x="457200" y="329184"/>
            <a:ext cx="7498080" cy="621792"/>
          </a:xfrm>
          <a:prstGeom prst="rect">
            <a:avLst/>
          </a:prstGeom>
          <a:noFill/>
          <a:ln/>
        </p:spPr>
        <p:txBody>
          <a:bodyPr wrap="square" lIns="0" tIns="0" rIns="0" bIns="0" rtlCol="0" anchor="ctr"/>
          <a:lstStyle/>
          <a:p>
            <a:pPr algn="l" indent="0" marL="0">
              <a:buNone/>
            </a:pPr>
            <a:r>
              <a:rPr lang="en-US" sz="2700" b="1" dirty="0">
                <a:solidFill>
                  <a:srgbClr val="0B1F3A"/>
                </a:solidFill>
                <a:latin typeface="Cambria" pitchFamily="34" charset="0"/>
                <a:ea typeface="Cambria" pitchFamily="34" charset="-122"/>
                <a:cs typeface="Cambria" pitchFamily="34" charset="-120"/>
              </a:rPr>
              <a:t>Təsdiq prosesi: icrada və qurulmada</a:t>
            </a:r>
            <a:endParaRPr lang="en-US" sz="2700" dirty="0"/>
          </a:p>
        </p:txBody>
      </p:sp>
      <p:sp>
        <p:nvSpPr>
          <p:cNvPr id="4" name="text-244"/>
          <p:cNvSpPr txBox="1"/>
          <p:nvPr/>
        </p:nvSpPr>
        <p:spPr>
          <a:xfrm>
            <a:off x="1683379" y="1097280"/>
            <a:ext cx="2054244" cy="256032"/>
          </a:xfrm>
          <a:prstGeom prst="rect">
            <a:avLst/>
          </a:prstGeom>
          <a:noFill/>
          <a:ln/>
        </p:spPr>
        <p:txBody>
          <a:bodyPr wrap="square" lIns="0" tIns="0" rIns="0" bIns="0" rtlCol="0" anchor="t"/>
          <a:lstStyle/>
          <a:p>
            <a:pPr algn="l" indent="0" marL="0">
              <a:lnSpc>
                <a:spcPct val="105000"/>
              </a:lnSpc>
              <a:buNone/>
            </a:pPr>
            <a:r>
              <a:rPr lang="en-US" sz="1250" b="1" dirty="0">
                <a:solidFill>
                  <a:schemeClr val="tx1"/>
                </a:solidFill>
              </a:rPr>
              <a:t>Sorğunun təsdiq gedişi</a:t>
            </a:r>
            <a:endParaRPr lang="en-US" sz="1250" dirty="0"/>
          </a:p>
        </p:txBody>
      </p:sp>
      <p:sp>
        <p:nvSpPr>
          <p:cNvPr id="5" name="text-245"/>
          <p:cNvSpPr txBox="1"/>
          <p:nvPr/>
        </p:nvSpPr>
        <p:spPr>
          <a:xfrm>
            <a:off x="1683379" y="1344168"/>
            <a:ext cx="2054244" cy="219456"/>
          </a:xfrm>
          <a:prstGeom prst="rect">
            <a:avLst/>
          </a:prstGeom>
          <a:noFill/>
          <a:ln/>
        </p:spPr>
        <p:txBody>
          <a:bodyPr wrap="square" lIns="0" tIns="0" rIns="0" bIns="0" rtlCol="0" anchor="t"/>
          <a:lstStyle/>
          <a:p>
            <a:pPr algn="l" indent="0" marL="0">
              <a:lnSpc>
                <a:spcPct val="105000"/>
              </a:lnSpc>
              <a:buNone/>
            </a:pPr>
            <a:r>
              <a:rPr lang="en-US" sz="1050" dirty="0">
                <a:solidFill>
                  <a:schemeClr val="accent4"/>
                </a:solidFill>
              </a:rPr>
              <a:t>status, son tarix, təlimat</a:t>
            </a:r>
            <a:endParaRPr lang="en-US" sz="1050" dirty="0"/>
          </a:p>
        </p:txBody>
      </p:sp>
      <p:sp>
        <p:nvSpPr>
          <p:cNvPr id="6" name="shot-frame-246"/>
          <p:cNvSpPr/>
          <p:nvPr/>
        </p:nvSpPr>
        <p:spPr>
          <a:xfrm>
            <a:off x="1628515" y="1627632"/>
            <a:ext cx="2163972" cy="2990088"/>
          </a:xfrm>
          <a:prstGeom prst="roundRect">
            <a:avLst>
              <a:gd name="adj" fmla="val 3380"/>
            </a:avLst>
          </a:prstGeom>
          <a:solidFill>
            <a:schemeClr val="bg1"/>
          </a:solidFill>
          <a:ln/>
          <a:effectLst>
            <a:outerShdw sx="100000" sy="100000" kx="0" ky="0" algn="bl" rotWithShape="0" blurRad="127000" dist="25400" dir="5400000">
              <a:srgbClr val="0B1F3A">
                <a:alpha val="8000"/>
              </a:srgbClr>
            </a:outerShdw>
          </a:effectLst>
        </p:spPr>
      </p:sp>
      <p:pic>
        <p:nvPicPr>
          <p:cNvPr id="7" name="screenshot-247" descr="Sorğunun təsdiq axını: mərhələlər, statuslar, gecikmə, CFO üçün təlimat">    </p:cNvPr>
          <p:cNvPicPr>
            <a:picLocks noChangeAspect="1"/>
          </p:cNvPicPr>
          <p:nvPr/>
        </p:nvPicPr>
        <p:blipFill>
          <a:blip r:embed="rId1"/>
          <a:stretch>
            <a:fillRect/>
          </a:stretch>
        </p:blipFill>
        <p:spPr>
          <a:xfrm>
            <a:off x="1683379" y="1682496"/>
            <a:ext cx="2054244" cy="2880360"/>
          </a:xfrm>
          <a:prstGeom prst="rect">
            <a:avLst/>
          </a:prstGeom>
        </p:spPr>
      </p:pic>
      <p:sp>
        <p:nvSpPr>
          <p:cNvPr id="8" name="text-248"/>
          <p:cNvSpPr txBox="1"/>
          <p:nvPr/>
        </p:nvSpPr>
        <p:spPr>
          <a:xfrm>
            <a:off x="4057664" y="1097280"/>
            <a:ext cx="3402957" cy="256032"/>
          </a:xfrm>
          <a:prstGeom prst="rect">
            <a:avLst/>
          </a:prstGeom>
          <a:noFill/>
          <a:ln/>
        </p:spPr>
        <p:txBody>
          <a:bodyPr wrap="square" lIns="0" tIns="0" rIns="0" bIns="0" rtlCol="0" anchor="t"/>
          <a:lstStyle/>
          <a:p>
            <a:pPr algn="l" indent="0" marL="0">
              <a:lnSpc>
                <a:spcPct val="105000"/>
              </a:lnSpc>
              <a:buNone/>
            </a:pPr>
            <a:r>
              <a:rPr lang="en-US" sz="1250" b="1" dirty="0">
                <a:solidFill>
                  <a:schemeClr val="tx1"/>
                </a:solidFill>
              </a:rPr>
              <a:t>Mərhələnin davranışı</a:t>
            </a:r>
            <a:endParaRPr lang="en-US" sz="1250" dirty="0"/>
          </a:p>
        </p:txBody>
      </p:sp>
      <p:sp>
        <p:nvSpPr>
          <p:cNvPr id="9" name="text-249"/>
          <p:cNvSpPr txBox="1"/>
          <p:nvPr/>
        </p:nvSpPr>
        <p:spPr>
          <a:xfrm>
            <a:off x="4057664" y="1344168"/>
            <a:ext cx="3402957" cy="219456"/>
          </a:xfrm>
          <a:prstGeom prst="rect">
            <a:avLst/>
          </a:prstGeom>
          <a:noFill/>
          <a:ln/>
        </p:spPr>
        <p:txBody>
          <a:bodyPr wrap="square" lIns="0" tIns="0" rIns="0" bIns="0" rtlCol="0" anchor="t"/>
          <a:lstStyle/>
          <a:p>
            <a:pPr algn="l" indent="0" marL="0">
              <a:lnSpc>
                <a:spcPct val="105000"/>
              </a:lnSpc>
              <a:buNone/>
            </a:pPr>
            <a:r>
              <a:rPr lang="en-US" sz="1050" dirty="0">
                <a:solidFill>
                  <a:schemeClr val="accent4"/>
                </a:solidFill>
              </a:rPr>
              <a:t>komitə, rədd və qaytarma, şərh, təlimat</a:t>
            </a:r>
            <a:endParaRPr lang="en-US" sz="1050" dirty="0"/>
          </a:p>
        </p:txBody>
      </p:sp>
      <p:sp>
        <p:nvSpPr>
          <p:cNvPr id="10" name="shot-frame-250"/>
          <p:cNvSpPr/>
          <p:nvPr/>
        </p:nvSpPr>
        <p:spPr>
          <a:xfrm>
            <a:off x="4002800" y="1627632"/>
            <a:ext cx="3512685" cy="2990088"/>
          </a:xfrm>
          <a:prstGeom prst="roundRect">
            <a:avLst>
              <a:gd name="adj" fmla="val 2446"/>
            </a:avLst>
          </a:prstGeom>
          <a:solidFill>
            <a:schemeClr val="bg1"/>
          </a:solidFill>
          <a:ln/>
          <a:effectLst>
            <a:outerShdw sx="100000" sy="100000" kx="0" ky="0" algn="bl" rotWithShape="0" blurRad="127000" dist="25400" dir="5400000">
              <a:srgbClr val="0B1F3A">
                <a:alpha val="8000"/>
              </a:srgbClr>
            </a:outerShdw>
          </a:effectLst>
        </p:spPr>
      </p:sp>
      <p:pic>
        <p:nvPicPr>
          <p:cNvPr id="11" name="screenshot-251" descr="Təsdiq mərhələsinin davranışı: komitə rejimi, qaytarma, şərh və təlimat">    </p:cNvPr>
          <p:cNvPicPr>
            <a:picLocks noChangeAspect="1"/>
          </p:cNvPicPr>
          <p:nvPr/>
        </p:nvPicPr>
        <p:blipFill>
          <a:blip r:embed="rId2"/>
          <a:stretch>
            <a:fillRect/>
          </a:stretch>
        </p:blipFill>
        <p:spPr>
          <a:xfrm>
            <a:off x="4057664" y="1682496"/>
            <a:ext cx="3402957" cy="2880360"/>
          </a:xfrm>
          <a:prstGeom prst="rect">
            <a:avLst/>
          </a:prstGeom>
        </p:spPr>
      </p:pic>
      <p:sp>
        <p:nvSpPr>
          <p:cNvPr id="12" name="chip-252"/>
          <p:cNvSpPr/>
          <p:nvPr/>
        </p:nvSpPr>
        <p:spPr>
          <a:xfrm>
            <a:off x="1683379" y="4681728"/>
            <a:ext cx="2514600" cy="237744"/>
          </a:xfrm>
          <a:prstGeom prst="roundRect">
            <a:avLst>
              <a:gd name="adj" fmla="val 50000"/>
            </a:avLst>
          </a:prstGeom>
          <a:solidFill>
            <a:schemeClr val="accent4">
              <a:alpha val="15000"/>
            </a:schemeClr>
          </a:solidFill>
          <a:ln/>
        </p:spPr>
      </p:sp>
      <p:sp>
        <p:nvSpPr>
          <p:cNvPr id="13" name="chip-text-253"/>
          <p:cNvSpPr txBox="1"/>
          <p:nvPr/>
        </p:nvSpPr>
        <p:spPr>
          <a:xfrm>
            <a:off x="1683379" y="4681728"/>
            <a:ext cx="2514600" cy="237744"/>
          </a:xfrm>
          <a:prstGeom prst="rect">
            <a:avLst/>
          </a:prstGeom>
          <a:noFill/>
          <a:ln/>
        </p:spPr>
        <p:txBody>
          <a:bodyPr wrap="square" lIns="0" tIns="0" rIns="0" bIns="0" rtlCol="0" anchor="ctr"/>
          <a:lstStyle/>
          <a:p>
            <a:pPr algn="ctr" indent="0" marL="0">
              <a:lnSpc>
                <a:spcPct val="105000"/>
              </a:lnSpc>
              <a:buNone/>
            </a:pPr>
            <a:r>
              <a:rPr lang="en-US" sz="950" b="1" dirty="0">
                <a:solidFill>
                  <a:schemeClr val="tx2"/>
                </a:solidFill>
              </a:rPr>
              <a:t>Real MVP ekranı · demo məlumatlar</a:t>
            </a:r>
            <a:endParaRPr lang="en-US" sz="950" dirty="0"/>
          </a:p>
        </p:txBody>
      </p:sp>
      <p:sp>
        <p:nvSpPr>
          <p:cNvPr id="25" name="Slide Number Placeholder 0"/>
          <p:cNvSpPr>
            <a:spLocks noGrp="1"/>
          </p:cNvSpPr>
          <p:nvPr>
            <p:ph type="sldNum" sz="quarter" idx="4294967295"/>
          </p:nvPr>
        </p:nvSpPr>
        <p:spPr>
          <a:xfrm>
            <a:off x="8321040" y="481888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254"/>
          <p:cNvSpPr txBox="1"/>
          <p:nvPr/>
        </p:nvSpPr>
        <p:spPr>
          <a:xfrm>
            <a:off x="457200" y="128016"/>
            <a:ext cx="6858000" cy="201168"/>
          </a:xfrm>
          <a:prstGeom prst="rect">
            <a:avLst/>
          </a:prstGeom>
          <a:noFill/>
          <a:ln/>
        </p:spPr>
        <p:txBody>
          <a:bodyPr wrap="square" lIns="0" tIns="0" rIns="0" bIns="0" rtlCol="0" anchor="t"/>
          <a:lstStyle/>
          <a:p>
            <a:pPr algn="l" indent="0" marL="0">
              <a:lnSpc>
                <a:spcPct val="105000"/>
              </a:lnSpc>
              <a:buNone/>
            </a:pPr>
            <a:r>
              <a:rPr lang="en-US" sz="1000" b="1" spc="150" kern="0" dirty="0">
                <a:solidFill>
                  <a:schemeClr val="accent4"/>
                </a:solidFill>
              </a:rPr>
              <a:t>ƏLAVƏ · SUALLAR ÜÇÜN</a:t>
            </a:r>
            <a:endParaRPr lang="en-US" sz="1000" dirty="0"/>
          </a:p>
        </p:txBody>
      </p:sp>
      <p:sp>
        <p:nvSpPr>
          <p:cNvPr id="3" name="Text 5"/>
          <p:cNvSpPr/>
          <p:nvPr>
            <p:ph idx="105" type="title" hasCustomPrompt="1"/>
          </p:nvPr>
        </p:nvSpPr>
        <p:spPr>
          <a:xfrm>
            <a:off x="457200" y="329184"/>
            <a:ext cx="7498080" cy="621792"/>
          </a:xfrm>
          <a:prstGeom prst="rect">
            <a:avLst/>
          </a:prstGeom>
          <a:noFill/>
          <a:ln/>
        </p:spPr>
        <p:txBody>
          <a:bodyPr wrap="square" lIns="0" tIns="0" rIns="0" bIns="0" rtlCol="0" anchor="ctr"/>
          <a:lstStyle/>
          <a:p>
            <a:pPr algn="l" indent="0" marL="0">
              <a:buNone/>
            </a:pPr>
            <a:r>
              <a:rPr lang="en-US" sz="2700" b="1" dirty="0">
                <a:solidFill>
                  <a:srgbClr val="0B1F3A"/>
                </a:solidFill>
                <a:latin typeface="Cambria" pitchFamily="34" charset="0"/>
                <a:ea typeface="Cambria" pitchFamily="34" charset="-122"/>
                <a:cs typeface="Cambria" pitchFamily="34" charset="-120"/>
              </a:rPr>
              <a:t>MVP-də daha nə var</a:t>
            </a:r>
            <a:endParaRPr lang="en-US" sz="2700" dirty="0"/>
          </a:p>
        </p:txBody>
      </p:sp>
      <p:sp>
        <p:nvSpPr>
          <p:cNvPr id="4" name="text-255"/>
          <p:cNvSpPr txBox="1"/>
          <p:nvPr/>
        </p:nvSpPr>
        <p:spPr>
          <a:xfrm>
            <a:off x="512064" y="1143000"/>
            <a:ext cx="3931920" cy="256032"/>
          </a:xfrm>
          <a:prstGeom prst="rect">
            <a:avLst/>
          </a:prstGeom>
          <a:noFill/>
          <a:ln/>
        </p:spPr>
        <p:txBody>
          <a:bodyPr wrap="square" lIns="0" tIns="0" rIns="0" bIns="0" rtlCol="0" anchor="t"/>
          <a:lstStyle/>
          <a:p>
            <a:pPr algn="l" indent="0" marL="0">
              <a:lnSpc>
                <a:spcPct val="105000"/>
              </a:lnSpc>
              <a:buNone/>
            </a:pPr>
            <a:r>
              <a:rPr lang="en-US" sz="1250" b="1" dirty="0">
                <a:solidFill>
                  <a:schemeClr val="tx1"/>
                </a:solidFill>
              </a:rPr>
              <a:t>Təşkilati struktur ağacı</a:t>
            </a:r>
            <a:endParaRPr lang="en-US" sz="1250" dirty="0"/>
          </a:p>
        </p:txBody>
      </p:sp>
      <p:sp>
        <p:nvSpPr>
          <p:cNvPr id="5" name="shot-frame-256"/>
          <p:cNvSpPr/>
          <p:nvPr/>
        </p:nvSpPr>
        <p:spPr>
          <a:xfrm>
            <a:off x="457200" y="1426464"/>
            <a:ext cx="4079224" cy="2350008"/>
          </a:xfrm>
          <a:prstGeom prst="roundRect">
            <a:avLst>
              <a:gd name="adj" fmla="val 3113"/>
            </a:avLst>
          </a:prstGeom>
          <a:solidFill>
            <a:schemeClr val="bg1"/>
          </a:solidFill>
          <a:ln/>
          <a:effectLst>
            <a:outerShdw sx="100000" sy="100000" kx="0" ky="0" algn="bl" rotWithShape="0" blurRad="127000" dist="25400" dir="5400000">
              <a:srgbClr val="0B1F3A">
                <a:alpha val="8000"/>
              </a:srgbClr>
            </a:outerShdw>
          </a:effectLst>
        </p:spPr>
      </p:sp>
      <p:pic>
        <p:nvPicPr>
          <p:cNvPr id="6" name="screenshot-257" descr="Təşkilati struktur — ağac görünüşü">    </p:cNvPr>
          <p:cNvPicPr>
            <a:picLocks noChangeAspect="1"/>
          </p:cNvPicPr>
          <p:nvPr/>
        </p:nvPicPr>
        <p:blipFill>
          <a:blip r:embed="rId1"/>
          <a:stretch>
            <a:fillRect/>
          </a:stretch>
        </p:blipFill>
        <p:spPr>
          <a:xfrm>
            <a:off x="512064" y="1481328"/>
            <a:ext cx="3969496" cy="2240280"/>
          </a:xfrm>
          <a:prstGeom prst="rect">
            <a:avLst/>
          </a:prstGeom>
        </p:spPr>
      </p:pic>
      <p:sp>
        <p:nvSpPr>
          <p:cNvPr id="7" name="text-258"/>
          <p:cNvSpPr txBox="1"/>
          <p:nvPr/>
        </p:nvSpPr>
        <p:spPr>
          <a:xfrm>
            <a:off x="4755880" y="1143000"/>
            <a:ext cx="3931920" cy="256032"/>
          </a:xfrm>
          <a:prstGeom prst="rect">
            <a:avLst/>
          </a:prstGeom>
          <a:noFill/>
          <a:ln/>
        </p:spPr>
        <p:txBody>
          <a:bodyPr wrap="square" lIns="0" tIns="0" rIns="0" bIns="0" rtlCol="0" anchor="t"/>
          <a:lstStyle/>
          <a:p>
            <a:pPr algn="l" indent="0" marL="0">
              <a:lnSpc>
                <a:spcPct val="105000"/>
              </a:lnSpc>
              <a:buNone/>
            </a:pPr>
            <a:r>
              <a:rPr lang="en-US" sz="1250" b="1" dirty="0">
                <a:solidFill>
                  <a:schemeClr val="tx1"/>
                </a:solidFill>
              </a:rPr>
              <a:t>Rollar və səlahiyyətlər</a:t>
            </a:r>
            <a:endParaRPr lang="en-US" sz="1250" dirty="0"/>
          </a:p>
        </p:txBody>
      </p:sp>
      <p:sp>
        <p:nvSpPr>
          <p:cNvPr id="8" name="shot-frame-259"/>
          <p:cNvSpPr/>
          <p:nvPr/>
        </p:nvSpPr>
        <p:spPr>
          <a:xfrm>
            <a:off x="4701016" y="1426464"/>
            <a:ext cx="2313196" cy="2350008"/>
          </a:xfrm>
          <a:prstGeom prst="roundRect">
            <a:avLst>
              <a:gd name="adj" fmla="val 3162"/>
            </a:avLst>
          </a:prstGeom>
          <a:solidFill>
            <a:schemeClr val="bg1"/>
          </a:solidFill>
          <a:ln/>
          <a:effectLst>
            <a:outerShdw sx="100000" sy="100000" kx="0" ky="0" algn="bl" rotWithShape="0" blurRad="127000" dist="25400" dir="5400000">
              <a:srgbClr val="0B1F3A">
                <a:alpha val="8000"/>
              </a:srgbClr>
            </a:outerShdw>
          </a:effectLst>
        </p:spPr>
      </p:sp>
      <p:pic>
        <p:nvPicPr>
          <p:cNvPr id="9" name="screenshot-260" descr="Rollar: səhifə icazələri və məlumat görünürlüyü">    </p:cNvPr>
          <p:cNvPicPr>
            <a:picLocks noChangeAspect="1"/>
          </p:cNvPicPr>
          <p:nvPr/>
        </p:nvPicPr>
        <p:blipFill>
          <a:blip r:embed="rId2"/>
          <a:stretch>
            <a:fillRect/>
          </a:stretch>
        </p:blipFill>
        <p:spPr>
          <a:xfrm>
            <a:off x="4755880" y="1481328"/>
            <a:ext cx="2203468" cy="2240280"/>
          </a:xfrm>
          <a:prstGeom prst="rect">
            <a:avLst/>
          </a:prstGeom>
        </p:spPr>
      </p:pic>
      <p:sp>
        <p:nvSpPr>
          <p:cNvPr id="10" name="chip-261"/>
          <p:cNvSpPr/>
          <p:nvPr/>
        </p:nvSpPr>
        <p:spPr>
          <a:xfrm>
            <a:off x="457200" y="4023360"/>
            <a:ext cx="1464869" cy="310896"/>
          </a:xfrm>
          <a:prstGeom prst="roundRect">
            <a:avLst>
              <a:gd name="adj" fmla="val 50000"/>
            </a:avLst>
          </a:prstGeom>
          <a:solidFill>
            <a:schemeClr val="accent1">
              <a:alpha val="12000"/>
            </a:schemeClr>
          </a:solidFill>
          <a:ln/>
        </p:spPr>
      </p:sp>
      <p:sp>
        <p:nvSpPr>
          <p:cNvPr id="11" name="chip-text-262"/>
          <p:cNvSpPr txBox="1"/>
          <p:nvPr/>
        </p:nvSpPr>
        <p:spPr>
          <a:xfrm>
            <a:off x="457200" y="4023360"/>
            <a:ext cx="1464869" cy="310896"/>
          </a:xfrm>
          <a:prstGeom prst="rect">
            <a:avLst/>
          </a:prstGeom>
          <a:noFill/>
          <a:ln/>
        </p:spPr>
        <p:txBody>
          <a:bodyPr wrap="square" lIns="0" tIns="0" rIns="0" bIns="0" rtlCol="0" anchor="ctr"/>
          <a:lstStyle/>
          <a:p>
            <a:pPr algn="ctr" indent="0" marL="0">
              <a:lnSpc>
                <a:spcPct val="105000"/>
              </a:lnSpc>
              <a:buNone/>
            </a:pPr>
            <a:r>
              <a:rPr lang="en-US" sz="1100" b="1" dirty="0">
                <a:solidFill>
                  <a:schemeClr val="accent1"/>
                </a:solidFill>
              </a:rPr>
              <a:t>Excel-dən toplu idxal</a:t>
            </a:r>
            <a:endParaRPr lang="en-US" sz="1100" dirty="0"/>
          </a:p>
        </p:txBody>
      </p:sp>
      <p:sp>
        <p:nvSpPr>
          <p:cNvPr id="12" name="chip-263"/>
          <p:cNvSpPr/>
          <p:nvPr/>
        </p:nvSpPr>
        <p:spPr>
          <a:xfrm>
            <a:off x="2013509" y="4023360"/>
            <a:ext cx="1181405" cy="310896"/>
          </a:xfrm>
          <a:prstGeom prst="roundRect">
            <a:avLst>
              <a:gd name="adj" fmla="val 50000"/>
            </a:avLst>
          </a:prstGeom>
          <a:solidFill>
            <a:schemeClr val="accent1">
              <a:alpha val="12000"/>
            </a:schemeClr>
          </a:solidFill>
          <a:ln/>
        </p:spPr>
      </p:sp>
      <p:sp>
        <p:nvSpPr>
          <p:cNvPr id="13" name="chip-text-264"/>
          <p:cNvSpPr txBox="1"/>
          <p:nvPr/>
        </p:nvSpPr>
        <p:spPr>
          <a:xfrm>
            <a:off x="2013509" y="4023360"/>
            <a:ext cx="1181405" cy="310896"/>
          </a:xfrm>
          <a:prstGeom prst="rect">
            <a:avLst/>
          </a:prstGeom>
          <a:noFill/>
          <a:ln/>
        </p:spPr>
        <p:txBody>
          <a:bodyPr wrap="square" lIns="0" tIns="0" rIns="0" bIns="0" rtlCol="0" anchor="ctr"/>
          <a:lstStyle/>
          <a:p>
            <a:pPr algn="ctr" indent="0" marL="0">
              <a:lnSpc>
                <a:spcPct val="105000"/>
              </a:lnSpc>
              <a:buNone/>
            </a:pPr>
            <a:r>
              <a:rPr lang="en-US" sz="1100" b="1" dirty="0">
                <a:solidFill>
                  <a:schemeClr val="accent1"/>
                </a:solidFill>
              </a:rPr>
              <a:t>7 sektor şablonu</a:t>
            </a:r>
            <a:endParaRPr lang="en-US" sz="1100" dirty="0"/>
          </a:p>
        </p:txBody>
      </p:sp>
      <p:sp>
        <p:nvSpPr>
          <p:cNvPr id="14" name="chip-265"/>
          <p:cNvSpPr/>
          <p:nvPr/>
        </p:nvSpPr>
        <p:spPr>
          <a:xfrm>
            <a:off x="3286354" y="4023360"/>
            <a:ext cx="1748333" cy="310896"/>
          </a:xfrm>
          <a:prstGeom prst="roundRect">
            <a:avLst>
              <a:gd name="adj" fmla="val 50000"/>
            </a:avLst>
          </a:prstGeom>
          <a:solidFill>
            <a:schemeClr val="accent1">
              <a:alpha val="12000"/>
            </a:schemeClr>
          </a:solidFill>
          <a:ln/>
        </p:spPr>
      </p:sp>
      <p:sp>
        <p:nvSpPr>
          <p:cNvPr id="15" name="chip-text-266"/>
          <p:cNvSpPr txBox="1"/>
          <p:nvPr/>
        </p:nvSpPr>
        <p:spPr>
          <a:xfrm>
            <a:off x="3286354" y="4023360"/>
            <a:ext cx="1748333" cy="310896"/>
          </a:xfrm>
          <a:prstGeom prst="rect">
            <a:avLst/>
          </a:prstGeom>
          <a:noFill/>
          <a:ln/>
        </p:spPr>
        <p:txBody>
          <a:bodyPr wrap="square" lIns="0" tIns="0" rIns="0" bIns="0" rtlCol="0" anchor="ctr"/>
          <a:lstStyle/>
          <a:p>
            <a:pPr algn="ctr" indent="0" marL="0">
              <a:lnSpc>
                <a:spcPct val="105000"/>
              </a:lnSpc>
              <a:buNone/>
            </a:pPr>
            <a:r>
              <a:rPr lang="en-US" sz="1100" b="1" dirty="0">
                <a:solidFill>
                  <a:schemeClr val="accent1"/>
                </a:solidFill>
              </a:rPr>
              <a:t>Büdcə versiyaları və kilid</a:t>
            </a:r>
            <a:endParaRPr lang="en-US" sz="1100" dirty="0"/>
          </a:p>
        </p:txBody>
      </p:sp>
      <p:sp>
        <p:nvSpPr>
          <p:cNvPr id="16" name="chip-267"/>
          <p:cNvSpPr/>
          <p:nvPr/>
        </p:nvSpPr>
        <p:spPr>
          <a:xfrm>
            <a:off x="5126126" y="4023360"/>
            <a:ext cx="1408176" cy="310896"/>
          </a:xfrm>
          <a:prstGeom prst="roundRect">
            <a:avLst>
              <a:gd name="adj" fmla="val 50000"/>
            </a:avLst>
          </a:prstGeom>
          <a:solidFill>
            <a:schemeClr val="accent1">
              <a:alpha val="12000"/>
            </a:schemeClr>
          </a:solidFill>
          <a:ln/>
        </p:spPr>
      </p:sp>
      <p:sp>
        <p:nvSpPr>
          <p:cNvPr id="17" name="chip-text-268"/>
          <p:cNvSpPr txBox="1"/>
          <p:nvPr/>
        </p:nvSpPr>
        <p:spPr>
          <a:xfrm>
            <a:off x="5126126" y="4023360"/>
            <a:ext cx="1408176" cy="310896"/>
          </a:xfrm>
          <a:prstGeom prst="rect">
            <a:avLst/>
          </a:prstGeom>
          <a:noFill/>
          <a:ln/>
        </p:spPr>
        <p:txBody>
          <a:bodyPr wrap="square" lIns="0" tIns="0" rIns="0" bIns="0" rtlCol="0" anchor="ctr"/>
          <a:lstStyle/>
          <a:p>
            <a:pPr algn="ctr" indent="0" marL="0">
              <a:lnSpc>
                <a:spcPct val="105000"/>
              </a:lnSpc>
              <a:buNone/>
            </a:pPr>
            <a:r>
              <a:rPr lang="en-US" sz="1100" b="1" dirty="0">
                <a:solidFill>
                  <a:schemeClr val="accent1"/>
                </a:solidFill>
              </a:rPr>
              <a:t>Büdcə dəyişiklikləri</a:t>
            </a:r>
            <a:endParaRPr lang="en-US" sz="1100" dirty="0"/>
          </a:p>
        </p:txBody>
      </p:sp>
      <p:sp>
        <p:nvSpPr>
          <p:cNvPr id="18" name="chip-269"/>
          <p:cNvSpPr/>
          <p:nvPr/>
        </p:nvSpPr>
        <p:spPr>
          <a:xfrm>
            <a:off x="6625742" y="4023360"/>
            <a:ext cx="1011326" cy="310896"/>
          </a:xfrm>
          <a:prstGeom prst="roundRect">
            <a:avLst>
              <a:gd name="adj" fmla="val 50000"/>
            </a:avLst>
          </a:prstGeom>
          <a:solidFill>
            <a:schemeClr val="accent1">
              <a:alpha val="12000"/>
            </a:schemeClr>
          </a:solidFill>
          <a:ln/>
        </p:spPr>
      </p:sp>
      <p:sp>
        <p:nvSpPr>
          <p:cNvPr id="19" name="chip-text-270"/>
          <p:cNvSpPr txBox="1"/>
          <p:nvPr/>
        </p:nvSpPr>
        <p:spPr>
          <a:xfrm>
            <a:off x="6625742" y="4023360"/>
            <a:ext cx="1011326" cy="310896"/>
          </a:xfrm>
          <a:prstGeom prst="rect">
            <a:avLst/>
          </a:prstGeom>
          <a:noFill/>
          <a:ln/>
        </p:spPr>
        <p:txBody>
          <a:bodyPr wrap="square" lIns="0" tIns="0" rIns="0" bIns="0" rtlCol="0" anchor="ctr"/>
          <a:lstStyle/>
          <a:p>
            <a:pPr algn="ctr" indent="0" marL="0">
              <a:lnSpc>
                <a:spcPct val="105000"/>
              </a:lnSpc>
              <a:buNone/>
            </a:pPr>
            <a:r>
              <a:rPr lang="en-US" sz="1100" b="1" dirty="0">
                <a:solidFill>
                  <a:schemeClr val="accent1"/>
                </a:solidFill>
              </a:rPr>
              <a:t>Audit jurnalı</a:t>
            </a:r>
            <a:endParaRPr lang="en-US" sz="1100" dirty="0"/>
          </a:p>
        </p:txBody>
      </p:sp>
      <p:sp>
        <p:nvSpPr>
          <p:cNvPr id="20" name="chip-271"/>
          <p:cNvSpPr/>
          <p:nvPr/>
        </p:nvSpPr>
        <p:spPr>
          <a:xfrm>
            <a:off x="7728509" y="4023360"/>
            <a:ext cx="671170" cy="310896"/>
          </a:xfrm>
          <a:prstGeom prst="roundRect">
            <a:avLst>
              <a:gd name="adj" fmla="val 50000"/>
            </a:avLst>
          </a:prstGeom>
          <a:solidFill>
            <a:schemeClr val="accent1">
              <a:alpha val="12000"/>
            </a:schemeClr>
          </a:solidFill>
          <a:ln/>
        </p:spPr>
      </p:sp>
      <p:sp>
        <p:nvSpPr>
          <p:cNvPr id="21" name="chip-text-272"/>
          <p:cNvSpPr txBox="1"/>
          <p:nvPr/>
        </p:nvSpPr>
        <p:spPr>
          <a:xfrm>
            <a:off x="7728509" y="4023360"/>
            <a:ext cx="671170" cy="310896"/>
          </a:xfrm>
          <a:prstGeom prst="rect">
            <a:avLst/>
          </a:prstGeom>
          <a:noFill/>
          <a:ln/>
        </p:spPr>
        <p:txBody>
          <a:bodyPr wrap="square" lIns="0" tIns="0" rIns="0" bIns="0" rtlCol="0" anchor="ctr"/>
          <a:lstStyle/>
          <a:p>
            <a:pPr algn="ctr" indent="0" marL="0">
              <a:lnSpc>
                <a:spcPct val="105000"/>
              </a:lnSpc>
              <a:buNone/>
            </a:pPr>
            <a:r>
              <a:rPr lang="en-US" sz="1100" b="1" dirty="0">
                <a:solidFill>
                  <a:schemeClr val="accent1"/>
                </a:solidFill>
              </a:rPr>
              <a:t>AZ / EN</a:t>
            </a:r>
            <a:endParaRPr lang="en-US" sz="1100" dirty="0"/>
          </a:p>
        </p:txBody>
      </p:sp>
      <p:sp>
        <p:nvSpPr>
          <p:cNvPr id="22" name="chip-273"/>
          <p:cNvSpPr/>
          <p:nvPr/>
        </p:nvSpPr>
        <p:spPr>
          <a:xfrm>
            <a:off x="512064" y="4526280"/>
            <a:ext cx="2514600" cy="237744"/>
          </a:xfrm>
          <a:prstGeom prst="roundRect">
            <a:avLst>
              <a:gd name="adj" fmla="val 50000"/>
            </a:avLst>
          </a:prstGeom>
          <a:solidFill>
            <a:schemeClr val="accent4">
              <a:alpha val="15000"/>
            </a:schemeClr>
          </a:solidFill>
          <a:ln/>
        </p:spPr>
      </p:sp>
      <p:sp>
        <p:nvSpPr>
          <p:cNvPr id="23" name="chip-text-274"/>
          <p:cNvSpPr txBox="1"/>
          <p:nvPr/>
        </p:nvSpPr>
        <p:spPr>
          <a:xfrm>
            <a:off x="512064" y="4526280"/>
            <a:ext cx="2514600" cy="237744"/>
          </a:xfrm>
          <a:prstGeom prst="rect">
            <a:avLst/>
          </a:prstGeom>
          <a:noFill/>
          <a:ln/>
        </p:spPr>
        <p:txBody>
          <a:bodyPr wrap="square" lIns="0" tIns="0" rIns="0" bIns="0" rtlCol="0" anchor="ctr"/>
          <a:lstStyle/>
          <a:p>
            <a:pPr algn="ctr" indent="0" marL="0">
              <a:lnSpc>
                <a:spcPct val="105000"/>
              </a:lnSpc>
              <a:buNone/>
            </a:pPr>
            <a:r>
              <a:rPr lang="en-US" sz="950" b="1" dirty="0">
                <a:solidFill>
                  <a:schemeClr val="tx2"/>
                </a:solidFill>
              </a:rPr>
              <a:t>Real MVP ekranı · demo məlumatlar</a:t>
            </a:r>
            <a:endParaRPr lang="en-US" sz="950" dirty="0"/>
          </a:p>
        </p:txBody>
      </p:sp>
      <p:sp>
        <p:nvSpPr>
          <p:cNvPr id="25" name="Slide Number Placeholder 0"/>
          <p:cNvSpPr>
            <a:spLocks noGrp="1"/>
          </p:cNvSpPr>
          <p:nvPr>
            <p:ph type="sldNum" sz="quarter" idx="4294967295"/>
          </p:nvPr>
        </p:nvSpPr>
        <p:spPr>
          <a:xfrm>
            <a:off x="8321040" y="481888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275"/>
          <p:cNvSpPr txBox="1"/>
          <p:nvPr/>
        </p:nvSpPr>
        <p:spPr>
          <a:xfrm>
            <a:off x="457200" y="128016"/>
            <a:ext cx="6858000" cy="201168"/>
          </a:xfrm>
          <a:prstGeom prst="rect">
            <a:avLst/>
          </a:prstGeom>
          <a:noFill/>
          <a:ln/>
        </p:spPr>
        <p:txBody>
          <a:bodyPr wrap="square" lIns="0" tIns="0" rIns="0" bIns="0" rtlCol="0" anchor="t"/>
          <a:lstStyle/>
          <a:p>
            <a:pPr algn="l" indent="0" marL="0">
              <a:lnSpc>
                <a:spcPct val="105000"/>
              </a:lnSpc>
              <a:buNone/>
            </a:pPr>
            <a:r>
              <a:rPr lang="en-US" sz="1000" b="1" spc="150" kern="0" dirty="0">
                <a:solidFill>
                  <a:schemeClr val="accent4"/>
                </a:solidFill>
              </a:rPr>
              <a:t>ƏLAVƏ · SUALLAR ÜÇÜN</a:t>
            </a:r>
            <a:endParaRPr lang="en-US" sz="1000" dirty="0"/>
          </a:p>
        </p:txBody>
      </p:sp>
      <p:sp>
        <p:nvSpPr>
          <p:cNvPr id="3" name="Text 5"/>
          <p:cNvSpPr/>
          <p:nvPr>
            <p:ph idx="105" type="title" hasCustomPrompt="1"/>
          </p:nvPr>
        </p:nvSpPr>
        <p:spPr>
          <a:xfrm>
            <a:off x="457200" y="329184"/>
            <a:ext cx="7498080" cy="621792"/>
          </a:xfrm>
          <a:prstGeom prst="rect">
            <a:avLst/>
          </a:prstGeom>
          <a:noFill/>
          <a:ln/>
        </p:spPr>
        <p:txBody>
          <a:bodyPr wrap="square" lIns="0" tIns="0" rIns="0" bIns="0" rtlCol="0" anchor="ctr"/>
          <a:lstStyle/>
          <a:p>
            <a:pPr algn="l" indent="0" marL="0">
              <a:buNone/>
            </a:pPr>
            <a:r>
              <a:rPr lang="en-US" sz="2700" b="1" dirty="0">
                <a:solidFill>
                  <a:srgbClr val="0B1F3A"/>
                </a:solidFill>
                <a:latin typeface="Cambria" pitchFamily="34" charset="0"/>
                <a:ea typeface="Cambria" pitchFamily="34" charset="-122"/>
                <a:cs typeface="Cambria" pitchFamily="34" charset="-120"/>
              </a:rPr>
              <a:t>Validasiya: hipotezlər və göstəricilər</a:t>
            </a:r>
            <a:endParaRPr lang="en-US" sz="2700" dirty="0"/>
          </a:p>
        </p:txBody>
      </p:sp>
      <p:graphicFrame>
        <p:nvGraphicFramePr>
          <p:cNvPr id="14" name="validation-table"/>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3017520"/>
                <a:gridCol w="3017520"/>
                <a:gridCol w="2194560"/>
              </a:tblGrid>
              <a:tr h="365760">
                <a:tc>
                  <a:txBody>
                    <a:bodyPr/>
                    <a:lstStyle/>
                    <a:p>
                      <a:pPr indent="0" marL="0">
                        <a:buNone/>
                      </a:pPr>
                      <a:r>
                        <a:rPr lang="en-US" sz="1150" b="1" dirty="0">
                          <a:solidFill>
                            <a:schemeClr val="bg1"/>
                          </a:solidFill>
                          <a:latin typeface="Calibri" pitchFamily="34" charset="0"/>
                          <a:ea typeface="Calibri" pitchFamily="34" charset="-122"/>
                          <a:cs typeface="Calibri" pitchFamily="34" charset="-120"/>
                        </a:rPr>
                        <a:t>Hipotez</a:t>
                      </a:r>
                      <a:endParaRPr lang="en-US" sz="1150" dirty="0">
                        <a:latin typeface="Calibri" charset="0"/>
                        <a:ea typeface="Calibri" charset="0"/>
                        <a:cs typeface="Calibri" charset="0"/>
                      </a:endParaRPr>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B1F3A"/>
                    </a:solidFill>
                  </a:tcPr>
                </a:tc>
                <a:tc>
                  <a:txBody>
                    <a:bodyPr/>
                    <a:lstStyle/>
                    <a:p>
                      <a:pPr indent="0" marL="0">
                        <a:buNone/>
                      </a:pPr>
                      <a:r>
                        <a:rPr lang="en-US" sz="1150" b="1" dirty="0">
                          <a:solidFill>
                            <a:schemeClr val="bg1"/>
                          </a:solidFill>
                          <a:latin typeface="Calibri" pitchFamily="34" charset="0"/>
                          <a:ea typeface="Calibri" pitchFamily="34" charset="-122"/>
                          <a:cs typeface="Calibri" pitchFamily="34" charset="-120"/>
                        </a:rPr>
                        <a:t>Necə yoxlayırıq</a:t>
                      </a:r>
                      <a:endParaRPr lang="en-US" sz="1150" dirty="0">
                        <a:latin typeface="Calibri" charset="0"/>
                        <a:ea typeface="Calibri" charset="0"/>
                        <a:cs typeface="Calibri" charset="0"/>
                      </a:endParaRPr>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B1F3A"/>
                    </a:solidFill>
                  </a:tcPr>
                </a:tc>
                <a:tc>
                  <a:txBody>
                    <a:bodyPr/>
                    <a:lstStyle/>
                    <a:p>
                      <a:pPr indent="0" marL="0">
                        <a:buNone/>
                      </a:pPr>
                      <a:r>
                        <a:rPr lang="en-US" sz="1150" b="1" dirty="0">
                          <a:solidFill>
                            <a:schemeClr val="bg1"/>
                          </a:solidFill>
                          <a:latin typeface="Calibri" pitchFamily="34" charset="0"/>
                          <a:ea typeface="Calibri" pitchFamily="34" charset="-122"/>
                          <a:cs typeface="Calibri" pitchFamily="34" charset="-120"/>
                        </a:rPr>
                        <a:t>Göstərici</a:t>
                      </a:r>
                      <a:endParaRPr lang="en-US" sz="1150" dirty="0">
                        <a:latin typeface="Calibri" charset="0"/>
                        <a:ea typeface="Calibri" charset="0"/>
                        <a:cs typeface="Calibri" charset="0"/>
                      </a:endParaRPr>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B1F3A"/>
                    </a:solidFill>
                  </a:tcPr>
                </a:tc>
              </a:tr>
              <a:tr h="566928">
                <a:tc>
                  <a:txBody>
                    <a:bodyPr/>
                    <a:lstStyle/>
                    <a:p>
                      <a:pPr indent="0" marL="0">
                        <a:buNone/>
                      </a:pPr>
                      <a:r>
                        <a:rPr lang="en-US" sz="1150" b="1" dirty="0">
                          <a:solidFill>
                            <a:srgbClr val="0B1F3A"/>
                          </a:solidFill>
                          <a:latin typeface="Calibri" pitchFamily="34" charset="0"/>
                          <a:ea typeface="Calibri" pitchFamily="34" charset="-122"/>
                          <a:cs typeface="Calibri" pitchFamily="34" charset="-120"/>
                        </a:rPr>
                        <a:t>Problem maliyyə rəhbərləri üçün prioritetdir</a:t>
                      </a:r>
                      <a:endParaRPr lang="en-US" sz="1150" dirty="0">
                        <a:latin typeface="Calibri" charset="0"/>
                        <a:ea typeface="Calibri" charset="0"/>
                        <a:cs typeface="Calibri" charset="0"/>
                      </a:endParaRPr>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0B1F3A"/>
                          </a:solidFill>
                          <a:latin typeface="Calibri" pitchFamily="34" charset="0"/>
                          <a:ea typeface="Calibri" pitchFamily="34" charset="-122"/>
                          <a:cs typeface="Calibri" pitchFamily="34" charset="-120"/>
                        </a:rPr>
                        <a:t>LinkedIn müraciəti, üz-üzə görüş, canlı demo</a:t>
                      </a:r>
                      <a:endParaRPr lang="en-US" sz="1150" dirty="0">
                        <a:latin typeface="Calibri" charset="0"/>
                        <a:ea typeface="Calibri" charset="0"/>
                        <a:cs typeface="Calibri" charset="0"/>
                      </a:endParaRPr>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0B1F3A"/>
                          </a:solidFill>
                          <a:latin typeface="Calibri" pitchFamily="34" charset="0"/>
                          <a:ea typeface="Calibri" pitchFamily="34" charset="-122"/>
                          <a:cs typeface="Calibri" pitchFamily="34" charset="-120"/>
                        </a:rPr>
                        <a:t>Görüş və demo qəbulu</a:t>
                      </a:r>
                      <a:endParaRPr lang="en-US" sz="1150" dirty="0">
                        <a:latin typeface="Calibri" charset="0"/>
                        <a:ea typeface="Calibri" charset="0"/>
                        <a:cs typeface="Calibri" charset="0"/>
                      </a:endParaRPr>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0B1F3A"/>
                          </a:solidFill>
                          <a:latin typeface="Calibri" pitchFamily="34" charset="0"/>
                          <a:ea typeface="Calibri" pitchFamily="34" charset="-122"/>
                          <a:cs typeface="Calibri" pitchFamily="34" charset="-120"/>
                        </a:rPr>
                        <a:t>MVP şirkətin real büdcə prosesinə uyğundur</a:t>
                      </a:r>
                      <a:endParaRPr lang="en-US" sz="1150" dirty="0">
                        <a:latin typeface="Calibri" charset="0"/>
                        <a:ea typeface="Calibri" charset="0"/>
                        <a:cs typeface="Calibri" charset="0"/>
                      </a:endParaRPr>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0B1F3A"/>
                          </a:solidFill>
                          <a:latin typeface="Calibri" pitchFamily="34" charset="0"/>
                          <a:ea typeface="Calibri" pitchFamily="34" charset="-122"/>
                          <a:cs typeface="Calibri" pitchFamily="34" charset="-120"/>
                        </a:rPr>
                        <a:t>Şirkətin öz strukturu və ssenariləri ilə test mühiti</a:t>
                      </a:r>
                      <a:endParaRPr lang="en-US" sz="1150" dirty="0">
                        <a:latin typeface="Calibri" charset="0"/>
                        <a:ea typeface="Calibri" charset="0"/>
                        <a:cs typeface="Calibri" charset="0"/>
                      </a:endParaRPr>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0B1F3A"/>
                          </a:solidFill>
                          <a:latin typeface="Calibri" pitchFamily="34" charset="0"/>
                          <a:ea typeface="Calibri" pitchFamily="34" charset="-122"/>
                          <a:cs typeface="Calibri" pitchFamily="34" charset="-120"/>
                        </a:rPr>
                        <a:t>Test mühitinə keçid, aktiv istifadə</a:t>
                      </a:r>
                      <a:endParaRPr lang="en-US" sz="1150" dirty="0">
                        <a:latin typeface="Calibri" charset="0"/>
                        <a:ea typeface="Calibri" charset="0"/>
                        <a:cs typeface="Calibri" charset="0"/>
                      </a:endParaRPr>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0B1F3A"/>
                          </a:solidFill>
                          <a:latin typeface="Calibri" pitchFamily="34" charset="0"/>
                          <a:ea typeface="Calibri" pitchFamily="34" charset="-122"/>
                          <a:cs typeface="Calibri" pitchFamily="34" charset="-120"/>
                        </a:rPr>
                        <a:t>Büdcə hazırlığı sürətlənir</a:t>
                      </a:r>
                      <a:endParaRPr lang="en-US" sz="1150" dirty="0">
                        <a:latin typeface="Calibri" charset="0"/>
                        <a:ea typeface="Calibri" charset="0"/>
                        <a:cs typeface="Calibri" charset="0"/>
                      </a:endParaRPr>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0B1F3A"/>
                          </a:solidFill>
                          <a:latin typeface="Calibri" pitchFamily="34" charset="0"/>
                          <a:ea typeface="Calibri" pitchFamily="34" charset="-122"/>
                          <a:cs typeface="Calibri" pitchFamily="34" charset="-120"/>
                        </a:rPr>
                        <a:t>2027 büdcə dövründə pilot, Excel-ə paralel</a:t>
                      </a:r>
                      <a:endParaRPr lang="en-US" sz="1150" dirty="0">
                        <a:latin typeface="Calibri" charset="0"/>
                        <a:ea typeface="Calibri" charset="0"/>
                        <a:cs typeface="Calibri" charset="0"/>
                      </a:endParaRPr>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0B1F3A"/>
                          </a:solidFill>
                          <a:latin typeface="Calibri" pitchFamily="34" charset="0"/>
                          <a:ea typeface="Calibri" pitchFamily="34" charset="-122"/>
                          <a:cs typeface="Calibri" pitchFamily="34" charset="-120"/>
                        </a:rPr>
                        <a:t>Hazırlıq vaxtı: əvvəl / sonra</a:t>
                      </a:r>
                      <a:endParaRPr lang="en-US" sz="1150" dirty="0">
                        <a:latin typeface="Calibri" charset="0"/>
                        <a:ea typeface="Calibri" charset="0"/>
                        <a:cs typeface="Calibri" charset="0"/>
                      </a:endParaRPr>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0B1F3A"/>
                          </a:solidFill>
                          <a:latin typeface="Calibri" pitchFamily="34" charset="0"/>
                          <a:ea typeface="Calibri" pitchFamily="34" charset="-122"/>
                          <a:cs typeface="Calibri" pitchFamily="34" charset="-120"/>
                        </a:rPr>
                        <a:t>Şirkətlər ödəməyə hazırdır</a:t>
                      </a:r>
                      <a:endParaRPr lang="en-US" sz="1150" dirty="0">
                        <a:latin typeface="Calibri" charset="0"/>
                        <a:ea typeface="Calibri" charset="0"/>
                        <a:cs typeface="Calibri" charset="0"/>
                      </a:endParaRPr>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0B1F3A"/>
                          </a:solidFill>
                          <a:latin typeface="Calibri" pitchFamily="34" charset="0"/>
                          <a:ea typeface="Calibri" pitchFamily="34" charset="-122"/>
                          <a:cs typeface="Calibri" pitchFamily="34" charset="-120"/>
                        </a:rPr>
                        <a:t>Pilot sonunda qiymət təklifi</a:t>
                      </a:r>
                      <a:endParaRPr lang="en-US" sz="1150" dirty="0">
                        <a:latin typeface="Calibri" charset="0"/>
                        <a:ea typeface="Calibri" charset="0"/>
                        <a:cs typeface="Calibri" charset="0"/>
                      </a:endParaRPr>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0B1F3A"/>
                          </a:solidFill>
                          <a:latin typeface="Calibri" pitchFamily="34" charset="0"/>
                          <a:ea typeface="Calibri" pitchFamily="34" charset="-122"/>
                          <a:cs typeface="Calibri" pitchFamily="34" charset="-120"/>
                        </a:rPr>
                        <a:t>Ödəməyə hazırlıq, ödənişli keçid</a:t>
                      </a:r>
                      <a:endParaRPr lang="en-US" sz="1150" dirty="0">
                        <a:latin typeface="Calibri" charset="0"/>
                        <a:ea typeface="Calibri" charset="0"/>
                        <a:cs typeface="Calibri" charset="0"/>
                      </a:endParaRPr>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5" name="text-276"/>
          <p:cNvSpPr txBox="1"/>
          <p:nvPr/>
        </p:nvSpPr>
        <p:spPr>
          <a:xfrm>
            <a:off x="457200" y="4343400"/>
            <a:ext cx="8229600" cy="274320"/>
          </a:xfrm>
          <a:prstGeom prst="rect">
            <a:avLst/>
          </a:prstGeom>
          <a:noFill/>
          <a:ln/>
        </p:spPr>
        <p:txBody>
          <a:bodyPr wrap="square" lIns="0" tIns="0" rIns="0" bIns="0" rtlCol="0" anchor="t"/>
          <a:lstStyle/>
          <a:p>
            <a:pPr algn="l" indent="0" marL="0">
              <a:lnSpc>
                <a:spcPct val="105000"/>
              </a:lnSpc>
              <a:buNone/>
            </a:pPr>
            <a:r>
              <a:rPr lang="en-US" sz="1100" b="1" i="1" dirty="0">
                <a:solidFill>
                  <a:srgbClr val="B45309"/>
                </a:solidFill>
              </a:rPr>
              <a:t>Heç bir göstərici hələ ölçülməyib — rəqəmlər pilot mərhələsində toplanacaq.</a:t>
            </a:r>
            <a:endParaRPr lang="en-US" sz="1100" dirty="0"/>
          </a:p>
        </p:txBody>
      </p:sp>
      <p:sp>
        <p:nvSpPr>
          <p:cNvPr id="25" name="Slide Number Placeholder 0"/>
          <p:cNvSpPr>
            <a:spLocks noGrp="1"/>
          </p:cNvSpPr>
          <p:nvPr>
            <p:ph type="sldNum" sz="quarter" idx="4294967295"/>
          </p:nvPr>
        </p:nvSpPr>
        <p:spPr>
          <a:xfrm>
            <a:off x="8321040" y="481888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FinBridge">
  <a:themeElements>
    <a:clrScheme name="FinBridge">
      <a:dk1>
        <a:srgbClr val="0B1F3A"/>
      </a:dk1>
      <a:lt1>
        <a:srgbClr val="FFFFFF"/>
      </a:lt1>
      <a:dk2>
        <a:srgbClr val="334155"/>
      </a:dk2>
      <a:lt2>
        <a:srgbClr val="F3F6FA"/>
      </a:lt2>
      <a:accent1>
        <a:srgbClr val="2350D0"/>
      </a:accent1>
      <a:accent2>
        <a:srgbClr val="0E9F6E"/>
      </a:accent2>
      <a:accent3>
        <a:srgbClr val="D64545"/>
      </a:accent3>
      <a:accent4>
        <a:srgbClr val="64748B"/>
      </a:accent4>
      <a:accent5>
        <a:srgbClr val="CBD5E1"/>
      </a:accent5>
      <a:accent6>
        <a:srgbClr val="E2E8F0"/>
      </a:accent6>
      <a:hlink>
        <a:srgbClr val="2350D0"/>
      </a:hlink>
      <a:folHlink>
        <a:srgbClr val="15315C"/>
      </a:folHlink>
    </a:clrScheme>
    <a:fontScheme name="FinBridg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FinBridge — təqdimat</dc:title>
  <dc:subject>Büdcənin planlanması, təsdiqi və icrasına nəzarət platforması</dc:subject>
  <dc:creator>FinBridge komandası</dc:creator>
  <cp:lastModifiedBy>FinBridge komandası</cp:lastModifiedBy>
  <cp:revision>1</cp:revision>
  <dcterms:created xsi:type="dcterms:W3CDTF">2026-10-15T08:37:25Z</dcterms:created>
  <dcterms:modified xsi:type="dcterms:W3CDTF">2026-10-15T08:37:25Z</dcterms:modified>
</cp:coreProperties>
</file>