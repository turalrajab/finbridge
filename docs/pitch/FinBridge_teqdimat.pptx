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83866687-2d9c-eb73-4d58-4832789137d2}">
          <p14:sldIdLst>
            <p14:sldId id="256"/>
          </p14:sldIdLst>
        </p14:section>
        <p14:section name="Problem" id="{e068a66f-4eac-d2ed-b50e-17381f2b89b7}">
          <p14:sldIdLst>
            <p14:sldId id="257"/>
            <p14:sldId id="258"/>
          </p14:sldIdLst>
        </p14:section>
        <p14:section name="Müştəri seqmenti" id="{f53576fc-7121-26a5-d40e-f497464accd8}">
          <p14:sldIdLst>
            <p14:sldId id="259"/>
          </p14:sldIdLst>
        </p14:section>
        <p14:section name="Dəyər təklifi" id="{e50df698-e3b1-5dee-6eed-a083a5b93812}">
          <p14:sldIdLst>
            <p14:sldId id="260"/>
          </p14:sldIdLst>
        </p14:section>
        <p14:section name="MVP" id="{da71b6a0-6e1a-f482-82fc-0f99773c0eb7}">
          <p14:sldIdLst>
            <p14:sldId id="261"/>
            <p14:sldId id="262"/>
          </p14:sldIdLst>
        </p14:section>
        <p14:section name="GTM" id="{94810674-f633-3866-a316-f5d107da1e03}">
          <p14:sldIdLst>
            <p14:sldId id="263"/>
          </p14:sldIdLst>
        </p14:section>
        <p14:section name="Yekun" id="{2041b22f-ee7a-be9a-0b2d-3ee60c6838b6}">
          <p14:sldIdLst>
            <p14:sldId id="264"/>
          </p14:sldIdLst>
        </p14:section>
        <p14:section name="Əlavə" id="{854ffe84-bbb3-3b07-61ce-f479998ed78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san.) Salam. Biz FinBridge-i təqdim edirik — şirkətlərin illik büdcəni Excel-siz planlaması, təsdiqləməsi və il boyu nəzarət etməsi üçün B2B platforma.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san.) Əsas problem: şirkətlər illik büdcəni ya ümumiyyətlə planlamır, ya da planlayanlar bunu onlarla Excel faylında, pərakəndə şəkildə edir. Sonra büdcəni izləmək çətinləşir, səhvlər və düzgün olmayan hesablamalar ortaya çıxır.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san.) Bunu müsahibələrlə yoxladıq. 300-dən 1 400-dən çox işçisi olan altı şirkətlə danışdıq: Milla Dairy, Mars Overseas, ŞamFi, PASHA Bank, VektorDS və Azersun Holding. Altıdan beşi büdcəni Excel-də aparır — PASHA Bank-da belə Excel və VBA ilə. Azersun-da ERP var, amma büdcə prosesinin yalnız bir hissəsini əhatə edir. Yəni altı şirkətin heç birində prosesi tam əhatə edən sistem yoxdur.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san.) Hədəf seqmentimiz kiçik və orta səviyyəli korporativ təşkilatlardır — B2B. Kiçik biznesə Excel hələ kifayət edir, iri holdinqlərin isə SAP və ya Oracle kimi bahalı sistemləri var. Ortadakı şirkətlərdə çoxlu departament və xərc mərkəzi var, Excel artıq çatmır, amma qlobal FP&amp;A sistemləri onlar üçün baha və mürəkkəbdir.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san.) Dəyər təklifimiz: planla, təsdiqlə, nəzarət et — hamısı bir platformada. Plan keçmiş illərin faktı yanında qurulur, hazır sənaye şablonları ilə. Təsdiq mərhələlərini şirkət özü qurur. Hər xərc sorğusu büdcə qalığı ilə yoxlanılır. Excel pulsuzdur, amma dağınıqdır; qlobal FP&amp;A sistemləri baha və mürəkkəbdir; ERP uçot aparır, amma büdcə prosesini əhatə etmir. FinBridge Azərbaycan dilindədir və milli hesablar planı ilə hazır gəlir.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san.) MVP hazırdır və işləyir. Birinci ekran: yeni ilin planı departamentlər üzrə keçən illərin faktı və cari ilin proqnozu ilə yan-yana qurulur — planlamaçı rahat müqayisə edir. İkinci ekran: hər satınalma sorğusunda büdcə qalığı avtomatik yoxlanılır; sorğu büdcəni aşırsa, bu, təsdiqə çatmadan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san.) Üçüncü: təsdiq axını. Şirkət mərhələləri özü qurur — məsələn, xərc mərkəzi sahibi, maliyyə, sonra məbləğ böyükdürsə CFO. Hər mərhələnin müddəti və təsdiqləyən üçün təlimatı var. Dördüncü: rəhbərlik paneli — plan, fakt, öhdəlik və qalıq bir baxışda. Bundan əlavə rollar və səlahiyyətlər, təşkilati struktur ağacı və Excel-dən toplu idxal da hazırdır.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san.) İlk müştəriləri belə cəlb edəcəyik. Kanal: LinkedIn-də maliyyə rəhbərlərinə müraciət və üz-üzə görüş tələbi. Görüşdə MVP-ni canlı göstəririk, sonra şirkətə öz strukturu ilə pulsuz test portalı veririk. Növbəti addım — növbəti illik büdcə üzrə pilot. İlk hədəf müsahibə etdiyimiz altı şirkətdir. Vaxt da uyğundur: illik büdcələr adətən dördüncü rübdə hazırlanır.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san.) Növbəti addımlar: müsahibə etdiyimiz altı şirkətə test portalı təqdim etmək, 2027 büdcə dövründə ilk pilotu başlatmaq və rəy əsasında məhsulu təkmilləşdirmək. Təşəkkür edirik — suallarınız varsa, canlı demonu göstərə bilərik.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Əlavə slayd (suallar üçün): təşkilati struktur ağacı, təsdiq mərhələsinin davranışının qurulması və rollar/səlahiyyətlər səhifəsi. Həmçinin Excel-dən toplu idxal, 7 sənaye şablonu, büdcə versiyaları və kilid, audit jurnalı, iki dil.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B_DARK">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4823460"/>
            <a:ext cx="292608" cy="320040"/>
          </a:xfrm>
          <a:prstGeom prst="rect">
            <a:avLst/>
          </a:prstGeom>
          <a:solidFill>
            <a:srgbClr val="2350D0">
              <a:alpha val="30000"/>
            </a:srgbClr>
          </a:solidFill>
          <a:ln/>
        </p:spPr>
      </p:sp>
      <p:sp>
        <p:nvSpPr>
          <p:cNvPr id="3" name="Shape 1"/>
          <p:cNvSpPr/>
          <p:nvPr/>
        </p:nvSpPr>
        <p:spPr>
          <a:xfrm>
            <a:off x="950976" y="4594860"/>
            <a:ext cx="292608" cy="548640"/>
          </a:xfrm>
          <a:prstGeom prst="rect">
            <a:avLst/>
          </a:prstGeom>
          <a:solidFill>
            <a:srgbClr val="2350D0">
              <a:alpha val="30000"/>
            </a:srgbClr>
          </a:solidFill>
          <a:ln/>
        </p:spPr>
      </p:sp>
      <p:sp>
        <p:nvSpPr>
          <p:cNvPr id="4" name="Shape 2"/>
          <p:cNvSpPr/>
          <p:nvPr/>
        </p:nvSpPr>
        <p:spPr>
          <a:xfrm>
            <a:off x="1353312" y="4704588"/>
            <a:ext cx="292608" cy="438912"/>
          </a:xfrm>
          <a:prstGeom prst="rect">
            <a:avLst/>
          </a:prstGeom>
          <a:solidFill>
            <a:srgbClr val="2350D0">
              <a:alpha val="30000"/>
            </a:srgbClr>
          </a:solidFill>
          <a:ln/>
        </p:spPr>
      </p:sp>
      <p:sp>
        <p:nvSpPr>
          <p:cNvPr id="5" name="Shape 3"/>
          <p:cNvSpPr/>
          <p:nvPr/>
        </p:nvSpPr>
        <p:spPr>
          <a:xfrm>
            <a:off x="1755648" y="4366260"/>
            <a:ext cx="292608" cy="777240"/>
          </a:xfrm>
          <a:prstGeom prst="rect">
            <a:avLst/>
          </a:prstGeom>
          <a:solidFill>
            <a:srgbClr val="2350D0">
              <a:alpha val="30000"/>
            </a:srgbClr>
          </a:solidFill>
          <a:ln/>
        </p:spPr>
      </p:sp>
      <p:sp>
        <p:nvSpPr>
          <p:cNvPr id="6" name="Shape 4"/>
          <p:cNvSpPr/>
          <p:nvPr/>
        </p:nvSpPr>
        <p:spPr>
          <a:xfrm>
            <a:off x="2157984" y="4091940"/>
            <a:ext cx="292608" cy="1051560"/>
          </a:xfrm>
          <a:prstGeom prst="rect">
            <a:avLst/>
          </a:prstGeom>
          <a:solidFill>
            <a:srgbClr val="2350D0">
              <a:alpha val="30000"/>
            </a:srgbClr>
          </a:solidFill>
          <a:ln/>
        </p:spPr>
      </p:sp>
      <p:sp>
        <p:nvSpPr>
          <p:cNvPr id="7" name="Shape 5"/>
          <p:cNvSpPr/>
          <p:nvPr/>
        </p:nvSpPr>
        <p:spPr>
          <a:xfrm>
            <a:off x="2560320" y="4274820"/>
            <a:ext cx="292608" cy="868680"/>
          </a:xfrm>
          <a:prstGeom prst="rect">
            <a:avLst/>
          </a:prstGeom>
          <a:solidFill>
            <a:srgbClr val="2350D0">
              <a:alpha val="30000"/>
            </a:srgbClr>
          </a:solidFill>
          <a:ln/>
        </p:spPr>
      </p:sp>
      <p:sp>
        <p:nvSpPr>
          <p:cNvPr id="8" name="Shape 6"/>
          <p:cNvSpPr/>
          <p:nvPr/>
        </p:nvSpPr>
        <p:spPr>
          <a:xfrm>
            <a:off x="2962656" y="3863340"/>
            <a:ext cx="292608" cy="1280160"/>
          </a:xfrm>
          <a:prstGeom prst="rect">
            <a:avLst/>
          </a:prstGeom>
          <a:solidFill>
            <a:srgbClr val="2350D0">
              <a:alpha val="30000"/>
            </a:srgbClr>
          </a:solidFill>
          <a:ln/>
        </p:spPr>
      </p:sp>
      <p:sp>
        <p:nvSpPr>
          <p:cNvPr id="9" name="Text 7"/>
          <p:cNvSpPr/>
          <p:nvPr>
            <p:ph idx="107" type="title" hasCustomPrompt="1"/>
          </p:nvPr>
        </p:nvSpPr>
        <p:spPr>
          <a:xfrm>
            <a:off x="548640" y="1783080"/>
            <a:ext cx="4754880" cy="868680"/>
          </a:xfrm>
          <a:prstGeom prst="rect">
            <a:avLst/>
          </a:prstGeom>
          <a:noFill/>
          <a:ln/>
        </p:spPr>
        <p:txBody>
          <a:bodyPr wrap="square" rtlCol="0"/>
          <a:lstStyle>
            <a:lvl1pPr algn="l" indent="0" marL="0">
              <a:buNone/>
              <a:defRPr lang="en-US" sz="5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000" dirty="0"/>
          </a:p>
        </p:txBody>
      </p:sp>
      <p:sp>
        <p:nvSpPr>
          <p:cNvPr id="10" name="Text 7"/>
          <p:cNvSpPr/>
          <p:nvPr>
            <p:ph idx="108" type="body" hasCustomPrompt="1"/>
          </p:nvPr>
        </p:nvSpPr>
        <p:spPr>
          <a:xfrm>
            <a:off x="548640" y="2697480"/>
            <a:ext cx="4572000" cy="777240"/>
          </a:xfrm>
          <a:prstGeom prst="rect">
            <a:avLst/>
          </a:prstGeom>
          <a:noFill/>
          <a:ln/>
        </p:spPr>
        <p:txBody>
          <a:bodyPr wrap="square" rtlCol="0"/>
          <a:lstStyle>
            <a:lvl1pPr algn="l" indent="0" marL="0">
              <a:buNone/>
              <a:defRPr lang="en-US" sz="2000" dirty="0">
                <a:solidFill>
                  <a:srgbClr val="CBD5E1"/>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B_CONTENT">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8156448" y="731520"/>
            <a:ext cx="118872" cy="164592"/>
          </a:xfrm>
          <a:prstGeom prst="rect">
            <a:avLst/>
          </a:prstGeom>
          <a:solidFill>
            <a:srgbClr val="E2E8F0"/>
          </a:solidFill>
          <a:ln/>
        </p:spPr>
      </p:sp>
      <p:sp>
        <p:nvSpPr>
          <p:cNvPr id="3" name="Shape 1"/>
          <p:cNvSpPr/>
          <p:nvPr/>
        </p:nvSpPr>
        <p:spPr>
          <a:xfrm>
            <a:off x="8339328" y="621792"/>
            <a:ext cx="118872" cy="274320"/>
          </a:xfrm>
          <a:prstGeom prst="rect">
            <a:avLst/>
          </a:prstGeom>
          <a:solidFill>
            <a:srgbClr val="E2E8F0"/>
          </a:solidFill>
          <a:ln/>
        </p:spPr>
      </p:sp>
      <p:sp>
        <p:nvSpPr>
          <p:cNvPr id="4" name="Shape 2"/>
          <p:cNvSpPr/>
          <p:nvPr/>
        </p:nvSpPr>
        <p:spPr>
          <a:xfrm>
            <a:off x="8522208" y="676656"/>
            <a:ext cx="118872" cy="219456"/>
          </a:xfrm>
          <a:prstGeom prst="rect">
            <a:avLst/>
          </a:prstGeom>
          <a:solidFill>
            <a:srgbClr val="E2E8F0"/>
          </a:solidFill>
          <a:ln/>
        </p:spPr>
      </p:sp>
      <p:sp>
        <p:nvSpPr>
          <p:cNvPr id="5" name="Shape 3"/>
          <p:cNvSpPr/>
          <p:nvPr/>
        </p:nvSpPr>
        <p:spPr>
          <a:xfrm>
            <a:off x="8705088" y="512064"/>
            <a:ext cx="118872" cy="384048"/>
          </a:xfrm>
          <a:prstGeom prst="rect">
            <a:avLst/>
          </a:prstGeom>
          <a:solidFill>
            <a:srgbClr val="E2E8F0"/>
          </a:solidFill>
          <a:ln/>
        </p:spPr>
      </p:sp>
      <p:sp>
        <p:nvSpPr>
          <p:cNvPr id="6" name="Shape 4"/>
          <p:cNvSpPr/>
          <p:nvPr/>
        </p:nvSpPr>
        <p:spPr>
          <a:xfrm>
            <a:off x="8887968" y="384048"/>
            <a:ext cx="118872" cy="512064"/>
          </a:xfrm>
          <a:prstGeom prst="rect">
            <a:avLst/>
          </a:prstGeom>
          <a:solidFill>
            <a:srgbClr val="E2E8F0"/>
          </a:solidFill>
          <a:ln/>
        </p:spPr>
      </p:sp>
      <p:sp>
        <p:nvSpPr>
          <p:cNvPr id="7" name="Text 5"/>
          <p:cNvSpPr/>
          <p:nvPr>
            <p:ph idx="105" type="title" hasCustomPrompt="1"/>
          </p:nvPr>
        </p:nvSpPr>
        <p:spPr>
          <a:xfrm>
            <a:off x="457200" y="292608"/>
            <a:ext cx="7498080" cy="658368"/>
          </a:xfrm>
          <a:prstGeom prst="rect">
            <a:avLst/>
          </a:prstGeom>
          <a:noFill/>
          <a:ln/>
        </p:spPr>
        <p:txBody>
          <a:bodyPr wrap="square" rtlCol="0"/>
          <a:lstStyle>
            <a:lvl1pPr algn="l" indent="0" marL="0">
              <a:buNone/>
              <a:defRPr lang="en-US" sz="2800" b="1" dirty="0">
                <a:solidFill>
                  <a:srgbClr val="0B1F3A"/>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FinBridge loqosu">    </p:cNvPr>
          <p:cNvPicPr>
            <a:picLocks noChangeAspect="1"/>
          </p:cNvPicPr>
          <p:nvPr/>
        </p:nvPicPr>
        <p:blipFill>
          <a:blip r:embed="rId1"/>
          <a:stretch>
            <a:fillRect/>
          </a:stretch>
        </p:blipFill>
        <p:spPr>
          <a:xfrm>
            <a:off x="548640" y="1188720"/>
            <a:ext cx="502920" cy="502920"/>
          </a:xfrm>
          <a:prstGeom prst="rect">
            <a:avLst/>
          </a:prstGeom>
        </p:spPr>
      </p:pic>
      <p:sp>
        <p:nvSpPr>
          <p:cNvPr id="3" name="Text 7"/>
          <p:cNvSpPr/>
          <p:nvPr>
            <p:ph idx="107" type="title" hasCustomPrompt="1"/>
          </p:nvPr>
        </p:nvSpPr>
        <p:spPr>
          <a:xfrm>
            <a:off x="548640" y="1783080"/>
            <a:ext cx="4754880" cy="868680"/>
          </a:xfrm>
          <a:prstGeom prst="rect">
            <a:avLst/>
          </a:prstGeom>
          <a:noFill/>
          <a:ln/>
        </p:spPr>
        <p:txBody>
          <a:bodyPr wrap="square" lIns="0" tIns="0" rIns="0" bIns="0" rtlCol="0" anchor="ctr"/>
          <a:lstStyle/>
          <a:p>
            <a:pPr algn="l" indent="0" marL="0">
              <a:buNone/>
            </a:pPr>
            <a:r>
              <a:rPr lang="en-US" sz="5000" b="1" dirty="0">
                <a:solidFill>
                  <a:schemeClr val="bg1"/>
                </a:solidFill>
                <a:latin typeface="Cambria" pitchFamily="34" charset="0"/>
                <a:ea typeface="Cambria" pitchFamily="34" charset="-122"/>
                <a:cs typeface="Cambria" pitchFamily="34" charset="-120"/>
              </a:rPr>
              <a:t>FinBridge</a:t>
            </a:r>
            <a:endParaRPr lang="en-US" sz="5000" dirty="0"/>
          </a:p>
        </p:txBody>
      </p:sp>
      <p:sp>
        <p:nvSpPr>
          <p:cNvPr id="4" name="Text 7"/>
          <p:cNvSpPr/>
          <p:nvPr>
            <p:ph idx="108" type="body" hasCustomPrompt="1"/>
          </p:nvPr>
        </p:nvSpPr>
        <p:spPr>
          <a:xfrm>
            <a:off x="548640" y="2697480"/>
            <a:ext cx="4572000" cy="777240"/>
          </a:xfrm>
          <a:prstGeom prst="rect">
            <a:avLst/>
          </a:prstGeom>
          <a:noFill/>
          <a:ln/>
        </p:spPr>
        <p:txBody>
          <a:bodyPr wrap="square" lIns="0" tIns="0" rIns="0" bIns="0"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Büdcə planlaması və nəzarəti — Excel-siz</a:t>
            </a:r>
            <a:endParaRPr lang="en-US" sz="2000" dirty="0"/>
          </a:p>
        </p:txBody>
      </p:sp>
      <p:sp>
        <p:nvSpPr>
          <p:cNvPr id="5" name="text-1"/>
          <p:cNvSpPr txBox="1"/>
          <p:nvPr/>
        </p:nvSpPr>
        <p:spPr>
          <a:xfrm>
            <a:off x="548640" y="3429000"/>
            <a:ext cx="4572000" cy="274320"/>
          </a:xfrm>
          <a:prstGeom prst="rect">
            <a:avLst/>
          </a:prstGeom>
          <a:noFill/>
          <a:ln/>
        </p:spPr>
        <p:txBody>
          <a:bodyPr wrap="square" lIns="0" tIns="0" rIns="0" bIns="0" rtlCol="0" anchor="t"/>
          <a:lstStyle/>
          <a:p>
            <a:pPr algn="l" indent="0" marL="0">
              <a:lnSpc>
                <a:spcPct val="105000"/>
              </a:lnSpc>
              <a:buNone/>
            </a:pPr>
            <a:r>
              <a:rPr lang="en-US" sz="1200" dirty="0">
                <a:solidFill>
                  <a:schemeClr val="accent5"/>
                </a:solidFill>
              </a:rPr>
              <a:t>B2B  ·  FP&amp;A platforması  ·  Azərbaycan dilində</a:t>
            </a:r>
            <a:endParaRPr lang="en-US" sz="1200" dirty="0"/>
          </a:p>
        </p:txBody>
      </p:sp>
      <p:sp>
        <p:nvSpPr>
          <p:cNvPr id="6" name="mock-card-2"/>
          <p:cNvSpPr/>
          <p:nvPr/>
        </p:nvSpPr>
        <p:spPr>
          <a:xfrm>
            <a:off x="5623560" y="868680"/>
            <a:ext cx="2971800" cy="3429000"/>
          </a:xfrm>
          <a:prstGeom prst="roundRect">
            <a:avLst>
              <a:gd name="adj" fmla="val 3077"/>
            </a:avLst>
          </a:prstGeom>
          <a:solidFill>
            <a:schemeClr val="bg1"/>
          </a:solidFill>
          <a:ln/>
          <a:effectLst>
            <a:outerShdw sx="100000" sy="100000" kx="0" ky="0" algn="bl" rotWithShape="0" blurRad="127000" dist="25400" dir="5400000">
              <a:srgbClr val="0B1F3A">
                <a:alpha val="8000"/>
              </a:srgbClr>
            </a:outerShdw>
          </a:effectLst>
        </p:spPr>
      </p:sp>
      <p:sp>
        <p:nvSpPr>
          <p:cNvPr id="7" name="text-3"/>
          <p:cNvSpPr txBox="1"/>
          <p:nvPr/>
        </p:nvSpPr>
        <p:spPr>
          <a:xfrm>
            <a:off x="5897880" y="1097280"/>
            <a:ext cx="2468880" cy="228600"/>
          </a:xfrm>
          <a:prstGeom prst="rect">
            <a:avLst/>
          </a:prstGeom>
          <a:noFill/>
          <a:ln/>
        </p:spPr>
        <p:txBody>
          <a:bodyPr wrap="square" lIns="0" tIns="0" rIns="0" bIns="0" rtlCol="0" anchor="t"/>
          <a:lstStyle/>
          <a:p>
            <a:pPr algn="l" indent="0" marL="0">
              <a:lnSpc>
                <a:spcPct val="105000"/>
              </a:lnSpc>
              <a:buNone/>
            </a:pPr>
            <a:r>
              <a:rPr lang="en-US" sz="1000" dirty="0">
                <a:solidFill>
                  <a:schemeClr val="accent4"/>
                </a:solidFill>
              </a:rPr>
              <a:t>Büdcə 2027 · planlama</a:t>
            </a:r>
            <a:endParaRPr lang="en-US" sz="1000" dirty="0"/>
          </a:p>
        </p:txBody>
      </p:sp>
      <p:sp>
        <p:nvSpPr>
          <p:cNvPr id="8" name="text-4"/>
          <p:cNvSpPr txBox="1"/>
          <p:nvPr/>
        </p:nvSpPr>
        <p:spPr>
          <a:xfrm>
            <a:off x="5897880" y="1325880"/>
            <a:ext cx="2468880" cy="457200"/>
          </a:xfrm>
          <a:prstGeom prst="rect">
            <a:avLst/>
          </a:prstGeom>
          <a:noFill/>
          <a:ln/>
        </p:spPr>
        <p:txBody>
          <a:bodyPr wrap="square" lIns="0" tIns="0" rIns="0" bIns="0" rtlCol="0" anchor="t"/>
          <a:lstStyle/>
          <a:p>
            <a:pPr algn="l" indent="0" marL="0">
              <a:lnSpc>
                <a:spcPct val="105000"/>
              </a:lnSpc>
              <a:buNone/>
            </a:pPr>
            <a:r>
              <a:rPr lang="en-US" sz="1500" b="1" dirty="0">
                <a:solidFill>
                  <a:schemeClr val="tx1"/>
                </a:solidFill>
                <a:latin typeface="Cambria" pitchFamily="34" charset="0"/>
                <a:ea typeface="Cambria" pitchFamily="34" charset="-122"/>
                <a:cs typeface="Cambria" pitchFamily="34" charset="-120"/>
              </a:rPr>
              <a:t>Plan keçmiş faktla yan-yana</a:t>
            </a:r>
            <a:endParaRPr lang="en-US" sz="1500" dirty="0"/>
          </a:p>
        </p:txBody>
      </p:sp>
      <p:sp>
        <p:nvSpPr>
          <p:cNvPr id="9" name="text-5"/>
          <p:cNvSpPr txBox="1"/>
          <p:nvPr/>
        </p:nvSpPr>
        <p:spPr>
          <a:xfrm>
            <a:off x="5897880" y="1901952"/>
            <a:ext cx="1463040" cy="219456"/>
          </a:xfrm>
          <a:prstGeom prst="rect">
            <a:avLst/>
          </a:prstGeom>
          <a:noFill/>
          <a:ln/>
        </p:spPr>
        <p:txBody>
          <a:bodyPr wrap="square" lIns="0" tIns="0" rIns="0" bIns="0" rtlCol="0" anchor="t"/>
          <a:lstStyle/>
          <a:p>
            <a:pPr algn="l" indent="0" marL="0">
              <a:lnSpc>
                <a:spcPct val="105000"/>
              </a:lnSpc>
              <a:buNone/>
            </a:pPr>
            <a:r>
              <a:rPr lang="en-US" sz="1100" dirty="0">
                <a:solidFill>
                  <a:schemeClr val="tx2"/>
                </a:solidFill>
              </a:rPr>
              <a:t>Fakt 2025</a:t>
            </a:r>
            <a:endParaRPr lang="en-US" sz="1100" dirty="0"/>
          </a:p>
        </p:txBody>
      </p:sp>
      <p:sp>
        <p:nvSpPr>
          <p:cNvPr id="10" name="text-6"/>
          <p:cNvSpPr txBox="1"/>
          <p:nvPr/>
        </p:nvSpPr>
        <p:spPr>
          <a:xfrm>
            <a:off x="7360920" y="1901952"/>
            <a:ext cx="960120" cy="219456"/>
          </a:xfrm>
          <a:prstGeom prst="rect">
            <a:avLst/>
          </a:prstGeom>
          <a:noFill/>
          <a:ln/>
        </p:spPr>
        <p:txBody>
          <a:bodyPr wrap="square" lIns="0" tIns="0" rIns="0" bIns="0" rtlCol="0" anchor="t"/>
          <a:lstStyle/>
          <a:p>
            <a:pPr algn="r" indent="0" marL="0">
              <a:lnSpc>
                <a:spcPct val="105000"/>
              </a:lnSpc>
              <a:buNone/>
            </a:pPr>
            <a:r>
              <a:rPr lang="en-US" sz="1200" b="1" dirty="0">
                <a:solidFill>
                  <a:schemeClr val="tx1"/>
                </a:solidFill>
              </a:rPr>
              <a:t>3,06M</a:t>
            </a:r>
            <a:endParaRPr lang="en-US" sz="1200" dirty="0"/>
          </a:p>
        </p:txBody>
      </p:sp>
      <p:sp>
        <p:nvSpPr>
          <p:cNvPr id="11" name="bar-track-7"/>
          <p:cNvSpPr/>
          <p:nvPr/>
        </p:nvSpPr>
        <p:spPr>
          <a:xfrm>
            <a:off x="5897880" y="2176272"/>
            <a:ext cx="2423160" cy="82296"/>
          </a:xfrm>
          <a:prstGeom prst="roundRect">
            <a:avLst>
              <a:gd name="adj" fmla="val 50000"/>
            </a:avLst>
          </a:prstGeom>
          <a:solidFill>
            <a:schemeClr val="accent6"/>
          </a:solidFill>
          <a:ln/>
        </p:spPr>
      </p:sp>
      <p:sp>
        <p:nvSpPr>
          <p:cNvPr id="12" name="bar-8"/>
          <p:cNvSpPr/>
          <p:nvPr/>
        </p:nvSpPr>
        <p:spPr>
          <a:xfrm>
            <a:off x="5897880" y="2176272"/>
            <a:ext cx="2253760" cy="82296"/>
          </a:xfrm>
          <a:prstGeom prst="roundRect">
            <a:avLst>
              <a:gd name="adj" fmla="val 50000"/>
            </a:avLst>
          </a:prstGeom>
          <a:solidFill>
            <a:schemeClr val="accent1"/>
          </a:solidFill>
          <a:ln/>
        </p:spPr>
      </p:sp>
      <p:sp>
        <p:nvSpPr>
          <p:cNvPr id="13" name="text-9"/>
          <p:cNvSpPr txBox="1"/>
          <p:nvPr/>
        </p:nvSpPr>
        <p:spPr>
          <a:xfrm>
            <a:off x="5897880" y="2359152"/>
            <a:ext cx="1463040" cy="219456"/>
          </a:xfrm>
          <a:prstGeom prst="rect">
            <a:avLst/>
          </a:prstGeom>
          <a:noFill/>
          <a:ln/>
        </p:spPr>
        <p:txBody>
          <a:bodyPr wrap="square" lIns="0" tIns="0" rIns="0" bIns="0" rtlCol="0" anchor="t"/>
          <a:lstStyle/>
          <a:p>
            <a:pPr algn="l" indent="0" marL="0">
              <a:lnSpc>
                <a:spcPct val="105000"/>
              </a:lnSpc>
              <a:buNone/>
            </a:pPr>
            <a:r>
              <a:rPr lang="en-US" sz="1100" dirty="0">
                <a:solidFill>
                  <a:schemeClr val="tx2"/>
                </a:solidFill>
              </a:rPr>
              <a:t>Proqnoz 2026</a:t>
            </a:r>
            <a:endParaRPr lang="en-US" sz="1100" dirty="0"/>
          </a:p>
        </p:txBody>
      </p:sp>
      <p:sp>
        <p:nvSpPr>
          <p:cNvPr id="14" name="text-10"/>
          <p:cNvSpPr txBox="1"/>
          <p:nvPr/>
        </p:nvSpPr>
        <p:spPr>
          <a:xfrm>
            <a:off x="7360920" y="2359152"/>
            <a:ext cx="960120" cy="219456"/>
          </a:xfrm>
          <a:prstGeom prst="rect">
            <a:avLst/>
          </a:prstGeom>
          <a:noFill/>
          <a:ln/>
        </p:spPr>
        <p:txBody>
          <a:bodyPr wrap="square" lIns="0" tIns="0" rIns="0" bIns="0" rtlCol="0" anchor="t"/>
          <a:lstStyle/>
          <a:p>
            <a:pPr algn="r" indent="0" marL="0">
              <a:lnSpc>
                <a:spcPct val="105000"/>
              </a:lnSpc>
              <a:buNone/>
            </a:pPr>
            <a:r>
              <a:rPr lang="en-US" sz="1200" b="1" dirty="0">
                <a:solidFill>
                  <a:schemeClr val="tx1"/>
                </a:solidFill>
              </a:rPr>
              <a:t>3,21M</a:t>
            </a:r>
            <a:endParaRPr lang="en-US" sz="1200" dirty="0"/>
          </a:p>
        </p:txBody>
      </p:sp>
      <p:sp>
        <p:nvSpPr>
          <p:cNvPr id="15" name="bar-track-11"/>
          <p:cNvSpPr/>
          <p:nvPr/>
        </p:nvSpPr>
        <p:spPr>
          <a:xfrm>
            <a:off x="5897880" y="2633472"/>
            <a:ext cx="2423160" cy="82296"/>
          </a:xfrm>
          <a:prstGeom prst="roundRect">
            <a:avLst>
              <a:gd name="adj" fmla="val 50000"/>
            </a:avLst>
          </a:prstGeom>
          <a:solidFill>
            <a:schemeClr val="accent6"/>
          </a:solidFill>
          <a:ln/>
        </p:spPr>
      </p:sp>
      <p:sp>
        <p:nvSpPr>
          <p:cNvPr id="16" name="bar-12"/>
          <p:cNvSpPr/>
          <p:nvPr/>
        </p:nvSpPr>
        <p:spPr>
          <a:xfrm>
            <a:off x="5897880" y="2633472"/>
            <a:ext cx="2364238" cy="82296"/>
          </a:xfrm>
          <a:prstGeom prst="roundRect">
            <a:avLst>
              <a:gd name="adj" fmla="val 50000"/>
            </a:avLst>
          </a:prstGeom>
          <a:solidFill>
            <a:schemeClr val="accent1">
              <a:alpha val="55000"/>
            </a:schemeClr>
          </a:solidFill>
          <a:ln/>
        </p:spPr>
      </p:sp>
      <p:sp>
        <p:nvSpPr>
          <p:cNvPr id="17" name="text-13"/>
          <p:cNvSpPr txBox="1"/>
          <p:nvPr/>
        </p:nvSpPr>
        <p:spPr>
          <a:xfrm>
            <a:off x="5897880" y="2816352"/>
            <a:ext cx="1463040" cy="219456"/>
          </a:xfrm>
          <a:prstGeom prst="rect">
            <a:avLst/>
          </a:prstGeom>
          <a:noFill/>
          <a:ln/>
        </p:spPr>
        <p:txBody>
          <a:bodyPr wrap="square" lIns="0" tIns="0" rIns="0" bIns="0" rtlCol="0" anchor="t"/>
          <a:lstStyle/>
          <a:p>
            <a:pPr algn="l" indent="0" marL="0">
              <a:lnSpc>
                <a:spcPct val="105000"/>
              </a:lnSpc>
              <a:buNone/>
            </a:pPr>
            <a:r>
              <a:rPr lang="en-US" sz="1100" dirty="0">
                <a:solidFill>
                  <a:schemeClr val="tx2"/>
                </a:solidFill>
              </a:rPr>
              <a:t>Plan 2027</a:t>
            </a:r>
            <a:endParaRPr lang="en-US" sz="1100" dirty="0"/>
          </a:p>
        </p:txBody>
      </p:sp>
      <p:sp>
        <p:nvSpPr>
          <p:cNvPr id="18" name="text-14"/>
          <p:cNvSpPr txBox="1"/>
          <p:nvPr/>
        </p:nvSpPr>
        <p:spPr>
          <a:xfrm>
            <a:off x="7360920" y="2816352"/>
            <a:ext cx="960120" cy="219456"/>
          </a:xfrm>
          <a:prstGeom prst="rect">
            <a:avLst/>
          </a:prstGeom>
          <a:noFill/>
          <a:ln/>
        </p:spPr>
        <p:txBody>
          <a:bodyPr wrap="square" lIns="0" tIns="0" rIns="0" bIns="0" rtlCol="0" anchor="t"/>
          <a:lstStyle/>
          <a:p>
            <a:pPr algn="r" indent="0" marL="0">
              <a:lnSpc>
                <a:spcPct val="105000"/>
              </a:lnSpc>
              <a:buNone/>
            </a:pPr>
            <a:r>
              <a:rPr lang="en-US" sz="1200" b="1" dirty="0">
                <a:solidFill>
                  <a:schemeClr val="tx1"/>
                </a:solidFill>
              </a:rPr>
              <a:t>3,29M</a:t>
            </a:r>
            <a:endParaRPr lang="en-US" sz="1200" dirty="0"/>
          </a:p>
        </p:txBody>
      </p:sp>
      <p:sp>
        <p:nvSpPr>
          <p:cNvPr id="19" name="bar-track-15"/>
          <p:cNvSpPr/>
          <p:nvPr/>
        </p:nvSpPr>
        <p:spPr>
          <a:xfrm>
            <a:off x="5897880" y="3090672"/>
            <a:ext cx="2423160" cy="82296"/>
          </a:xfrm>
          <a:prstGeom prst="roundRect">
            <a:avLst>
              <a:gd name="adj" fmla="val 50000"/>
            </a:avLst>
          </a:prstGeom>
          <a:solidFill>
            <a:schemeClr val="accent6"/>
          </a:solidFill>
          <a:ln/>
        </p:spPr>
      </p:sp>
      <p:sp>
        <p:nvSpPr>
          <p:cNvPr id="20" name="bar-16"/>
          <p:cNvSpPr/>
          <p:nvPr/>
        </p:nvSpPr>
        <p:spPr>
          <a:xfrm>
            <a:off x="5897880" y="3090672"/>
            <a:ext cx="2423160" cy="82296"/>
          </a:xfrm>
          <a:prstGeom prst="roundRect">
            <a:avLst>
              <a:gd name="adj" fmla="val 50000"/>
            </a:avLst>
          </a:prstGeom>
          <a:solidFill>
            <a:schemeClr val="accent2"/>
          </a:solidFill>
          <a:ln/>
        </p:spPr>
      </p:sp>
      <p:sp>
        <p:nvSpPr>
          <p:cNvPr id="21" name="chip-17"/>
          <p:cNvSpPr/>
          <p:nvPr/>
        </p:nvSpPr>
        <p:spPr>
          <a:xfrm>
            <a:off x="5897880" y="3310128"/>
            <a:ext cx="1600200" cy="274320"/>
          </a:xfrm>
          <a:prstGeom prst="roundRect">
            <a:avLst>
              <a:gd name="adj" fmla="val 50000"/>
            </a:avLst>
          </a:prstGeom>
          <a:solidFill>
            <a:schemeClr val="accent2">
              <a:alpha val="12000"/>
            </a:schemeClr>
          </a:solidFill>
          <a:ln/>
        </p:spPr>
      </p:sp>
      <p:sp>
        <p:nvSpPr>
          <p:cNvPr id="22" name="chip-text-18"/>
          <p:cNvSpPr txBox="1"/>
          <p:nvPr/>
        </p:nvSpPr>
        <p:spPr>
          <a:xfrm>
            <a:off x="5897880" y="3310128"/>
            <a:ext cx="160020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2"/>
                </a:solidFill>
              </a:rPr>
              <a:t>▲ +2,6% son faktdan</a:t>
            </a:r>
            <a:endParaRPr lang="en-US" sz="1100" dirty="0"/>
          </a:p>
        </p:txBody>
      </p:sp>
      <p:sp>
        <p:nvSpPr>
          <p:cNvPr id="23" name="mock-button"/>
          <p:cNvSpPr/>
          <p:nvPr/>
        </p:nvSpPr>
        <p:spPr>
          <a:xfrm>
            <a:off x="5897880" y="3721608"/>
            <a:ext cx="2423160" cy="365760"/>
          </a:xfrm>
          <a:prstGeom prst="roundRect">
            <a:avLst>
              <a:gd name="adj" fmla="val 20000"/>
            </a:avLst>
          </a:prstGeom>
          <a:solidFill>
            <a:schemeClr val="accent1"/>
          </a:solidFill>
          <a:ln/>
        </p:spPr>
      </p:sp>
      <p:sp>
        <p:nvSpPr>
          <p:cNvPr id="24" name="text-19"/>
          <p:cNvSpPr txBox="1"/>
          <p:nvPr/>
        </p:nvSpPr>
        <p:spPr>
          <a:xfrm>
            <a:off x="5897880" y="3721608"/>
            <a:ext cx="2423160" cy="365760"/>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Təsdiqə göndər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Büdcə ya yoxdur, ya da Excel-də dağınıqdır</a:t>
            </a:r>
            <a:endParaRPr lang="en-US" sz="2800" dirty="0"/>
          </a:p>
        </p:txBody>
      </p:sp>
      <p:sp>
        <p:nvSpPr>
          <p:cNvPr id="3" name="statement-20"/>
          <p:cNvSpPr/>
          <p:nvPr/>
        </p:nvSpPr>
        <p:spPr>
          <a:xfrm>
            <a:off x="457200" y="1234440"/>
            <a:ext cx="3749040" cy="3383280"/>
          </a:xfrm>
          <a:prstGeom prst="roundRect">
            <a:avLst>
              <a:gd name="adj" fmla="val 2703"/>
            </a:avLst>
          </a:prstGeom>
          <a:solidFill>
            <a:schemeClr val="tx1"/>
          </a:solidFill>
          <a:ln/>
          <a:effectLst>
            <a:outerShdw sx="100000" sy="100000" kx="0" ky="0" algn="bl" rotWithShape="0" blurRad="127000" dist="25400" dir="5400000">
              <a:srgbClr val="0B1F3A">
                <a:alpha val="8000"/>
              </a:srgbClr>
            </a:outerShdw>
          </a:effectLst>
        </p:spPr>
      </p:sp>
      <p:pic>
        <p:nvPicPr>
          <p:cNvPr id="4" name="statement-icon" descr="Excel faylı">    </p:cNvPr>
          <p:cNvPicPr>
            <a:picLocks noChangeAspect="1"/>
          </p:cNvPicPr>
          <p:nvPr/>
        </p:nvPicPr>
        <p:blipFill>
          <a:blip r:embed="rId1"/>
          <a:stretch>
            <a:fillRect/>
          </a:stretch>
        </p:blipFill>
        <p:spPr>
          <a:xfrm>
            <a:off x="777240" y="1554480"/>
            <a:ext cx="548640" cy="548640"/>
          </a:xfrm>
          <a:prstGeom prst="rect">
            <a:avLst/>
          </a:prstGeom>
        </p:spPr>
      </p:pic>
      <p:sp>
        <p:nvSpPr>
          <p:cNvPr id="5" name="text-21"/>
          <p:cNvSpPr txBox="1"/>
          <p:nvPr/>
        </p:nvSpPr>
        <p:spPr>
          <a:xfrm>
            <a:off x="777240" y="2286000"/>
            <a:ext cx="3154680" cy="1280160"/>
          </a:xfrm>
          <a:prstGeom prst="rect">
            <a:avLst/>
          </a:prstGeom>
          <a:noFill/>
          <a:ln/>
        </p:spPr>
        <p:txBody>
          <a:bodyPr wrap="square" lIns="0" tIns="0" rIns="0" bIns="0" rtlCol="0" anchor="t"/>
          <a:lstStyle/>
          <a:p>
            <a:pPr algn="l" indent="0" marL="0">
              <a:lnSpc>
                <a:spcPct val="110000"/>
              </a:lnSpc>
              <a:buNone/>
            </a:pPr>
            <a:r>
              <a:rPr lang="en-US" sz="2400" b="1" dirty="0">
                <a:solidFill>
                  <a:schemeClr val="bg1"/>
                </a:solidFill>
                <a:latin typeface="Cambria" pitchFamily="34" charset="0"/>
                <a:ea typeface="Cambria" pitchFamily="34" charset="-122"/>
                <a:cs typeface="Cambria" pitchFamily="34" charset="-120"/>
              </a:rPr>
              <a:t>Büdcə planlanmır — ya da onlarla Excel faylında itir.</a:t>
            </a:r>
            <a:endParaRPr lang="en-US" sz="2400" dirty="0"/>
          </a:p>
        </p:txBody>
      </p:sp>
      <p:sp>
        <p:nvSpPr>
          <p:cNvPr id="6" name="text-22"/>
          <p:cNvSpPr txBox="1"/>
          <p:nvPr/>
        </p:nvSpPr>
        <p:spPr>
          <a:xfrm>
            <a:off x="777240" y="3703320"/>
            <a:ext cx="3154680" cy="640080"/>
          </a:xfrm>
          <a:prstGeom prst="rect">
            <a:avLst/>
          </a:prstGeom>
          <a:noFill/>
          <a:ln/>
        </p:spPr>
        <p:txBody>
          <a:bodyPr wrap="square" lIns="0" tIns="0" rIns="0" bIns="0" rtlCol="0" anchor="t"/>
          <a:lstStyle/>
          <a:p>
            <a:pPr algn="l" indent="0" marL="0">
              <a:lnSpc>
                <a:spcPct val="105000"/>
              </a:lnSpc>
              <a:buNone/>
            </a:pPr>
            <a:r>
              <a:rPr lang="en-US" sz="1300" dirty="0">
                <a:solidFill>
                  <a:schemeClr val="accent5"/>
                </a:solidFill>
              </a:rPr>
              <a:t>Nəticə: büdcəni il boyu izləmək çətindir, hesablamalarda səhvlər olur.</a:t>
            </a:r>
            <a:endParaRPr lang="en-US" sz="1300" dirty="0"/>
          </a:p>
        </p:txBody>
      </p:sp>
      <p:sp>
        <p:nvSpPr>
          <p:cNvPr id="7" name="problem-card-23"/>
          <p:cNvSpPr/>
          <p:nvPr/>
        </p:nvSpPr>
        <p:spPr>
          <a:xfrm>
            <a:off x="4480560" y="1234440"/>
            <a:ext cx="42062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8" name="icon-bg-24"/>
          <p:cNvSpPr/>
          <p:nvPr/>
        </p:nvSpPr>
        <p:spPr>
          <a:xfrm>
            <a:off x="4709160" y="1453896"/>
            <a:ext cx="566928" cy="566928"/>
          </a:xfrm>
          <a:prstGeom prst="ellipse">
            <a:avLst/>
          </a:prstGeom>
          <a:solidFill>
            <a:schemeClr val="accent3">
              <a:alpha val="12000"/>
            </a:schemeClr>
          </a:solidFill>
          <a:ln/>
        </p:spPr>
      </p:sp>
      <p:pic>
        <p:nvPicPr>
          <p:cNvPr id="9" name="icon-LuCalendarX-25" descr="CalendarX">    </p:cNvPr>
          <p:cNvPicPr>
            <a:picLocks noChangeAspect="1"/>
          </p:cNvPicPr>
          <p:nvPr/>
        </p:nvPicPr>
        <p:blipFill>
          <a:blip r:embed="rId2"/>
          <a:stretch>
            <a:fillRect/>
          </a:stretch>
        </p:blipFill>
        <p:spPr>
          <a:xfrm>
            <a:off x="4845223" y="1589959"/>
            <a:ext cx="294803" cy="294803"/>
          </a:xfrm>
          <a:prstGeom prst="rect">
            <a:avLst/>
          </a:prstGeom>
        </p:spPr>
      </p:pic>
      <p:sp>
        <p:nvSpPr>
          <p:cNvPr id="10" name="text-26"/>
          <p:cNvSpPr txBox="1"/>
          <p:nvPr/>
        </p:nvSpPr>
        <p:spPr>
          <a:xfrm>
            <a:off x="5486400" y="1417320"/>
            <a:ext cx="3017520" cy="292608"/>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Planlanmır</a:t>
            </a:r>
            <a:endParaRPr lang="en-US" sz="1600" dirty="0"/>
          </a:p>
        </p:txBody>
      </p:sp>
      <p:sp>
        <p:nvSpPr>
          <p:cNvPr id="11" name="text-27"/>
          <p:cNvSpPr txBox="1"/>
          <p:nvPr/>
        </p:nvSpPr>
        <p:spPr>
          <a:xfrm>
            <a:off x="5486400" y="1728216"/>
            <a:ext cx="3017520" cy="41148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Xərclər yalnız ilin sonunda görünür</a:t>
            </a:r>
            <a:endParaRPr lang="en-US" sz="1200" dirty="0"/>
          </a:p>
        </p:txBody>
      </p:sp>
      <p:sp>
        <p:nvSpPr>
          <p:cNvPr id="12" name="problem-card-28"/>
          <p:cNvSpPr/>
          <p:nvPr/>
        </p:nvSpPr>
        <p:spPr>
          <a:xfrm>
            <a:off x="4480560" y="2423160"/>
            <a:ext cx="42062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13" name="icon-bg-29"/>
          <p:cNvSpPr/>
          <p:nvPr/>
        </p:nvSpPr>
        <p:spPr>
          <a:xfrm>
            <a:off x="4709160" y="2642616"/>
            <a:ext cx="566928" cy="566928"/>
          </a:xfrm>
          <a:prstGeom prst="ellipse">
            <a:avLst/>
          </a:prstGeom>
          <a:solidFill>
            <a:schemeClr val="accent3">
              <a:alpha val="12000"/>
            </a:schemeClr>
          </a:solidFill>
          <a:ln/>
        </p:spPr>
      </p:sp>
      <p:pic>
        <p:nvPicPr>
          <p:cNvPr id="14" name="icon-LuFiles-30" descr="Files">    </p:cNvPr>
          <p:cNvPicPr>
            <a:picLocks noChangeAspect="1"/>
          </p:cNvPicPr>
          <p:nvPr/>
        </p:nvPicPr>
        <p:blipFill>
          <a:blip r:embed="rId3"/>
          <a:stretch>
            <a:fillRect/>
          </a:stretch>
        </p:blipFill>
        <p:spPr>
          <a:xfrm>
            <a:off x="4845223" y="2778679"/>
            <a:ext cx="294803" cy="294803"/>
          </a:xfrm>
          <a:prstGeom prst="rect">
            <a:avLst/>
          </a:prstGeom>
        </p:spPr>
      </p:pic>
      <p:sp>
        <p:nvSpPr>
          <p:cNvPr id="15" name="text-31"/>
          <p:cNvSpPr txBox="1"/>
          <p:nvPr/>
        </p:nvSpPr>
        <p:spPr>
          <a:xfrm>
            <a:off x="5486400" y="2606040"/>
            <a:ext cx="3017520" cy="292608"/>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Pərakəndə Excel</a:t>
            </a:r>
            <a:endParaRPr lang="en-US" sz="1600" dirty="0"/>
          </a:p>
        </p:txBody>
      </p:sp>
      <p:sp>
        <p:nvSpPr>
          <p:cNvPr id="16" name="text-32"/>
          <p:cNvSpPr txBox="1"/>
          <p:nvPr/>
        </p:nvSpPr>
        <p:spPr>
          <a:xfrm>
            <a:off x="5486400" y="2916936"/>
            <a:ext cx="3017520" cy="41148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Hər departamentin öz faylı, vahid mənzərə yoxdur</a:t>
            </a:r>
            <a:endParaRPr lang="en-US" sz="1200" dirty="0"/>
          </a:p>
        </p:txBody>
      </p:sp>
      <p:sp>
        <p:nvSpPr>
          <p:cNvPr id="17" name="problem-card-33"/>
          <p:cNvSpPr/>
          <p:nvPr/>
        </p:nvSpPr>
        <p:spPr>
          <a:xfrm>
            <a:off x="4480560" y="3611880"/>
            <a:ext cx="42062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18" name="icon-bg-34"/>
          <p:cNvSpPr/>
          <p:nvPr/>
        </p:nvSpPr>
        <p:spPr>
          <a:xfrm>
            <a:off x="4709160" y="3831336"/>
            <a:ext cx="566928" cy="566928"/>
          </a:xfrm>
          <a:prstGeom prst="ellipse">
            <a:avLst/>
          </a:prstGeom>
          <a:solidFill>
            <a:schemeClr val="accent3">
              <a:alpha val="12000"/>
            </a:schemeClr>
          </a:solidFill>
          <a:ln/>
        </p:spPr>
      </p:sp>
      <p:pic>
        <p:nvPicPr>
          <p:cNvPr id="19" name="icon-LuTriangleAlert-35" descr="TriangleAlert">    </p:cNvPr>
          <p:cNvPicPr>
            <a:picLocks noChangeAspect="1"/>
          </p:cNvPicPr>
          <p:nvPr/>
        </p:nvPicPr>
        <p:blipFill>
          <a:blip r:embed="rId4"/>
          <a:stretch>
            <a:fillRect/>
          </a:stretch>
        </p:blipFill>
        <p:spPr>
          <a:xfrm>
            <a:off x="4845223" y="3967399"/>
            <a:ext cx="294803" cy="294803"/>
          </a:xfrm>
          <a:prstGeom prst="rect">
            <a:avLst/>
          </a:prstGeom>
        </p:spPr>
      </p:pic>
      <p:sp>
        <p:nvSpPr>
          <p:cNvPr id="20" name="text-36"/>
          <p:cNvSpPr txBox="1"/>
          <p:nvPr/>
        </p:nvSpPr>
        <p:spPr>
          <a:xfrm>
            <a:off x="5486400" y="3794760"/>
            <a:ext cx="3017520" cy="292608"/>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İzlənmir, səhvlər</a:t>
            </a:r>
            <a:endParaRPr lang="en-US" sz="1600" dirty="0"/>
          </a:p>
        </p:txBody>
      </p:sp>
      <p:sp>
        <p:nvSpPr>
          <p:cNvPr id="21" name="text-37"/>
          <p:cNvSpPr txBox="1"/>
          <p:nvPr/>
        </p:nvSpPr>
        <p:spPr>
          <a:xfrm>
            <a:off x="5486400" y="4105656"/>
            <a:ext cx="3017520" cy="41148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Versiya qarışıqlığı, səhv düsturlar, plan/fakt yoxdur</a:t>
            </a:r>
            <a:endParaRPr lang="en-US" sz="12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Müsahibələr: 6 şirkət, eyni problem</a:t>
            </a:r>
            <a:endParaRPr lang="en-US" sz="2800" dirty="0"/>
          </a:p>
        </p:txBody>
      </p:sp>
      <p:sp>
        <p:nvSpPr>
          <p:cNvPr id="3" name="interviews-38"/>
          <p:cNvSpPr/>
          <p:nvPr/>
        </p:nvSpPr>
        <p:spPr>
          <a:xfrm>
            <a:off x="457200" y="1234440"/>
            <a:ext cx="5120640" cy="3383280"/>
          </a:xfrm>
          <a:prstGeom prst="roundRect">
            <a:avLst>
              <a:gd name="adj" fmla="val 2703"/>
            </a:avLst>
          </a:prstGeom>
          <a:solidFill>
            <a:schemeClr val="bg1"/>
          </a:solidFill>
          <a:ln/>
          <a:effectLst>
            <a:outerShdw sx="100000" sy="100000" kx="0" ky="0" algn="bl" rotWithShape="0" blurRad="127000" dist="25400" dir="5400000">
              <a:srgbClr val="0B1F3A">
                <a:alpha val="8000"/>
              </a:srgbClr>
            </a:outerShdw>
          </a:effectLst>
        </p:spPr>
      </p:sp>
      <p:sp>
        <p:nvSpPr>
          <p:cNvPr id="4" name="text-39"/>
          <p:cNvSpPr txBox="1"/>
          <p:nvPr/>
        </p:nvSpPr>
        <p:spPr>
          <a:xfrm>
            <a:off x="731520" y="1417320"/>
            <a:ext cx="2103120" cy="201168"/>
          </a:xfrm>
          <a:prstGeom prst="rect">
            <a:avLst/>
          </a:prstGeom>
          <a:noFill/>
          <a:ln/>
        </p:spPr>
        <p:txBody>
          <a:bodyPr wrap="square" lIns="0" tIns="0" rIns="0" bIns="0" rtlCol="0" anchor="t"/>
          <a:lstStyle/>
          <a:p>
            <a:pPr algn="l" indent="0" marL="0">
              <a:lnSpc>
                <a:spcPct val="105000"/>
              </a:lnSpc>
              <a:buNone/>
            </a:pPr>
            <a:r>
              <a:rPr lang="en-US" sz="1000" b="1" dirty="0">
                <a:solidFill>
                  <a:schemeClr val="accent4"/>
                </a:solidFill>
              </a:rPr>
              <a:t>ŞİRKƏT</a:t>
            </a:r>
            <a:endParaRPr lang="en-US" sz="1000" dirty="0"/>
          </a:p>
        </p:txBody>
      </p:sp>
      <p:sp>
        <p:nvSpPr>
          <p:cNvPr id="5" name="text-40"/>
          <p:cNvSpPr txBox="1"/>
          <p:nvPr/>
        </p:nvSpPr>
        <p:spPr>
          <a:xfrm>
            <a:off x="2926080" y="1417320"/>
            <a:ext cx="914400" cy="201168"/>
          </a:xfrm>
          <a:prstGeom prst="rect">
            <a:avLst/>
          </a:prstGeom>
          <a:noFill/>
          <a:ln/>
        </p:spPr>
        <p:txBody>
          <a:bodyPr wrap="square" lIns="0" tIns="0" rIns="0" bIns="0" rtlCol="0" anchor="t"/>
          <a:lstStyle/>
          <a:p>
            <a:pPr algn="l" indent="0" marL="0">
              <a:lnSpc>
                <a:spcPct val="105000"/>
              </a:lnSpc>
              <a:buNone/>
            </a:pPr>
            <a:r>
              <a:rPr lang="en-US" sz="1000" b="1" dirty="0">
                <a:solidFill>
                  <a:schemeClr val="accent4"/>
                </a:solidFill>
              </a:rPr>
              <a:t>İŞÇİ</a:t>
            </a:r>
            <a:endParaRPr lang="en-US" sz="1000" dirty="0"/>
          </a:p>
        </p:txBody>
      </p:sp>
      <p:sp>
        <p:nvSpPr>
          <p:cNvPr id="6" name="text-41"/>
          <p:cNvSpPr txBox="1"/>
          <p:nvPr/>
        </p:nvSpPr>
        <p:spPr>
          <a:xfrm>
            <a:off x="3886200" y="1417320"/>
            <a:ext cx="1463040" cy="201168"/>
          </a:xfrm>
          <a:prstGeom prst="rect">
            <a:avLst/>
          </a:prstGeom>
          <a:noFill/>
          <a:ln/>
        </p:spPr>
        <p:txBody>
          <a:bodyPr wrap="square" lIns="0" tIns="0" rIns="0" bIns="0" rtlCol="0" anchor="t"/>
          <a:lstStyle/>
          <a:p>
            <a:pPr algn="l" indent="0" marL="0">
              <a:lnSpc>
                <a:spcPct val="105000"/>
              </a:lnSpc>
              <a:buNone/>
            </a:pPr>
            <a:r>
              <a:rPr lang="en-US" sz="1000" b="1" dirty="0">
                <a:solidFill>
                  <a:schemeClr val="accent4"/>
                </a:solidFill>
              </a:rPr>
              <a:t>HAZIRKI ALƏT</a:t>
            </a:r>
            <a:endParaRPr lang="en-US" sz="1000" dirty="0"/>
          </a:p>
        </p:txBody>
      </p:sp>
      <p:sp>
        <p:nvSpPr>
          <p:cNvPr id="7" name="row-line-42"/>
          <p:cNvSpPr/>
          <p:nvPr/>
        </p:nvSpPr>
        <p:spPr>
          <a:xfrm>
            <a:off x="731520" y="1664208"/>
            <a:ext cx="4572000" cy="0"/>
          </a:xfrm>
          <a:prstGeom prst="line">
            <a:avLst/>
          </a:prstGeom>
          <a:noFill/>
          <a:ln w="9525">
            <a:solidFill>
              <a:schemeClr val="accent6"/>
            </a:solidFill>
            <a:prstDash val="solid"/>
          </a:ln>
        </p:spPr>
      </p:sp>
      <p:sp>
        <p:nvSpPr>
          <p:cNvPr id="8" name="text-43"/>
          <p:cNvSpPr txBox="1"/>
          <p:nvPr/>
        </p:nvSpPr>
        <p:spPr>
          <a:xfrm>
            <a:off x="731520" y="17190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ŞamFi</a:t>
            </a:r>
            <a:endParaRPr lang="en-US" sz="1400" dirty="0"/>
          </a:p>
        </p:txBody>
      </p:sp>
      <p:sp>
        <p:nvSpPr>
          <p:cNvPr id="9" name="text-44"/>
          <p:cNvSpPr txBox="1"/>
          <p:nvPr/>
        </p:nvSpPr>
        <p:spPr>
          <a:xfrm>
            <a:off x="2926080" y="17190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1 400+</a:t>
            </a:r>
            <a:endParaRPr lang="en-US" sz="1300" dirty="0"/>
          </a:p>
        </p:txBody>
      </p:sp>
      <p:sp>
        <p:nvSpPr>
          <p:cNvPr id="10" name="chip-45"/>
          <p:cNvSpPr/>
          <p:nvPr/>
        </p:nvSpPr>
        <p:spPr>
          <a:xfrm>
            <a:off x="3886200" y="1764792"/>
            <a:ext cx="1463040" cy="274320"/>
          </a:xfrm>
          <a:prstGeom prst="roundRect">
            <a:avLst>
              <a:gd name="adj" fmla="val 50000"/>
            </a:avLst>
          </a:prstGeom>
          <a:solidFill>
            <a:schemeClr val="accent3">
              <a:alpha val="12000"/>
            </a:schemeClr>
          </a:solidFill>
          <a:ln/>
        </p:spPr>
      </p:sp>
      <p:sp>
        <p:nvSpPr>
          <p:cNvPr id="11" name="chip-text-46"/>
          <p:cNvSpPr txBox="1"/>
          <p:nvPr/>
        </p:nvSpPr>
        <p:spPr>
          <a:xfrm>
            <a:off x="3886200" y="17647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3"/>
                </a:solidFill>
              </a:rPr>
              <a:t>Excel · dağınıq</a:t>
            </a:r>
            <a:endParaRPr lang="en-US" sz="1100" dirty="0"/>
          </a:p>
        </p:txBody>
      </p:sp>
      <p:sp>
        <p:nvSpPr>
          <p:cNvPr id="12" name="row-line-47"/>
          <p:cNvSpPr/>
          <p:nvPr/>
        </p:nvSpPr>
        <p:spPr>
          <a:xfrm>
            <a:off x="731520" y="2121408"/>
            <a:ext cx="4572000" cy="0"/>
          </a:xfrm>
          <a:prstGeom prst="line">
            <a:avLst/>
          </a:prstGeom>
          <a:noFill/>
          <a:ln w="9525">
            <a:solidFill>
              <a:schemeClr val="accent6"/>
            </a:solidFill>
            <a:prstDash val="solid"/>
          </a:ln>
        </p:spPr>
      </p:sp>
      <p:sp>
        <p:nvSpPr>
          <p:cNvPr id="13" name="text-48"/>
          <p:cNvSpPr txBox="1"/>
          <p:nvPr/>
        </p:nvSpPr>
        <p:spPr>
          <a:xfrm>
            <a:off x="731520" y="21762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PASHA Bank</a:t>
            </a:r>
            <a:endParaRPr lang="en-US" sz="1400" dirty="0"/>
          </a:p>
        </p:txBody>
      </p:sp>
      <p:sp>
        <p:nvSpPr>
          <p:cNvPr id="14" name="text-49"/>
          <p:cNvSpPr txBox="1"/>
          <p:nvPr/>
        </p:nvSpPr>
        <p:spPr>
          <a:xfrm>
            <a:off x="2926080" y="21762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1 400+</a:t>
            </a:r>
            <a:endParaRPr lang="en-US" sz="1300" dirty="0"/>
          </a:p>
        </p:txBody>
      </p:sp>
      <p:sp>
        <p:nvSpPr>
          <p:cNvPr id="15" name="chip-50"/>
          <p:cNvSpPr/>
          <p:nvPr/>
        </p:nvSpPr>
        <p:spPr>
          <a:xfrm>
            <a:off x="3886200" y="2221992"/>
            <a:ext cx="1463040" cy="274320"/>
          </a:xfrm>
          <a:prstGeom prst="roundRect">
            <a:avLst>
              <a:gd name="adj" fmla="val 50000"/>
            </a:avLst>
          </a:prstGeom>
          <a:solidFill>
            <a:schemeClr val="accent3">
              <a:alpha val="12000"/>
            </a:schemeClr>
          </a:solidFill>
          <a:ln/>
        </p:spPr>
      </p:sp>
      <p:sp>
        <p:nvSpPr>
          <p:cNvPr id="16" name="chip-text-51"/>
          <p:cNvSpPr txBox="1"/>
          <p:nvPr/>
        </p:nvSpPr>
        <p:spPr>
          <a:xfrm>
            <a:off x="3886200" y="22219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3"/>
                </a:solidFill>
              </a:rPr>
              <a:t>Excel + VBA</a:t>
            </a:r>
            <a:endParaRPr lang="en-US" sz="1100" dirty="0"/>
          </a:p>
        </p:txBody>
      </p:sp>
      <p:sp>
        <p:nvSpPr>
          <p:cNvPr id="17" name="row-line-52"/>
          <p:cNvSpPr/>
          <p:nvPr/>
        </p:nvSpPr>
        <p:spPr>
          <a:xfrm>
            <a:off x="731520" y="2578608"/>
            <a:ext cx="4572000" cy="0"/>
          </a:xfrm>
          <a:prstGeom prst="line">
            <a:avLst/>
          </a:prstGeom>
          <a:noFill/>
          <a:ln w="9525">
            <a:solidFill>
              <a:schemeClr val="accent6"/>
            </a:solidFill>
            <a:prstDash val="solid"/>
          </a:ln>
        </p:spPr>
      </p:sp>
      <p:sp>
        <p:nvSpPr>
          <p:cNvPr id="18" name="text-53"/>
          <p:cNvSpPr txBox="1"/>
          <p:nvPr/>
        </p:nvSpPr>
        <p:spPr>
          <a:xfrm>
            <a:off x="731520" y="26334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Milla Dairy</a:t>
            </a:r>
            <a:endParaRPr lang="en-US" sz="1400" dirty="0"/>
          </a:p>
        </p:txBody>
      </p:sp>
      <p:sp>
        <p:nvSpPr>
          <p:cNvPr id="19" name="text-54"/>
          <p:cNvSpPr txBox="1"/>
          <p:nvPr/>
        </p:nvSpPr>
        <p:spPr>
          <a:xfrm>
            <a:off x="2926080" y="26334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1 300+</a:t>
            </a:r>
            <a:endParaRPr lang="en-US" sz="1300" dirty="0"/>
          </a:p>
        </p:txBody>
      </p:sp>
      <p:sp>
        <p:nvSpPr>
          <p:cNvPr id="20" name="chip-55"/>
          <p:cNvSpPr/>
          <p:nvPr/>
        </p:nvSpPr>
        <p:spPr>
          <a:xfrm>
            <a:off x="3886200" y="2679192"/>
            <a:ext cx="1463040" cy="274320"/>
          </a:xfrm>
          <a:prstGeom prst="roundRect">
            <a:avLst>
              <a:gd name="adj" fmla="val 50000"/>
            </a:avLst>
          </a:prstGeom>
          <a:solidFill>
            <a:schemeClr val="accent3">
              <a:alpha val="12000"/>
            </a:schemeClr>
          </a:solidFill>
          <a:ln/>
        </p:spPr>
      </p:sp>
      <p:sp>
        <p:nvSpPr>
          <p:cNvPr id="21" name="chip-text-56"/>
          <p:cNvSpPr txBox="1"/>
          <p:nvPr/>
        </p:nvSpPr>
        <p:spPr>
          <a:xfrm>
            <a:off x="3886200" y="26791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3"/>
                </a:solidFill>
              </a:rPr>
              <a:t>Excel</a:t>
            </a:r>
            <a:endParaRPr lang="en-US" sz="1100" dirty="0"/>
          </a:p>
        </p:txBody>
      </p:sp>
      <p:sp>
        <p:nvSpPr>
          <p:cNvPr id="22" name="row-line-57"/>
          <p:cNvSpPr/>
          <p:nvPr/>
        </p:nvSpPr>
        <p:spPr>
          <a:xfrm>
            <a:off x="731520" y="3035808"/>
            <a:ext cx="4572000" cy="0"/>
          </a:xfrm>
          <a:prstGeom prst="line">
            <a:avLst/>
          </a:prstGeom>
          <a:noFill/>
          <a:ln w="9525">
            <a:solidFill>
              <a:schemeClr val="accent6"/>
            </a:solidFill>
            <a:prstDash val="solid"/>
          </a:ln>
        </p:spPr>
      </p:sp>
      <p:sp>
        <p:nvSpPr>
          <p:cNvPr id="23" name="text-58"/>
          <p:cNvSpPr txBox="1"/>
          <p:nvPr/>
        </p:nvSpPr>
        <p:spPr>
          <a:xfrm>
            <a:off x="731520" y="30906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Mars Overseas</a:t>
            </a:r>
            <a:endParaRPr lang="en-US" sz="1400" dirty="0"/>
          </a:p>
        </p:txBody>
      </p:sp>
      <p:sp>
        <p:nvSpPr>
          <p:cNvPr id="24" name="text-59"/>
          <p:cNvSpPr txBox="1"/>
          <p:nvPr/>
        </p:nvSpPr>
        <p:spPr>
          <a:xfrm>
            <a:off x="2926080" y="30906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1 200+</a:t>
            </a:r>
            <a:endParaRPr lang="en-US" sz="1300" dirty="0"/>
          </a:p>
        </p:txBody>
      </p:sp>
      <p:sp>
        <p:nvSpPr>
          <p:cNvPr id="25" name="chip-60"/>
          <p:cNvSpPr/>
          <p:nvPr/>
        </p:nvSpPr>
        <p:spPr>
          <a:xfrm>
            <a:off x="3886200" y="3136392"/>
            <a:ext cx="1463040" cy="274320"/>
          </a:xfrm>
          <a:prstGeom prst="roundRect">
            <a:avLst>
              <a:gd name="adj" fmla="val 50000"/>
            </a:avLst>
          </a:prstGeom>
          <a:solidFill>
            <a:schemeClr val="accent3">
              <a:alpha val="12000"/>
            </a:schemeClr>
          </a:solidFill>
          <a:ln/>
        </p:spPr>
      </p:sp>
      <p:sp>
        <p:nvSpPr>
          <p:cNvPr id="26" name="chip-text-61"/>
          <p:cNvSpPr txBox="1"/>
          <p:nvPr/>
        </p:nvSpPr>
        <p:spPr>
          <a:xfrm>
            <a:off x="3886200" y="31363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3"/>
                </a:solidFill>
              </a:rPr>
              <a:t>Excel</a:t>
            </a:r>
            <a:endParaRPr lang="en-US" sz="1100" dirty="0"/>
          </a:p>
        </p:txBody>
      </p:sp>
      <p:sp>
        <p:nvSpPr>
          <p:cNvPr id="27" name="row-line-62"/>
          <p:cNvSpPr/>
          <p:nvPr/>
        </p:nvSpPr>
        <p:spPr>
          <a:xfrm>
            <a:off x="731520" y="3493008"/>
            <a:ext cx="4572000" cy="0"/>
          </a:xfrm>
          <a:prstGeom prst="line">
            <a:avLst/>
          </a:prstGeom>
          <a:noFill/>
          <a:ln w="9525">
            <a:solidFill>
              <a:schemeClr val="accent6"/>
            </a:solidFill>
            <a:prstDash val="solid"/>
          </a:ln>
        </p:spPr>
      </p:sp>
      <p:sp>
        <p:nvSpPr>
          <p:cNvPr id="28" name="text-63"/>
          <p:cNvSpPr txBox="1"/>
          <p:nvPr/>
        </p:nvSpPr>
        <p:spPr>
          <a:xfrm>
            <a:off x="731520" y="35478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VektorDS</a:t>
            </a:r>
            <a:endParaRPr lang="en-US" sz="1400" dirty="0"/>
          </a:p>
        </p:txBody>
      </p:sp>
      <p:sp>
        <p:nvSpPr>
          <p:cNvPr id="29" name="text-64"/>
          <p:cNvSpPr txBox="1"/>
          <p:nvPr/>
        </p:nvSpPr>
        <p:spPr>
          <a:xfrm>
            <a:off x="2926080" y="35478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300+</a:t>
            </a:r>
            <a:endParaRPr lang="en-US" sz="1300" dirty="0"/>
          </a:p>
        </p:txBody>
      </p:sp>
      <p:sp>
        <p:nvSpPr>
          <p:cNvPr id="30" name="chip-65"/>
          <p:cNvSpPr/>
          <p:nvPr/>
        </p:nvSpPr>
        <p:spPr>
          <a:xfrm>
            <a:off x="3886200" y="3593592"/>
            <a:ext cx="1463040" cy="274320"/>
          </a:xfrm>
          <a:prstGeom prst="roundRect">
            <a:avLst>
              <a:gd name="adj" fmla="val 50000"/>
            </a:avLst>
          </a:prstGeom>
          <a:solidFill>
            <a:schemeClr val="accent3">
              <a:alpha val="12000"/>
            </a:schemeClr>
          </a:solidFill>
          <a:ln/>
        </p:spPr>
      </p:sp>
      <p:sp>
        <p:nvSpPr>
          <p:cNvPr id="31" name="chip-text-66"/>
          <p:cNvSpPr txBox="1"/>
          <p:nvPr/>
        </p:nvSpPr>
        <p:spPr>
          <a:xfrm>
            <a:off x="3886200" y="35935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3"/>
                </a:solidFill>
              </a:rPr>
              <a:t>Excel</a:t>
            </a:r>
            <a:endParaRPr lang="en-US" sz="1100" dirty="0"/>
          </a:p>
        </p:txBody>
      </p:sp>
      <p:sp>
        <p:nvSpPr>
          <p:cNvPr id="32" name="row-line-67"/>
          <p:cNvSpPr/>
          <p:nvPr/>
        </p:nvSpPr>
        <p:spPr>
          <a:xfrm>
            <a:off x="731520" y="3950208"/>
            <a:ext cx="4572000" cy="0"/>
          </a:xfrm>
          <a:prstGeom prst="line">
            <a:avLst/>
          </a:prstGeom>
          <a:noFill/>
          <a:ln w="9525">
            <a:solidFill>
              <a:schemeClr val="accent6"/>
            </a:solidFill>
            <a:prstDash val="solid"/>
          </a:ln>
        </p:spPr>
      </p:sp>
      <p:sp>
        <p:nvSpPr>
          <p:cNvPr id="33" name="text-68"/>
          <p:cNvSpPr txBox="1"/>
          <p:nvPr/>
        </p:nvSpPr>
        <p:spPr>
          <a:xfrm>
            <a:off x="731520" y="4005072"/>
            <a:ext cx="2103120" cy="347472"/>
          </a:xfrm>
          <a:prstGeom prst="rect">
            <a:avLst/>
          </a:prstGeom>
          <a:noFill/>
          <a:ln/>
        </p:spPr>
        <p:txBody>
          <a:bodyPr wrap="square" lIns="0" tIns="0" rIns="0" bIns="0" rtlCol="0" anchor="ctr"/>
          <a:lstStyle/>
          <a:p>
            <a:pPr algn="l" indent="0" marL="0">
              <a:lnSpc>
                <a:spcPct val="105000"/>
              </a:lnSpc>
              <a:buNone/>
            </a:pPr>
            <a:r>
              <a:rPr lang="en-US" sz="1400" b="1" dirty="0">
                <a:solidFill>
                  <a:schemeClr val="tx1"/>
                </a:solidFill>
              </a:rPr>
              <a:t>Azersun Holding</a:t>
            </a:r>
            <a:endParaRPr lang="en-US" sz="1400" dirty="0"/>
          </a:p>
        </p:txBody>
      </p:sp>
      <p:sp>
        <p:nvSpPr>
          <p:cNvPr id="34" name="text-69"/>
          <p:cNvSpPr txBox="1"/>
          <p:nvPr/>
        </p:nvSpPr>
        <p:spPr>
          <a:xfrm>
            <a:off x="2926080" y="4005072"/>
            <a:ext cx="914400" cy="347472"/>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holdinq</a:t>
            </a:r>
            <a:endParaRPr lang="en-US" sz="1300" dirty="0"/>
          </a:p>
        </p:txBody>
      </p:sp>
      <p:sp>
        <p:nvSpPr>
          <p:cNvPr id="35" name="chip-70"/>
          <p:cNvSpPr/>
          <p:nvPr/>
        </p:nvSpPr>
        <p:spPr>
          <a:xfrm>
            <a:off x="3886200" y="4050792"/>
            <a:ext cx="1463040" cy="274320"/>
          </a:xfrm>
          <a:prstGeom prst="roundRect">
            <a:avLst>
              <a:gd name="adj" fmla="val 50000"/>
            </a:avLst>
          </a:prstGeom>
          <a:solidFill>
            <a:schemeClr val="accent4">
              <a:alpha val="18000"/>
            </a:schemeClr>
          </a:solidFill>
          <a:ln/>
        </p:spPr>
      </p:sp>
      <p:sp>
        <p:nvSpPr>
          <p:cNvPr id="36" name="chip-text-71"/>
          <p:cNvSpPr txBox="1"/>
          <p:nvPr/>
        </p:nvSpPr>
        <p:spPr>
          <a:xfrm>
            <a:off x="3886200" y="4050792"/>
            <a:ext cx="146304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tx2"/>
                </a:solidFill>
              </a:rPr>
              <a:t>ERP · qismən</a:t>
            </a:r>
            <a:endParaRPr lang="en-US" sz="1100" dirty="0"/>
          </a:p>
        </p:txBody>
      </p:sp>
      <p:sp>
        <p:nvSpPr>
          <p:cNvPr id="37" name="stat-72"/>
          <p:cNvSpPr/>
          <p:nvPr/>
        </p:nvSpPr>
        <p:spPr>
          <a:xfrm>
            <a:off x="5852160" y="1234440"/>
            <a:ext cx="28346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38" name="text-73"/>
          <p:cNvSpPr txBox="1"/>
          <p:nvPr/>
        </p:nvSpPr>
        <p:spPr>
          <a:xfrm>
            <a:off x="6080760" y="1344168"/>
            <a:ext cx="2468880" cy="502920"/>
          </a:xfrm>
          <a:prstGeom prst="rect">
            <a:avLst/>
          </a:prstGeom>
          <a:noFill/>
          <a:ln/>
        </p:spPr>
        <p:txBody>
          <a:bodyPr wrap="square" lIns="0" tIns="0" rIns="0" bIns="0" rtlCol="0" anchor="t"/>
          <a:lstStyle/>
          <a:p>
            <a:pPr algn="l" indent="0" marL="0">
              <a:lnSpc>
                <a:spcPct val="105000"/>
              </a:lnSpc>
              <a:buNone/>
            </a:pPr>
            <a:r>
              <a:rPr lang="en-US" sz="3000" b="1" dirty="0">
                <a:solidFill>
                  <a:schemeClr val="tx1"/>
                </a:solidFill>
                <a:latin typeface="Cambria" pitchFamily="34" charset="0"/>
                <a:ea typeface="Cambria" pitchFamily="34" charset="-122"/>
                <a:cs typeface="Cambria" pitchFamily="34" charset="-120"/>
              </a:rPr>
              <a:t>5 / 6</a:t>
            </a:r>
            <a:endParaRPr lang="en-US" sz="3000" dirty="0"/>
          </a:p>
        </p:txBody>
      </p:sp>
      <p:sp>
        <p:nvSpPr>
          <p:cNvPr id="39" name="text-74"/>
          <p:cNvSpPr txBox="1"/>
          <p:nvPr/>
        </p:nvSpPr>
        <p:spPr>
          <a:xfrm>
            <a:off x="6080760" y="1837944"/>
            <a:ext cx="2468880" cy="347472"/>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büdcəni Excel-də aparır</a:t>
            </a:r>
            <a:endParaRPr lang="en-US" sz="1200" dirty="0"/>
          </a:p>
        </p:txBody>
      </p:sp>
      <p:sp>
        <p:nvSpPr>
          <p:cNvPr id="40" name="stat-75"/>
          <p:cNvSpPr/>
          <p:nvPr/>
        </p:nvSpPr>
        <p:spPr>
          <a:xfrm>
            <a:off x="5852160" y="2395728"/>
            <a:ext cx="28346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41" name="text-76"/>
          <p:cNvSpPr txBox="1"/>
          <p:nvPr/>
        </p:nvSpPr>
        <p:spPr>
          <a:xfrm>
            <a:off x="6080760" y="2505456"/>
            <a:ext cx="2468880" cy="502920"/>
          </a:xfrm>
          <a:prstGeom prst="rect">
            <a:avLst/>
          </a:prstGeom>
          <a:noFill/>
          <a:ln/>
        </p:spPr>
        <p:txBody>
          <a:bodyPr wrap="square" lIns="0" tIns="0" rIns="0" bIns="0" rtlCol="0" anchor="t"/>
          <a:lstStyle/>
          <a:p>
            <a:pPr algn="l" indent="0" marL="0">
              <a:lnSpc>
                <a:spcPct val="105000"/>
              </a:lnSpc>
              <a:buNone/>
            </a:pPr>
            <a:r>
              <a:rPr lang="en-US" sz="3000" b="1" dirty="0">
                <a:solidFill>
                  <a:schemeClr val="accent3"/>
                </a:solidFill>
                <a:latin typeface="Cambria" pitchFamily="34" charset="0"/>
                <a:ea typeface="Cambria" pitchFamily="34" charset="-122"/>
                <a:cs typeface="Cambria" pitchFamily="34" charset="-120"/>
              </a:rPr>
              <a:t>6 / 6</a:t>
            </a:r>
            <a:endParaRPr lang="en-US" sz="3000" dirty="0"/>
          </a:p>
        </p:txBody>
      </p:sp>
      <p:sp>
        <p:nvSpPr>
          <p:cNvPr id="42" name="text-77"/>
          <p:cNvSpPr txBox="1"/>
          <p:nvPr/>
        </p:nvSpPr>
        <p:spPr>
          <a:xfrm>
            <a:off x="6080760" y="2999232"/>
            <a:ext cx="2468880" cy="347472"/>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tam əhatəli büdcə sistemi yoxdur</a:t>
            </a:r>
            <a:endParaRPr lang="en-US" sz="1200" dirty="0"/>
          </a:p>
        </p:txBody>
      </p:sp>
      <p:sp>
        <p:nvSpPr>
          <p:cNvPr id="43" name="stat-78"/>
          <p:cNvSpPr/>
          <p:nvPr/>
        </p:nvSpPr>
        <p:spPr>
          <a:xfrm>
            <a:off x="5852160" y="3557016"/>
            <a:ext cx="283464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44" name="text-79"/>
          <p:cNvSpPr txBox="1"/>
          <p:nvPr/>
        </p:nvSpPr>
        <p:spPr>
          <a:xfrm>
            <a:off x="6080760" y="3666744"/>
            <a:ext cx="2468880" cy="502920"/>
          </a:xfrm>
          <a:prstGeom prst="rect">
            <a:avLst/>
          </a:prstGeom>
          <a:noFill/>
          <a:ln/>
        </p:spPr>
        <p:txBody>
          <a:bodyPr wrap="square" lIns="0" tIns="0" rIns="0" bIns="0" rtlCol="0" anchor="t"/>
          <a:lstStyle/>
          <a:p>
            <a:pPr algn="l" indent="0" marL="0">
              <a:lnSpc>
                <a:spcPct val="105000"/>
              </a:lnSpc>
              <a:buNone/>
            </a:pPr>
            <a:r>
              <a:rPr lang="en-US" sz="3000" b="1" dirty="0">
                <a:solidFill>
                  <a:schemeClr val="tx1"/>
                </a:solidFill>
                <a:latin typeface="Cambria" pitchFamily="34" charset="0"/>
                <a:ea typeface="Cambria" pitchFamily="34" charset="-122"/>
                <a:cs typeface="Cambria" pitchFamily="34" charset="-120"/>
              </a:rPr>
              <a:t>1 400+</a:t>
            </a:r>
            <a:endParaRPr lang="en-US" sz="3000" dirty="0"/>
          </a:p>
        </p:txBody>
      </p:sp>
      <p:sp>
        <p:nvSpPr>
          <p:cNvPr id="45" name="text-80"/>
          <p:cNvSpPr txBox="1"/>
          <p:nvPr/>
        </p:nvSpPr>
        <p:spPr>
          <a:xfrm>
            <a:off x="6080760" y="4160520"/>
            <a:ext cx="2468880" cy="347472"/>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işçili bank belə Excel + VBA ilə işləyir</a:t>
            </a:r>
            <a:endParaRPr lang="en-US" sz="12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Hədəf: KOS və orta korporativ şirkətlər (B2B)</a:t>
            </a:r>
            <a:endParaRPr lang="en-US" sz="2800" dirty="0"/>
          </a:p>
        </p:txBody>
      </p:sp>
      <p:sp>
        <p:nvSpPr>
          <p:cNvPr id="3" name="segment-81"/>
          <p:cNvSpPr/>
          <p:nvPr/>
        </p:nvSpPr>
        <p:spPr>
          <a:xfrm>
            <a:off x="457200" y="1234440"/>
            <a:ext cx="2468880" cy="1737360"/>
          </a:xfrm>
          <a:prstGeom prst="roundRect">
            <a:avLst>
              <a:gd name="adj" fmla="val 5263"/>
            </a:avLst>
          </a:prstGeom>
          <a:solidFill>
            <a:schemeClr val="bg1"/>
          </a:solidFill>
          <a:ln/>
          <a:effectLst>
            <a:outerShdw sx="100000" sy="100000" kx="0" ky="0" algn="bl" rotWithShape="0" blurRad="127000" dist="25400" dir="5400000">
              <a:srgbClr val="0B1F3A">
                <a:alpha val="8000"/>
              </a:srgbClr>
            </a:outerShdw>
          </a:effectLst>
        </p:spPr>
      </p:sp>
      <p:sp>
        <p:nvSpPr>
          <p:cNvPr id="4" name="icon-bg-82"/>
          <p:cNvSpPr/>
          <p:nvPr/>
        </p:nvSpPr>
        <p:spPr>
          <a:xfrm>
            <a:off x="685800" y="1463040"/>
            <a:ext cx="512064" cy="512064"/>
          </a:xfrm>
          <a:prstGeom prst="ellipse">
            <a:avLst/>
          </a:prstGeom>
          <a:solidFill>
            <a:schemeClr val="accent4">
              <a:alpha val="15000"/>
            </a:schemeClr>
          </a:solidFill>
          <a:ln/>
        </p:spPr>
      </p:sp>
      <p:pic>
        <p:nvPicPr>
          <p:cNvPr id="5" name="icon-LuStore-83" descr="Store">    </p:cNvPr>
          <p:cNvPicPr>
            <a:picLocks noChangeAspect="1"/>
          </p:cNvPicPr>
          <p:nvPr/>
        </p:nvPicPr>
        <p:blipFill>
          <a:blip r:embed="rId1"/>
          <a:stretch>
            <a:fillRect/>
          </a:stretch>
        </p:blipFill>
        <p:spPr>
          <a:xfrm>
            <a:off x="808695" y="1585935"/>
            <a:ext cx="266273" cy="266273"/>
          </a:xfrm>
          <a:prstGeom prst="rect">
            <a:avLst/>
          </a:prstGeom>
        </p:spPr>
      </p:pic>
      <p:sp>
        <p:nvSpPr>
          <p:cNvPr id="6" name="text-84"/>
          <p:cNvSpPr txBox="1"/>
          <p:nvPr/>
        </p:nvSpPr>
        <p:spPr>
          <a:xfrm>
            <a:off x="685800" y="2075688"/>
            <a:ext cx="201168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Kiçik biznes</a:t>
            </a:r>
            <a:endParaRPr lang="en-US" sz="1600" dirty="0"/>
          </a:p>
        </p:txBody>
      </p:sp>
      <p:sp>
        <p:nvSpPr>
          <p:cNvPr id="7" name="text-85"/>
          <p:cNvSpPr txBox="1"/>
          <p:nvPr/>
        </p:nvSpPr>
        <p:spPr>
          <a:xfrm>
            <a:off x="685800" y="2404872"/>
            <a:ext cx="2011680" cy="50292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Excel hələ kifayət edir</a:t>
            </a:r>
            <a:endParaRPr lang="en-US" sz="1200" dirty="0"/>
          </a:p>
        </p:txBody>
      </p:sp>
      <p:sp>
        <p:nvSpPr>
          <p:cNvPr id="8" name="segment-target-86"/>
          <p:cNvSpPr/>
          <p:nvPr/>
        </p:nvSpPr>
        <p:spPr>
          <a:xfrm>
            <a:off x="3108960" y="1234440"/>
            <a:ext cx="2926080" cy="1737360"/>
          </a:xfrm>
          <a:prstGeom prst="roundRect">
            <a:avLst>
              <a:gd name="adj" fmla="val 5263"/>
            </a:avLst>
          </a:prstGeom>
          <a:solidFill>
            <a:schemeClr val="tx1"/>
          </a:solidFill>
          <a:ln/>
          <a:effectLst>
            <a:outerShdw sx="100000" sy="100000" kx="0" ky="0" algn="bl" rotWithShape="0" blurRad="127000" dist="25400" dir="5400000">
              <a:srgbClr val="0B1F3A">
                <a:alpha val="8000"/>
              </a:srgbClr>
            </a:outerShdw>
          </a:effectLst>
        </p:spPr>
      </p:sp>
      <p:sp>
        <p:nvSpPr>
          <p:cNvPr id="9" name="icon-bg-87"/>
          <p:cNvSpPr/>
          <p:nvPr/>
        </p:nvSpPr>
        <p:spPr>
          <a:xfrm>
            <a:off x="3337560" y="1463040"/>
            <a:ext cx="512064" cy="512064"/>
          </a:xfrm>
          <a:prstGeom prst="ellipse">
            <a:avLst/>
          </a:prstGeom>
          <a:solidFill>
            <a:schemeClr val="bg1">
              <a:alpha val="15000"/>
            </a:schemeClr>
          </a:solidFill>
          <a:ln/>
        </p:spPr>
      </p:sp>
      <p:pic>
        <p:nvPicPr>
          <p:cNvPr id="10" name="icon-LuBuilding2-88" descr="Building2">    </p:cNvPr>
          <p:cNvPicPr>
            <a:picLocks noChangeAspect="1"/>
          </p:cNvPicPr>
          <p:nvPr/>
        </p:nvPicPr>
        <p:blipFill>
          <a:blip r:embed="rId2"/>
          <a:stretch>
            <a:fillRect/>
          </a:stretch>
        </p:blipFill>
        <p:spPr>
          <a:xfrm>
            <a:off x="3460455" y="1585935"/>
            <a:ext cx="266273" cy="266273"/>
          </a:xfrm>
          <a:prstGeom prst="rect">
            <a:avLst/>
          </a:prstGeom>
        </p:spPr>
      </p:pic>
      <p:sp>
        <p:nvSpPr>
          <p:cNvPr id="11" name="chip-89"/>
          <p:cNvSpPr/>
          <p:nvPr/>
        </p:nvSpPr>
        <p:spPr>
          <a:xfrm>
            <a:off x="4617720" y="1554480"/>
            <a:ext cx="1188720" cy="274320"/>
          </a:xfrm>
          <a:prstGeom prst="roundRect">
            <a:avLst>
              <a:gd name="adj" fmla="val 50000"/>
            </a:avLst>
          </a:prstGeom>
          <a:solidFill>
            <a:schemeClr val="accent2"/>
          </a:solidFill>
          <a:ln/>
        </p:spPr>
      </p:sp>
      <p:sp>
        <p:nvSpPr>
          <p:cNvPr id="12" name="chip-text-90"/>
          <p:cNvSpPr txBox="1"/>
          <p:nvPr/>
        </p:nvSpPr>
        <p:spPr>
          <a:xfrm>
            <a:off x="4617720" y="1554480"/>
            <a:ext cx="1188720" cy="274320"/>
          </a:xfrm>
          <a:prstGeom prst="rect">
            <a:avLst/>
          </a:prstGeom>
          <a:noFill/>
          <a:ln/>
        </p:spPr>
        <p:txBody>
          <a:bodyPr wrap="square" lIns="0" tIns="0" rIns="0" bIns="0" rtlCol="0" anchor="ctr"/>
          <a:lstStyle/>
          <a:p>
            <a:pPr algn="ctr" indent="0" marL="0">
              <a:lnSpc>
                <a:spcPct val="105000"/>
              </a:lnSpc>
              <a:buNone/>
            </a:pPr>
            <a:r>
              <a:rPr lang="en-US" sz="1100" b="1" dirty="0">
                <a:solidFill>
                  <a:schemeClr val="bg1"/>
                </a:solidFill>
              </a:rPr>
              <a:t>Hədəf seqment</a:t>
            </a:r>
            <a:endParaRPr lang="en-US" sz="1100" dirty="0"/>
          </a:p>
        </p:txBody>
      </p:sp>
      <p:sp>
        <p:nvSpPr>
          <p:cNvPr id="13" name="text-91"/>
          <p:cNvSpPr txBox="1"/>
          <p:nvPr/>
        </p:nvSpPr>
        <p:spPr>
          <a:xfrm>
            <a:off x="3337560" y="2075688"/>
            <a:ext cx="246888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bg1"/>
                </a:solidFill>
              </a:rPr>
              <a:t>KOS və orta korporativ</a:t>
            </a:r>
            <a:endParaRPr lang="en-US" sz="1600" dirty="0"/>
          </a:p>
        </p:txBody>
      </p:sp>
      <p:sp>
        <p:nvSpPr>
          <p:cNvPr id="14" name="text-92"/>
          <p:cNvSpPr txBox="1"/>
          <p:nvPr/>
        </p:nvSpPr>
        <p:spPr>
          <a:xfrm>
            <a:off x="3337560" y="2404872"/>
            <a:ext cx="2468880" cy="502920"/>
          </a:xfrm>
          <a:prstGeom prst="rect">
            <a:avLst/>
          </a:prstGeom>
          <a:noFill/>
          <a:ln/>
        </p:spPr>
        <p:txBody>
          <a:bodyPr wrap="square" lIns="0" tIns="0" rIns="0" bIns="0" rtlCol="0" anchor="t"/>
          <a:lstStyle/>
          <a:p>
            <a:pPr algn="l" indent="0" marL="0">
              <a:lnSpc>
                <a:spcPct val="105000"/>
              </a:lnSpc>
              <a:buNone/>
            </a:pPr>
            <a:r>
              <a:rPr lang="en-US" sz="1200" dirty="0">
                <a:solidFill>
                  <a:schemeClr val="accent5"/>
                </a:solidFill>
              </a:rPr>
              <a:t>Çoxlu departament və xərc mərkəzi — Excel artıq çatmır</a:t>
            </a:r>
            <a:endParaRPr lang="en-US" sz="1200" dirty="0"/>
          </a:p>
        </p:txBody>
      </p:sp>
      <p:sp>
        <p:nvSpPr>
          <p:cNvPr id="15" name="segment-93"/>
          <p:cNvSpPr/>
          <p:nvPr/>
        </p:nvSpPr>
        <p:spPr>
          <a:xfrm>
            <a:off x="6217920" y="1234440"/>
            <a:ext cx="2468880" cy="1737360"/>
          </a:xfrm>
          <a:prstGeom prst="roundRect">
            <a:avLst>
              <a:gd name="adj" fmla="val 5263"/>
            </a:avLst>
          </a:prstGeom>
          <a:solidFill>
            <a:schemeClr val="bg1"/>
          </a:solidFill>
          <a:ln/>
          <a:effectLst>
            <a:outerShdw sx="100000" sy="100000" kx="0" ky="0" algn="bl" rotWithShape="0" blurRad="127000" dist="25400" dir="5400000">
              <a:srgbClr val="0B1F3A">
                <a:alpha val="8000"/>
              </a:srgbClr>
            </a:outerShdw>
          </a:effectLst>
        </p:spPr>
      </p:sp>
      <p:sp>
        <p:nvSpPr>
          <p:cNvPr id="16" name="icon-bg-94"/>
          <p:cNvSpPr/>
          <p:nvPr/>
        </p:nvSpPr>
        <p:spPr>
          <a:xfrm>
            <a:off x="6446520" y="1463040"/>
            <a:ext cx="512064" cy="512064"/>
          </a:xfrm>
          <a:prstGeom prst="ellipse">
            <a:avLst/>
          </a:prstGeom>
          <a:solidFill>
            <a:schemeClr val="accent4">
              <a:alpha val="15000"/>
            </a:schemeClr>
          </a:solidFill>
          <a:ln/>
        </p:spPr>
      </p:sp>
      <p:pic>
        <p:nvPicPr>
          <p:cNvPr id="17" name="icon-LuLandmark-95" descr="Landmark">    </p:cNvPr>
          <p:cNvPicPr>
            <a:picLocks noChangeAspect="1"/>
          </p:cNvPicPr>
          <p:nvPr/>
        </p:nvPicPr>
        <p:blipFill>
          <a:blip r:embed="rId3"/>
          <a:stretch>
            <a:fillRect/>
          </a:stretch>
        </p:blipFill>
        <p:spPr>
          <a:xfrm>
            <a:off x="6569415" y="1585935"/>
            <a:ext cx="266273" cy="266273"/>
          </a:xfrm>
          <a:prstGeom prst="rect">
            <a:avLst/>
          </a:prstGeom>
        </p:spPr>
      </p:pic>
      <p:sp>
        <p:nvSpPr>
          <p:cNvPr id="18" name="text-96"/>
          <p:cNvSpPr txBox="1"/>
          <p:nvPr/>
        </p:nvSpPr>
        <p:spPr>
          <a:xfrm>
            <a:off x="6446520" y="2075688"/>
            <a:ext cx="201168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İri holdinqlər</a:t>
            </a:r>
            <a:endParaRPr lang="en-US" sz="1600" dirty="0"/>
          </a:p>
        </p:txBody>
      </p:sp>
      <p:sp>
        <p:nvSpPr>
          <p:cNvPr id="19" name="text-97"/>
          <p:cNvSpPr txBox="1"/>
          <p:nvPr/>
        </p:nvSpPr>
        <p:spPr>
          <a:xfrm>
            <a:off x="6446520" y="2404872"/>
            <a:ext cx="2011680" cy="50292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SAP / Oracle — baha, aylarla tətbiq</a:t>
            </a:r>
            <a:endParaRPr lang="en-US" sz="1200" dirty="0"/>
          </a:p>
        </p:txBody>
      </p:sp>
      <p:sp>
        <p:nvSpPr>
          <p:cNvPr id="20" name="size-axis"/>
          <p:cNvSpPr/>
          <p:nvPr/>
        </p:nvSpPr>
        <p:spPr>
          <a:xfrm>
            <a:off x="457200" y="3154680"/>
            <a:ext cx="8229600" cy="0"/>
          </a:xfrm>
          <a:prstGeom prst="line">
            <a:avLst/>
          </a:prstGeom>
          <a:noFill/>
          <a:ln w="15875">
            <a:solidFill>
              <a:schemeClr val="accent5"/>
            </a:solidFill>
            <a:prstDash val="solid"/>
            <a:tailEnd type="triangle"/>
          </a:ln>
        </p:spPr>
      </p:sp>
      <p:sp>
        <p:nvSpPr>
          <p:cNvPr id="21" name="text-98"/>
          <p:cNvSpPr txBox="1"/>
          <p:nvPr/>
        </p:nvSpPr>
        <p:spPr>
          <a:xfrm>
            <a:off x="457200" y="3218688"/>
            <a:ext cx="8229600" cy="201168"/>
          </a:xfrm>
          <a:prstGeom prst="rect">
            <a:avLst/>
          </a:prstGeom>
          <a:noFill/>
          <a:ln/>
        </p:spPr>
        <p:txBody>
          <a:bodyPr wrap="square" lIns="0" tIns="0" rIns="0" bIns="0" rtlCol="0" anchor="t"/>
          <a:lstStyle/>
          <a:p>
            <a:pPr algn="ctr" indent="0" marL="0">
              <a:lnSpc>
                <a:spcPct val="105000"/>
              </a:lnSpc>
              <a:buNone/>
            </a:pPr>
            <a:r>
              <a:rPr lang="en-US" sz="1000" dirty="0">
                <a:solidFill>
                  <a:schemeClr val="accent4"/>
                </a:solidFill>
              </a:rPr>
              <a:t>Şirkətin ölçüsü və prosesin mürəkkəbliyi</a:t>
            </a:r>
            <a:endParaRPr lang="en-US" sz="1000" dirty="0"/>
          </a:p>
        </p:txBody>
      </p:sp>
      <p:sp>
        <p:nvSpPr>
          <p:cNvPr id="22" name="why-99"/>
          <p:cNvSpPr/>
          <p:nvPr/>
        </p:nvSpPr>
        <p:spPr>
          <a:xfrm>
            <a:off x="457200" y="3639312"/>
            <a:ext cx="2606040" cy="960120"/>
          </a:xfrm>
          <a:prstGeom prst="roundRect">
            <a:avLst>
              <a:gd name="adj" fmla="val 9524"/>
            </a:avLst>
          </a:prstGeom>
          <a:solidFill>
            <a:schemeClr val="bg1"/>
          </a:solidFill>
          <a:ln/>
          <a:effectLst>
            <a:outerShdw sx="100000" sy="100000" kx="0" ky="0" algn="bl" rotWithShape="0" blurRad="127000" dist="25400" dir="5400000">
              <a:srgbClr val="0B1F3A">
                <a:alpha val="8000"/>
              </a:srgbClr>
            </a:outerShdw>
          </a:effectLst>
        </p:spPr>
      </p:sp>
      <p:sp>
        <p:nvSpPr>
          <p:cNvPr id="23" name="icon-bg-100"/>
          <p:cNvSpPr/>
          <p:nvPr/>
        </p:nvSpPr>
        <p:spPr>
          <a:xfrm>
            <a:off x="640080" y="3840480"/>
            <a:ext cx="548640" cy="548640"/>
          </a:xfrm>
          <a:prstGeom prst="ellipse">
            <a:avLst/>
          </a:prstGeom>
          <a:solidFill>
            <a:schemeClr val="accent1">
              <a:alpha val="12000"/>
            </a:schemeClr>
          </a:solidFill>
          <a:ln/>
        </p:spPr>
      </p:sp>
      <p:pic>
        <p:nvPicPr>
          <p:cNvPr id="24" name="icon-LuUsers-101" descr="Users">    </p:cNvPr>
          <p:cNvPicPr>
            <a:picLocks noChangeAspect="1"/>
          </p:cNvPicPr>
          <p:nvPr/>
        </p:nvPicPr>
        <p:blipFill>
          <a:blip r:embed="rId4"/>
          <a:stretch>
            <a:fillRect/>
          </a:stretch>
        </p:blipFill>
        <p:spPr>
          <a:xfrm>
            <a:off x="771754" y="3972154"/>
            <a:ext cx="285293" cy="285293"/>
          </a:xfrm>
          <a:prstGeom prst="rect">
            <a:avLst/>
          </a:prstGeom>
        </p:spPr>
      </p:pic>
      <p:sp>
        <p:nvSpPr>
          <p:cNvPr id="25" name="text-102"/>
          <p:cNvSpPr txBox="1"/>
          <p:nvPr/>
        </p:nvSpPr>
        <p:spPr>
          <a:xfrm>
            <a:off x="1325880" y="3767328"/>
            <a:ext cx="1600200" cy="731520"/>
          </a:xfrm>
          <a:prstGeom prst="rect">
            <a:avLst/>
          </a:prstGeom>
          <a:noFill/>
          <a:ln/>
        </p:spPr>
        <p:txBody>
          <a:bodyPr wrap="square" lIns="0" tIns="0" rIns="0" bIns="0" rtlCol="0" anchor="ctr"/>
          <a:lstStyle/>
          <a:p>
            <a:pPr algn="l" indent="0" marL="0">
              <a:lnSpc>
                <a:spcPct val="105000"/>
              </a:lnSpc>
              <a:buNone/>
            </a:pPr>
            <a:r>
              <a:rPr lang="en-US" sz="1200" dirty="0">
                <a:solidFill>
                  <a:schemeClr val="tx1"/>
                </a:solidFill>
              </a:rPr>
              <a:t>Müsahibə etdiyimiz şirkətlər: 300–1 400+ işçi</a:t>
            </a:r>
            <a:endParaRPr lang="en-US" sz="1200" dirty="0"/>
          </a:p>
        </p:txBody>
      </p:sp>
      <p:sp>
        <p:nvSpPr>
          <p:cNvPr id="26" name="why-103"/>
          <p:cNvSpPr/>
          <p:nvPr/>
        </p:nvSpPr>
        <p:spPr>
          <a:xfrm>
            <a:off x="3268980" y="3639312"/>
            <a:ext cx="2606040" cy="960120"/>
          </a:xfrm>
          <a:prstGeom prst="roundRect">
            <a:avLst>
              <a:gd name="adj" fmla="val 9524"/>
            </a:avLst>
          </a:prstGeom>
          <a:solidFill>
            <a:schemeClr val="bg1"/>
          </a:solidFill>
          <a:ln/>
          <a:effectLst>
            <a:outerShdw sx="100000" sy="100000" kx="0" ky="0" algn="bl" rotWithShape="0" blurRad="127000" dist="25400" dir="5400000">
              <a:srgbClr val="0B1F3A">
                <a:alpha val="8000"/>
              </a:srgbClr>
            </a:outerShdw>
          </a:effectLst>
        </p:spPr>
      </p:sp>
      <p:sp>
        <p:nvSpPr>
          <p:cNvPr id="27" name="icon-bg-104"/>
          <p:cNvSpPr/>
          <p:nvPr/>
        </p:nvSpPr>
        <p:spPr>
          <a:xfrm>
            <a:off x="3451860" y="3840480"/>
            <a:ext cx="548640" cy="548640"/>
          </a:xfrm>
          <a:prstGeom prst="ellipse">
            <a:avLst/>
          </a:prstGeom>
          <a:solidFill>
            <a:schemeClr val="accent1">
              <a:alpha val="12000"/>
            </a:schemeClr>
          </a:solidFill>
          <a:ln/>
        </p:spPr>
      </p:sp>
      <p:pic>
        <p:nvPicPr>
          <p:cNvPr id="28" name="icon-LuWallet-105" descr="Wallet">    </p:cNvPr>
          <p:cNvPicPr>
            <a:picLocks noChangeAspect="1"/>
          </p:cNvPicPr>
          <p:nvPr/>
        </p:nvPicPr>
        <p:blipFill>
          <a:blip r:embed="rId5"/>
          <a:stretch>
            <a:fillRect/>
          </a:stretch>
        </p:blipFill>
        <p:spPr>
          <a:xfrm>
            <a:off x="3583534" y="3972154"/>
            <a:ext cx="285293" cy="285293"/>
          </a:xfrm>
          <a:prstGeom prst="rect">
            <a:avLst/>
          </a:prstGeom>
        </p:spPr>
      </p:pic>
      <p:sp>
        <p:nvSpPr>
          <p:cNvPr id="29" name="text-106"/>
          <p:cNvSpPr txBox="1"/>
          <p:nvPr/>
        </p:nvSpPr>
        <p:spPr>
          <a:xfrm>
            <a:off x="4137660" y="3767328"/>
            <a:ext cx="1600200" cy="731520"/>
          </a:xfrm>
          <a:prstGeom prst="rect">
            <a:avLst/>
          </a:prstGeom>
          <a:noFill/>
          <a:ln/>
        </p:spPr>
        <p:txBody>
          <a:bodyPr wrap="square" lIns="0" tIns="0" rIns="0" bIns="0" rtlCol="0" anchor="ctr"/>
          <a:lstStyle/>
          <a:p>
            <a:pPr algn="l" indent="0" marL="0">
              <a:lnSpc>
                <a:spcPct val="105000"/>
              </a:lnSpc>
              <a:buNone/>
            </a:pPr>
            <a:r>
              <a:rPr lang="en-US" sz="1200" dirty="0">
                <a:solidFill>
                  <a:schemeClr val="tx1"/>
                </a:solidFill>
              </a:rPr>
              <a:t>Qlobal FP&amp;A sistemləri onlar üçün baha və mürəkkəbdir</a:t>
            </a:r>
            <a:endParaRPr lang="en-US" sz="1200" dirty="0"/>
          </a:p>
        </p:txBody>
      </p:sp>
      <p:sp>
        <p:nvSpPr>
          <p:cNvPr id="30" name="why-107"/>
          <p:cNvSpPr/>
          <p:nvPr/>
        </p:nvSpPr>
        <p:spPr>
          <a:xfrm>
            <a:off x="6080760" y="3639312"/>
            <a:ext cx="2606040" cy="960120"/>
          </a:xfrm>
          <a:prstGeom prst="roundRect">
            <a:avLst>
              <a:gd name="adj" fmla="val 9524"/>
            </a:avLst>
          </a:prstGeom>
          <a:solidFill>
            <a:schemeClr val="bg1"/>
          </a:solidFill>
          <a:ln/>
          <a:effectLst>
            <a:outerShdw sx="100000" sy="100000" kx="0" ky="0" algn="bl" rotWithShape="0" blurRad="127000" dist="25400" dir="5400000">
              <a:srgbClr val="0B1F3A">
                <a:alpha val="8000"/>
              </a:srgbClr>
            </a:outerShdw>
          </a:effectLst>
        </p:spPr>
      </p:sp>
      <p:sp>
        <p:nvSpPr>
          <p:cNvPr id="31" name="icon-bg-108"/>
          <p:cNvSpPr/>
          <p:nvPr/>
        </p:nvSpPr>
        <p:spPr>
          <a:xfrm>
            <a:off x="6263640" y="3840480"/>
            <a:ext cx="548640" cy="548640"/>
          </a:xfrm>
          <a:prstGeom prst="ellipse">
            <a:avLst/>
          </a:prstGeom>
          <a:solidFill>
            <a:schemeClr val="accent1">
              <a:alpha val="12000"/>
            </a:schemeClr>
          </a:solidFill>
          <a:ln/>
        </p:spPr>
      </p:sp>
      <p:pic>
        <p:nvPicPr>
          <p:cNvPr id="32" name="icon-LuZap-109" descr="Zap">    </p:cNvPr>
          <p:cNvPicPr>
            <a:picLocks noChangeAspect="1"/>
          </p:cNvPicPr>
          <p:nvPr/>
        </p:nvPicPr>
        <p:blipFill>
          <a:blip r:embed="rId6"/>
          <a:stretch>
            <a:fillRect/>
          </a:stretch>
        </p:blipFill>
        <p:spPr>
          <a:xfrm>
            <a:off x="6395314" y="3972154"/>
            <a:ext cx="285293" cy="285293"/>
          </a:xfrm>
          <a:prstGeom prst="rect">
            <a:avLst/>
          </a:prstGeom>
        </p:spPr>
      </p:pic>
      <p:sp>
        <p:nvSpPr>
          <p:cNvPr id="33" name="text-110"/>
          <p:cNvSpPr txBox="1"/>
          <p:nvPr/>
        </p:nvSpPr>
        <p:spPr>
          <a:xfrm>
            <a:off x="6949440" y="3767328"/>
            <a:ext cx="1600200" cy="731520"/>
          </a:xfrm>
          <a:prstGeom prst="rect">
            <a:avLst/>
          </a:prstGeom>
          <a:noFill/>
          <a:ln/>
        </p:spPr>
        <p:txBody>
          <a:bodyPr wrap="square" lIns="0" tIns="0" rIns="0" bIns="0" rtlCol="0" anchor="ctr"/>
          <a:lstStyle/>
          <a:p>
            <a:pPr algn="l" indent="0" marL="0">
              <a:lnSpc>
                <a:spcPct val="105000"/>
              </a:lnSpc>
              <a:buNone/>
            </a:pPr>
            <a:r>
              <a:rPr lang="en-US" sz="1200" dirty="0">
                <a:solidFill>
                  <a:schemeClr val="tx1"/>
                </a:solidFill>
              </a:rPr>
              <a:t>Maliyyə komandası var — dəyəri dərhal görür</a:t>
            </a:r>
            <a:endParaRPr lang="en-US" sz="12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Planla. Təsdiqlə. Nəzarət et.</a:t>
            </a:r>
            <a:endParaRPr lang="en-US" sz="2800" dirty="0"/>
          </a:p>
        </p:txBody>
      </p:sp>
      <p:sp>
        <p:nvSpPr>
          <p:cNvPr id="3" name="value-statement-111"/>
          <p:cNvSpPr/>
          <p:nvPr/>
        </p:nvSpPr>
        <p:spPr>
          <a:xfrm>
            <a:off x="457200" y="1188720"/>
            <a:ext cx="8229600" cy="640080"/>
          </a:xfrm>
          <a:prstGeom prst="roundRect">
            <a:avLst>
              <a:gd name="adj" fmla="val 14286"/>
            </a:avLst>
          </a:prstGeom>
          <a:solidFill>
            <a:schemeClr val="tx1"/>
          </a:solidFill>
          <a:ln/>
          <a:effectLst>
            <a:outerShdw sx="100000" sy="100000" kx="0" ky="0" algn="bl" rotWithShape="0" blurRad="127000" dist="25400" dir="5400000">
              <a:srgbClr val="0B1F3A">
                <a:alpha val="8000"/>
              </a:srgbClr>
            </a:outerShdw>
          </a:effectLst>
        </p:spPr>
      </p:sp>
      <p:sp>
        <p:nvSpPr>
          <p:cNvPr id="4" name="text-112"/>
          <p:cNvSpPr txBox="1"/>
          <p:nvPr/>
        </p:nvSpPr>
        <p:spPr>
          <a:xfrm>
            <a:off x="731520" y="1188720"/>
            <a:ext cx="7680960" cy="640080"/>
          </a:xfrm>
          <a:prstGeom prst="rect">
            <a:avLst/>
          </a:prstGeom>
          <a:noFill/>
          <a:ln/>
        </p:spPr>
        <p:txBody>
          <a:bodyPr wrap="square" lIns="0" tIns="0" rIns="0" bIns="0" rtlCol="0" anchor="ctr"/>
          <a:lstStyle/>
          <a:p>
            <a:pPr algn="l" indent="0" marL="0">
              <a:lnSpc>
                <a:spcPct val="105000"/>
              </a:lnSpc>
              <a:buNone/>
            </a:pPr>
            <a:r>
              <a:rPr lang="en-US" sz="1600" b="1" dirty="0">
                <a:solidFill>
                  <a:schemeClr val="bg1"/>
                </a:solidFill>
              </a:rPr>
              <a:t>Büdcə prosesi Excel fayllarından bir platformaya: plan, təsdiq və nəzarət bir yerdə.</a:t>
            </a:r>
            <a:endParaRPr lang="en-US" sz="1600" dirty="0"/>
          </a:p>
        </p:txBody>
      </p:sp>
      <p:sp>
        <p:nvSpPr>
          <p:cNvPr id="5" name="pillar-113"/>
          <p:cNvSpPr/>
          <p:nvPr/>
        </p:nvSpPr>
        <p:spPr>
          <a:xfrm>
            <a:off x="457200" y="201168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6" name="icon-bg-114"/>
          <p:cNvSpPr/>
          <p:nvPr/>
        </p:nvSpPr>
        <p:spPr>
          <a:xfrm>
            <a:off x="685800" y="2212848"/>
            <a:ext cx="530352" cy="530352"/>
          </a:xfrm>
          <a:prstGeom prst="ellipse">
            <a:avLst/>
          </a:prstGeom>
          <a:solidFill>
            <a:schemeClr val="accent1">
              <a:alpha val="12000"/>
            </a:schemeClr>
          </a:solidFill>
          <a:ln/>
        </p:spPr>
      </p:sp>
      <p:pic>
        <p:nvPicPr>
          <p:cNvPr id="7" name="icon-LuChartNoAxesCombined-115" descr="ChartNoAxesCombined">    </p:cNvPr>
          <p:cNvPicPr>
            <a:picLocks noChangeAspect="1"/>
          </p:cNvPicPr>
          <p:nvPr/>
        </p:nvPicPr>
        <p:blipFill>
          <a:blip r:embed="rId1"/>
          <a:stretch>
            <a:fillRect/>
          </a:stretch>
        </p:blipFill>
        <p:spPr>
          <a:xfrm>
            <a:off x="813084" y="2340132"/>
            <a:ext cx="275783" cy="275783"/>
          </a:xfrm>
          <a:prstGeom prst="rect">
            <a:avLst/>
          </a:prstGeom>
        </p:spPr>
      </p:pic>
      <p:sp>
        <p:nvSpPr>
          <p:cNvPr id="8" name="text-116"/>
          <p:cNvSpPr txBox="1"/>
          <p:nvPr/>
        </p:nvSpPr>
        <p:spPr>
          <a:xfrm>
            <a:off x="1353312" y="2286000"/>
            <a:ext cx="1554480" cy="365760"/>
          </a:xfrm>
          <a:prstGeom prst="rect">
            <a:avLst/>
          </a:prstGeom>
          <a:noFill/>
          <a:ln/>
        </p:spPr>
        <p:txBody>
          <a:bodyPr wrap="square" lIns="0" tIns="0" rIns="0" bIns="0" rtlCol="0" anchor="ctr"/>
          <a:lstStyle/>
          <a:p>
            <a:pPr algn="l" indent="0" marL="0">
              <a:lnSpc>
                <a:spcPct val="105000"/>
              </a:lnSpc>
              <a:buNone/>
            </a:pPr>
            <a:r>
              <a:rPr lang="en-US" sz="1800" b="1" dirty="0">
                <a:solidFill>
                  <a:schemeClr val="tx1"/>
                </a:solidFill>
                <a:latin typeface="Cambria" pitchFamily="34" charset="0"/>
                <a:ea typeface="Cambria" pitchFamily="34" charset="-122"/>
                <a:cs typeface="Cambria" pitchFamily="34" charset="-120"/>
              </a:rPr>
              <a:t>Planla</a:t>
            </a:r>
            <a:endParaRPr lang="en-US" sz="1800" dirty="0"/>
          </a:p>
        </p:txBody>
      </p:sp>
      <p:sp>
        <p:nvSpPr>
          <p:cNvPr id="9" name="text-117"/>
          <p:cNvSpPr txBox="1"/>
          <p:nvPr/>
        </p:nvSpPr>
        <p:spPr>
          <a:xfrm>
            <a:off x="685800" y="2834640"/>
            <a:ext cx="2194560" cy="54864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Keçmiş illərin faktı yanında; hazır sənaye şablonları</a:t>
            </a:r>
            <a:endParaRPr lang="en-US" sz="1200" dirty="0"/>
          </a:p>
        </p:txBody>
      </p:sp>
      <p:sp>
        <p:nvSpPr>
          <p:cNvPr id="10" name="pillar-118"/>
          <p:cNvSpPr/>
          <p:nvPr/>
        </p:nvSpPr>
        <p:spPr>
          <a:xfrm>
            <a:off x="3268980" y="201168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11" name="icon-bg-119"/>
          <p:cNvSpPr/>
          <p:nvPr/>
        </p:nvSpPr>
        <p:spPr>
          <a:xfrm>
            <a:off x="3497580" y="2212848"/>
            <a:ext cx="530352" cy="530352"/>
          </a:xfrm>
          <a:prstGeom prst="ellipse">
            <a:avLst/>
          </a:prstGeom>
          <a:solidFill>
            <a:schemeClr val="accent1">
              <a:alpha val="12000"/>
            </a:schemeClr>
          </a:solidFill>
          <a:ln/>
        </p:spPr>
      </p:sp>
      <p:pic>
        <p:nvPicPr>
          <p:cNvPr id="12" name="icon-LuWorkflow-120" descr="Workflow">    </p:cNvPr>
          <p:cNvPicPr>
            <a:picLocks noChangeAspect="1"/>
          </p:cNvPicPr>
          <p:nvPr/>
        </p:nvPicPr>
        <p:blipFill>
          <a:blip r:embed="rId2"/>
          <a:stretch>
            <a:fillRect/>
          </a:stretch>
        </p:blipFill>
        <p:spPr>
          <a:xfrm>
            <a:off x="3624864" y="2340132"/>
            <a:ext cx="275783" cy="275783"/>
          </a:xfrm>
          <a:prstGeom prst="rect">
            <a:avLst/>
          </a:prstGeom>
        </p:spPr>
      </p:pic>
      <p:sp>
        <p:nvSpPr>
          <p:cNvPr id="13" name="text-121"/>
          <p:cNvSpPr txBox="1"/>
          <p:nvPr/>
        </p:nvSpPr>
        <p:spPr>
          <a:xfrm>
            <a:off x="4165092" y="2286000"/>
            <a:ext cx="1554480" cy="365760"/>
          </a:xfrm>
          <a:prstGeom prst="rect">
            <a:avLst/>
          </a:prstGeom>
          <a:noFill/>
          <a:ln/>
        </p:spPr>
        <p:txBody>
          <a:bodyPr wrap="square" lIns="0" tIns="0" rIns="0" bIns="0" rtlCol="0" anchor="ctr"/>
          <a:lstStyle/>
          <a:p>
            <a:pPr algn="l" indent="0" marL="0">
              <a:lnSpc>
                <a:spcPct val="105000"/>
              </a:lnSpc>
              <a:buNone/>
            </a:pPr>
            <a:r>
              <a:rPr lang="en-US" sz="1800" b="1" dirty="0">
                <a:solidFill>
                  <a:schemeClr val="tx1"/>
                </a:solidFill>
                <a:latin typeface="Cambria" pitchFamily="34" charset="0"/>
                <a:ea typeface="Cambria" pitchFamily="34" charset="-122"/>
                <a:cs typeface="Cambria" pitchFamily="34" charset="-120"/>
              </a:rPr>
              <a:t>Təsdiqlə</a:t>
            </a:r>
            <a:endParaRPr lang="en-US" sz="1800" dirty="0"/>
          </a:p>
        </p:txBody>
      </p:sp>
      <p:sp>
        <p:nvSpPr>
          <p:cNvPr id="14" name="text-122"/>
          <p:cNvSpPr txBox="1"/>
          <p:nvPr/>
        </p:nvSpPr>
        <p:spPr>
          <a:xfrm>
            <a:off x="3497580" y="2834640"/>
            <a:ext cx="2194560" cy="54864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Mərhələləri özünüz qurursunuz: kim, nə vaxt, hansı məbləğdən</a:t>
            </a:r>
            <a:endParaRPr lang="en-US" sz="1200" dirty="0"/>
          </a:p>
        </p:txBody>
      </p:sp>
      <p:sp>
        <p:nvSpPr>
          <p:cNvPr id="15" name="pillar-123"/>
          <p:cNvSpPr/>
          <p:nvPr/>
        </p:nvSpPr>
        <p:spPr>
          <a:xfrm>
            <a:off x="6080760" y="201168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16" name="icon-bg-124"/>
          <p:cNvSpPr/>
          <p:nvPr/>
        </p:nvSpPr>
        <p:spPr>
          <a:xfrm>
            <a:off x="6309360" y="2212848"/>
            <a:ext cx="530352" cy="530352"/>
          </a:xfrm>
          <a:prstGeom prst="ellipse">
            <a:avLst/>
          </a:prstGeom>
          <a:solidFill>
            <a:schemeClr val="accent1">
              <a:alpha val="12000"/>
            </a:schemeClr>
          </a:solidFill>
          <a:ln/>
        </p:spPr>
      </p:sp>
      <p:pic>
        <p:nvPicPr>
          <p:cNvPr id="17" name="icon-LuShieldCheck-125" descr="ShieldCheck">    </p:cNvPr>
          <p:cNvPicPr>
            <a:picLocks noChangeAspect="1"/>
          </p:cNvPicPr>
          <p:nvPr/>
        </p:nvPicPr>
        <p:blipFill>
          <a:blip r:embed="rId3"/>
          <a:stretch>
            <a:fillRect/>
          </a:stretch>
        </p:blipFill>
        <p:spPr>
          <a:xfrm>
            <a:off x="6436644" y="2340132"/>
            <a:ext cx="275783" cy="275783"/>
          </a:xfrm>
          <a:prstGeom prst="rect">
            <a:avLst/>
          </a:prstGeom>
        </p:spPr>
      </p:pic>
      <p:sp>
        <p:nvSpPr>
          <p:cNvPr id="18" name="text-126"/>
          <p:cNvSpPr txBox="1"/>
          <p:nvPr/>
        </p:nvSpPr>
        <p:spPr>
          <a:xfrm>
            <a:off x="6976872" y="2286000"/>
            <a:ext cx="1554480" cy="365760"/>
          </a:xfrm>
          <a:prstGeom prst="rect">
            <a:avLst/>
          </a:prstGeom>
          <a:noFill/>
          <a:ln/>
        </p:spPr>
        <p:txBody>
          <a:bodyPr wrap="square" lIns="0" tIns="0" rIns="0" bIns="0" rtlCol="0" anchor="ctr"/>
          <a:lstStyle/>
          <a:p>
            <a:pPr algn="l" indent="0" marL="0">
              <a:lnSpc>
                <a:spcPct val="105000"/>
              </a:lnSpc>
              <a:buNone/>
            </a:pPr>
            <a:r>
              <a:rPr lang="en-US" sz="1800" b="1" dirty="0">
                <a:solidFill>
                  <a:schemeClr val="tx1"/>
                </a:solidFill>
                <a:latin typeface="Cambria" pitchFamily="34" charset="0"/>
                <a:ea typeface="Cambria" pitchFamily="34" charset="-122"/>
                <a:cs typeface="Cambria" pitchFamily="34" charset="-120"/>
              </a:rPr>
              <a:t>Nəzarət et</a:t>
            </a:r>
            <a:endParaRPr lang="en-US" sz="1800" dirty="0"/>
          </a:p>
        </p:txBody>
      </p:sp>
      <p:sp>
        <p:nvSpPr>
          <p:cNvPr id="19" name="text-127"/>
          <p:cNvSpPr txBox="1"/>
          <p:nvPr/>
        </p:nvSpPr>
        <p:spPr>
          <a:xfrm>
            <a:off x="6309360" y="2834640"/>
            <a:ext cx="2194560" cy="54864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Hər xərc sorğusu büdcə qalığı ilə yoxlanılır</a:t>
            </a:r>
            <a:endParaRPr lang="en-US" sz="1200" dirty="0"/>
          </a:p>
        </p:txBody>
      </p:sp>
      <p:sp>
        <p:nvSpPr>
          <p:cNvPr id="20" name="alternatives-128"/>
          <p:cNvSpPr/>
          <p:nvPr/>
        </p:nvSpPr>
        <p:spPr>
          <a:xfrm>
            <a:off x="457200" y="3611880"/>
            <a:ext cx="8229600" cy="1005840"/>
          </a:xfrm>
          <a:prstGeom prst="roundRect">
            <a:avLst>
              <a:gd name="adj" fmla="val 9091"/>
            </a:avLst>
          </a:prstGeom>
          <a:solidFill>
            <a:schemeClr val="bg1"/>
          </a:solidFill>
          <a:ln/>
          <a:effectLst>
            <a:outerShdw sx="100000" sy="100000" kx="0" ky="0" algn="bl" rotWithShape="0" blurRad="127000" dist="25400" dir="5400000">
              <a:srgbClr val="0B1F3A">
                <a:alpha val="8000"/>
              </a:srgbClr>
            </a:outerShdw>
          </a:effectLst>
        </p:spPr>
      </p:sp>
      <p:sp>
        <p:nvSpPr>
          <p:cNvPr id="21" name="text-129"/>
          <p:cNvSpPr txBox="1"/>
          <p:nvPr/>
        </p:nvSpPr>
        <p:spPr>
          <a:xfrm>
            <a:off x="731520" y="3813048"/>
            <a:ext cx="1828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Excel</a:t>
            </a:r>
            <a:endParaRPr lang="en-US" sz="1400" dirty="0"/>
          </a:p>
        </p:txBody>
      </p:sp>
      <p:sp>
        <p:nvSpPr>
          <p:cNvPr id="22" name="text-130"/>
          <p:cNvSpPr txBox="1"/>
          <p:nvPr/>
        </p:nvSpPr>
        <p:spPr>
          <a:xfrm>
            <a:off x="731520" y="4096512"/>
            <a:ext cx="1783080" cy="4572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Pulsuz, amma dağınıq və izlənmir</a:t>
            </a:r>
            <a:endParaRPr lang="en-US" sz="1100" dirty="0"/>
          </a:p>
        </p:txBody>
      </p:sp>
      <p:sp>
        <p:nvSpPr>
          <p:cNvPr id="23" name="text-131"/>
          <p:cNvSpPr txBox="1"/>
          <p:nvPr/>
        </p:nvSpPr>
        <p:spPr>
          <a:xfrm>
            <a:off x="2743200" y="3813048"/>
            <a:ext cx="1828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Qlobal FP&amp;A</a:t>
            </a:r>
            <a:endParaRPr lang="en-US" sz="1400" dirty="0"/>
          </a:p>
        </p:txBody>
      </p:sp>
      <p:sp>
        <p:nvSpPr>
          <p:cNvPr id="24" name="text-132"/>
          <p:cNvSpPr txBox="1"/>
          <p:nvPr/>
        </p:nvSpPr>
        <p:spPr>
          <a:xfrm>
            <a:off x="2743200" y="4096512"/>
            <a:ext cx="1783080" cy="4572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Güclü, amma baha və mürəkkəb</a:t>
            </a:r>
            <a:endParaRPr lang="en-US" sz="1100" dirty="0"/>
          </a:p>
        </p:txBody>
      </p:sp>
      <p:sp>
        <p:nvSpPr>
          <p:cNvPr id="25" name="text-133"/>
          <p:cNvSpPr txBox="1"/>
          <p:nvPr/>
        </p:nvSpPr>
        <p:spPr>
          <a:xfrm>
            <a:off x="4754880" y="3813048"/>
            <a:ext cx="1828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ERP / 1C</a:t>
            </a:r>
            <a:endParaRPr lang="en-US" sz="1400" dirty="0"/>
          </a:p>
        </p:txBody>
      </p:sp>
      <p:sp>
        <p:nvSpPr>
          <p:cNvPr id="26" name="text-134"/>
          <p:cNvSpPr txBox="1"/>
          <p:nvPr/>
        </p:nvSpPr>
        <p:spPr>
          <a:xfrm>
            <a:off x="4754880" y="4096512"/>
            <a:ext cx="1783080" cy="4572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Uçot aparır, büdcə prosesini əhatə etmir</a:t>
            </a:r>
            <a:endParaRPr lang="en-US" sz="1100" dirty="0"/>
          </a:p>
        </p:txBody>
      </p:sp>
      <p:sp>
        <p:nvSpPr>
          <p:cNvPr id="27" name="text-135"/>
          <p:cNvSpPr txBox="1"/>
          <p:nvPr/>
        </p:nvSpPr>
        <p:spPr>
          <a:xfrm>
            <a:off x="6766560" y="3813048"/>
            <a:ext cx="1828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accent1"/>
                </a:solidFill>
              </a:rPr>
              <a:t>FinBridge</a:t>
            </a:r>
            <a:endParaRPr lang="en-US" sz="1400" dirty="0"/>
          </a:p>
        </p:txBody>
      </p:sp>
      <p:sp>
        <p:nvSpPr>
          <p:cNvPr id="28" name="text-136"/>
          <p:cNvSpPr txBox="1"/>
          <p:nvPr/>
        </p:nvSpPr>
        <p:spPr>
          <a:xfrm>
            <a:off x="6766560" y="4096512"/>
            <a:ext cx="1783080" cy="457200"/>
          </a:xfrm>
          <a:prstGeom prst="rect">
            <a:avLst/>
          </a:prstGeom>
          <a:noFill/>
          <a:ln/>
        </p:spPr>
        <p:txBody>
          <a:bodyPr wrap="square" lIns="0" tIns="0" rIns="0" bIns="0" rtlCol="0" anchor="t"/>
          <a:lstStyle/>
          <a:p>
            <a:pPr algn="l" indent="0" marL="0">
              <a:lnSpc>
                <a:spcPct val="105000"/>
              </a:lnSpc>
              <a:buNone/>
            </a:pPr>
            <a:r>
              <a:rPr lang="en-US" sz="1100" dirty="0">
                <a:solidFill>
                  <a:schemeClr val="accent1"/>
                </a:solidFill>
              </a:rPr>
              <a:t>Azərbaycan dilində, MUS hesablar planı ilə hazır</a:t>
            </a:r>
            <a:endParaRPr lang="en-US" sz="11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MVP: planlama və büdcə nəzarəti</a:t>
            </a:r>
            <a:endParaRPr lang="en-US" sz="2800" dirty="0"/>
          </a:p>
        </p:txBody>
      </p:sp>
      <p:sp>
        <p:nvSpPr>
          <p:cNvPr id="3" name="num-137"/>
          <p:cNvSpPr/>
          <p:nvPr/>
        </p:nvSpPr>
        <p:spPr>
          <a:xfrm>
            <a:off x="457200" y="1161288"/>
            <a:ext cx="292608" cy="292608"/>
          </a:xfrm>
          <a:prstGeom prst="ellipse">
            <a:avLst/>
          </a:prstGeom>
          <a:solidFill>
            <a:schemeClr val="accent1"/>
          </a:solidFill>
          <a:ln/>
        </p:spPr>
      </p:sp>
      <p:sp>
        <p:nvSpPr>
          <p:cNvPr id="4" name="num-text-138"/>
          <p:cNvSpPr txBox="1"/>
          <p:nvPr/>
        </p:nvSpPr>
        <p:spPr>
          <a:xfrm>
            <a:off x="457200" y="1161288"/>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1</a:t>
            </a:r>
            <a:endParaRPr lang="en-US" sz="1200" dirty="0"/>
          </a:p>
        </p:txBody>
      </p:sp>
      <p:sp>
        <p:nvSpPr>
          <p:cNvPr id="5" name="text-139"/>
          <p:cNvSpPr txBox="1"/>
          <p:nvPr/>
        </p:nvSpPr>
        <p:spPr>
          <a:xfrm>
            <a:off x="841248" y="1143000"/>
            <a:ext cx="4114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Planla</a:t>
            </a:r>
            <a:endParaRPr lang="en-US" sz="1400" dirty="0"/>
          </a:p>
        </p:txBody>
      </p:sp>
      <p:sp>
        <p:nvSpPr>
          <p:cNvPr id="6" name="text-140"/>
          <p:cNvSpPr txBox="1"/>
          <p:nvPr/>
        </p:nvSpPr>
        <p:spPr>
          <a:xfrm>
            <a:off x="841248" y="1399032"/>
            <a:ext cx="4206240" cy="2286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2025 fakt, 2026 proqnoz və 2027 plan yan-yana</a:t>
            </a:r>
            <a:endParaRPr lang="en-US" sz="1100" dirty="0"/>
          </a:p>
        </p:txBody>
      </p:sp>
      <p:sp>
        <p:nvSpPr>
          <p:cNvPr id="7" name="shot-frame-141"/>
          <p:cNvSpPr/>
          <p:nvPr/>
        </p:nvSpPr>
        <p:spPr>
          <a:xfrm>
            <a:off x="402336" y="1728216"/>
            <a:ext cx="5056863" cy="2505456"/>
          </a:xfrm>
          <a:prstGeom prst="roundRect">
            <a:avLst>
              <a:gd name="adj" fmla="val 2920"/>
            </a:avLst>
          </a:prstGeom>
          <a:solidFill>
            <a:schemeClr val="bg1"/>
          </a:solidFill>
          <a:ln/>
          <a:effectLst>
            <a:outerShdw sx="100000" sy="100000" kx="0" ky="0" algn="bl" rotWithShape="0" blurRad="127000" dist="25400" dir="5400000">
              <a:srgbClr val="0B1F3A">
                <a:alpha val="8000"/>
              </a:srgbClr>
            </a:outerShdw>
          </a:effectLst>
        </p:spPr>
      </p:sp>
      <p:pic>
        <p:nvPicPr>
          <p:cNvPr id="8" name="screenshot-142" descr="Planlama müqayisəsi qrafiki: əvvəlki illərin faktı və 2027 planı departamentlər üzrə">    </p:cNvPr>
          <p:cNvPicPr>
            <a:picLocks noChangeAspect="1"/>
          </p:cNvPicPr>
          <p:nvPr/>
        </p:nvPicPr>
        <p:blipFill>
          <a:blip r:embed="rId1"/>
          <a:stretch>
            <a:fillRect/>
          </a:stretch>
        </p:blipFill>
        <p:spPr>
          <a:xfrm>
            <a:off x="457200" y="1783080"/>
            <a:ext cx="4947135" cy="2395728"/>
          </a:xfrm>
          <a:prstGeom prst="rect">
            <a:avLst/>
          </a:prstGeom>
        </p:spPr>
      </p:pic>
      <p:sp>
        <p:nvSpPr>
          <p:cNvPr id="9" name="num-143"/>
          <p:cNvSpPr/>
          <p:nvPr/>
        </p:nvSpPr>
        <p:spPr>
          <a:xfrm>
            <a:off x="5696943" y="1161288"/>
            <a:ext cx="292608" cy="292608"/>
          </a:xfrm>
          <a:prstGeom prst="ellipse">
            <a:avLst/>
          </a:prstGeom>
          <a:solidFill>
            <a:schemeClr val="accent1"/>
          </a:solidFill>
          <a:ln/>
        </p:spPr>
      </p:sp>
      <p:sp>
        <p:nvSpPr>
          <p:cNvPr id="10" name="num-text-144"/>
          <p:cNvSpPr txBox="1"/>
          <p:nvPr/>
        </p:nvSpPr>
        <p:spPr>
          <a:xfrm>
            <a:off x="5696943" y="1161288"/>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2</a:t>
            </a:r>
            <a:endParaRPr lang="en-US" sz="1200" dirty="0"/>
          </a:p>
        </p:txBody>
      </p:sp>
      <p:sp>
        <p:nvSpPr>
          <p:cNvPr id="11" name="text-145"/>
          <p:cNvSpPr txBox="1"/>
          <p:nvPr/>
        </p:nvSpPr>
        <p:spPr>
          <a:xfrm>
            <a:off x="6080991" y="1143000"/>
            <a:ext cx="237744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Nəzarət et</a:t>
            </a:r>
            <a:endParaRPr lang="en-US" sz="1400" dirty="0"/>
          </a:p>
        </p:txBody>
      </p:sp>
      <p:sp>
        <p:nvSpPr>
          <p:cNvPr id="12" name="text-146"/>
          <p:cNvSpPr txBox="1"/>
          <p:nvPr/>
        </p:nvSpPr>
        <p:spPr>
          <a:xfrm>
            <a:off x="6080991" y="1399032"/>
            <a:ext cx="2377440" cy="2286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büdcəni aşan sorğu dərhal görünür</a:t>
            </a:r>
            <a:endParaRPr lang="en-US" sz="1100" dirty="0"/>
          </a:p>
        </p:txBody>
      </p:sp>
      <p:sp>
        <p:nvSpPr>
          <p:cNvPr id="13" name="shot-frame-147"/>
          <p:cNvSpPr/>
          <p:nvPr/>
        </p:nvSpPr>
        <p:spPr>
          <a:xfrm>
            <a:off x="5642079" y="1728216"/>
            <a:ext cx="2880906" cy="2505456"/>
          </a:xfrm>
          <a:prstGeom prst="roundRect">
            <a:avLst>
              <a:gd name="adj" fmla="val 2920"/>
            </a:avLst>
          </a:prstGeom>
          <a:solidFill>
            <a:schemeClr val="bg1"/>
          </a:solidFill>
          <a:ln/>
          <a:effectLst>
            <a:outerShdw sx="100000" sy="100000" kx="0" ky="0" algn="bl" rotWithShape="0" blurRad="127000" dist="25400" dir="5400000">
              <a:srgbClr val="0B1F3A">
                <a:alpha val="8000"/>
              </a:srgbClr>
            </a:outerShdw>
          </a:effectLst>
        </p:spPr>
      </p:sp>
      <p:pic>
        <p:nvPicPr>
          <p:cNvPr id="14" name="screenshot-148" descr="Satınalma sorğusunda büdcə yoxlaması: büdcəni aşır">    </p:cNvPr>
          <p:cNvPicPr>
            <a:picLocks noChangeAspect="1"/>
          </p:cNvPicPr>
          <p:nvPr/>
        </p:nvPicPr>
        <p:blipFill>
          <a:blip r:embed="rId2"/>
          <a:stretch>
            <a:fillRect/>
          </a:stretch>
        </p:blipFill>
        <p:spPr>
          <a:xfrm>
            <a:off x="5696943" y="1783080"/>
            <a:ext cx="2771178" cy="2395728"/>
          </a:xfrm>
          <a:prstGeom prst="rect">
            <a:avLst/>
          </a:prstGeom>
        </p:spPr>
      </p:pic>
      <p:sp>
        <p:nvSpPr>
          <p:cNvPr id="15" name="text-149"/>
          <p:cNvSpPr txBox="1"/>
          <p:nvPr/>
        </p:nvSpPr>
        <p:spPr>
          <a:xfrm>
            <a:off x="457200" y="4343400"/>
            <a:ext cx="8229600" cy="274320"/>
          </a:xfrm>
          <a:prstGeom prst="rect">
            <a:avLst/>
          </a:prstGeom>
          <a:noFill/>
          <a:ln/>
        </p:spPr>
        <p:txBody>
          <a:bodyPr wrap="square" lIns="0" tIns="0" rIns="0" bIns="0" rtlCol="0" anchor="t"/>
          <a:lstStyle/>
          <a:p>
            <a:pPr algn="l" indent="0" marL="0">
              <a:lnSpc>
                <a:spcPct val="105000"/>
              </a:lnSpc>
              <a:buNone/>
            </a:pPr>
            <a:r>
              <a:rPr lang="en-US" sz="1300" i="1" dirty="0">
                <a:solidFill>
                  <a:schemeClr val="tx2"/>
                </a:solidFill>
              </a:rPr>
              <a:t>Planlamaçı keçmiş illəri görərək planlayır — xərc isə təsdiqə çatmadan büdcə ilə yoxlanılır.</a:t>
            </a:r>
            <a:endParaRPr lang="en-US" sz="13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MVP: təsdiq axını və rəhbərlik paneli</a:t>
            </a:r>
            <a:endParaRPr lang="en-US" sz="2800" dirty="0"/>
          </a:p>
        </p:txBody>
      </p:sp>
      <p:sp>
        <p:nvSpPr>
          <p:cNvPr id="3" name="num-150"/>
          <p:cNvSpPr/>
          <p:nvPr/>
        </p:nvSpPr>
        <p:spPr>
          <a:xfrm>
            <a:off x="903976" y="1161288"/>
            <a:ext cx="292608" cy="292608"/>
          </a:xfrm>
          <a:prstGeom prst="ellipse">
            <a:avLst/>
          </a:prstGeom>
          <a:solidFill>
            <a:schemeClr val="accent1"/>
          </a:solidFill>
          <a:ln/>
        </p:spPr>
      </p:sp>
      <p:sp>
        <p:nvSpPr>
          <p:cNvPr id="4" name="num-text-151"/>
          <p:cNvSpPr txBox="1"/>
          <p:nvPr/>
        </p:nvSpPr>
        <p:spPr>
          <a:xfrm>
            <a:off x="903976" y="1161288"/>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3</a:t>
            </a:r>
            <a:endParaRPr lang="en-US" sz="1200" dirty="0"/>
          </a:p>
        </p:txBody>
      </p:sp>
      <p:sp>
        <p:nvSpPr>
          <p:cNvPr id="5" name="text-152"/>
          <p:cNvSpPr txBox="1"/>
          <p:nvPr/>
        </p:nvSpPr>
        <p:spPr>
          <a:xfrm>
            <a:off x="1288024" y="1143000"/>
            <a:ext cx="18288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Təsdiqlə</a:t>
            </a:r>
            <a:endParaRPr lang="en-US" sz="1400" dirty="0"/>
          </a:p>
        </p:txBody>
      </p:sp>
      <p:sp>
        <p:nvSpPr>
          <p:cNvPr id="6" name="text-153"/>
          <p:cNvSpPr txBox="1"/>
          <p:nvPr/>
        </p:nvSpPr>
        <p:spPr>
          <a:xfrm>
            <a:off x="1288024" y="1399032"/>
            <a:ext cx="1828800" cy="2286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mərhələlər, SLA, təlimat</a:t>
            </a:r>
            <a:endParaRPr lang="en-US" sz="1100" dirty="0"/>
          </a:p>
        </p:txBody>
      </p:sp>
      <p:sp>
        <p:nvSpPr>
          <p:cNvPr id="7" name="shot-frame-154"/>
          <p:cNvSpPr/>
          <p:nvPr/>
        </p:nvSpPr>
        <p:spPr>
          <a:xfrm>
            <a:off x="849112" y="1728216"/>
            <a:ext cx="2144408" cy="2962656"/>
          </a:xfrm>
          <a:prstGeom prst="roundRect">
            <a:avLst>
              <a:gd name="adj" fmla="val 3411"/>
            </a:avLst>
          </a:prstGeom>
          <a:solidFill>
            <a:schemeClr val="bg1"/>
          </a:solidFill>
          <a:ln/>
          <a:effectLst>
            <a:outerShdw sx="100000" sy="100000" kx="0" ky="0" algn="bl" rotWithShape="0" blurRad="127000" dist="25400" dir="5400000">
              <a:srgbClr val="0B1F3A">
                <a:alpha val="8000"/>
              </a:srgbClr>
            </a:outerShdw>
          </a:effectLst>
        </p:spPr>
      </p:sp>
      <p:pic>
        <p:nvPicPr>
          <p:cNvPr id="8" name="screenshot-155" descr="Təsdiq axını: mərhələlər, statuslar, CFO üçün təlimat">    </p:cNvPr>
          <p:cNvPicPr>
            <a:picLocks noChangeAspect="1"/>
          </p:cNvPicPr>
          <p:nvPr/>
        </p:nvPicPr>
        <p:blipFill>
          <a:blip r:embed="rId1"/>
          <a:stretch>
            <a:fillRect/>
          </a:stretch>
        </p:blipFill>
        <p:spPr>
          <a:xfrm>
            <a:off x="903976" y="1783080"/>
            <a:ext cx="2034680" cy="2852928"/>
          </a:xfrm>
          <a:prstGeom prst="rect">
            <a:avLst/>
          </a:prstGeom>
        </p:spPr>
      </p:pic>
      <p:sp>
        <p:nvSpPr>
          <p:cNvPr id="9" name="num-156"/>
          <p:cNvSpPr/>
          <p:nvPr/>
        </p:nvSpPr>
        <p:spPr>
          <a:xfrm>
            <a:off x="3231264" y="1161288"/>
            <a:ext cx="292608" cy="292608"/>
          </a:xfrm>
          <a:prstGeom prst="ellipse">
            <a:avLst/>
          </a:prstGeom>
          <a:solidFill>
            <a:schemeClr val="accent1"/>
          </a:solidFill>
          <a:ln/>
        </p:spPr>
      </p:sp>
      <p:sp>
        <p:nvSpPr>
          <p:cNvPr id="10" name="num-text-157"/>
          <p:cNvSpPr txBox="1"/>
          <p:nvPr/>
        </p:nvSpPr>
        <p:spPr>
          <a:xfrm>
            <a:off x="3231264" y="1161288"/>
            <a:ext cx="292608" cy="292608"/>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4</a:t>
            </a:r>
            <a:endParaRPr lang="en-US" sz="1200" dirty="0"/>
          </a:p>
        </p:txBody>
      </p:sp>
      <p:sp>
        <p:nvSpPr>
          <p:cNvPr id="11" name="text-158"/>
          <p:cNvSpPr txBox="1"/>
          <p:nvPr/>
        </p:nvSpPr>
        <p:spPr>
          <a:xfrm>
            <a:off x="3615312" y="1143000"/>
            <a:ext cx="3657600" cy="274320"/>
          </a:xfrm>
          <a:prstGeom prst="rect">
            <a:avLst/>
          </a:prstGeom>
          <a:noFill/>
          <a:ln/>
        </p:spPr>
        <p:txBody>
          <a:bodyPr wrap="square" lIns="0" tIns="0" rIns="0" bIns="0" rtlCol="0" anchor="t"/>
          <a:lstStyle/>
          <a:p>
            <a:pPr algn="l" indent="0" marL="0">
              <a:lnSpc>
                <a:spcPct val="105000"/>
              </a:lnSpc>
              <a:buNone/>
            </a:pPr>
            <a:r>
              <a:rPr lang="en-US" sz="1400" b="1" dirty="0">
                <a:solidFill>
                  <a:schemeClr val="tx1"/>
                </a:solidFill>
              </a:rPr>
              <a:t>İzlə</a:t>
            </a:r>
            <a:endParaRPr lang="en-US" sz="1400" dirty="0"/>
          </a:p>
        </p:txBody>
      </p:sp>
      <p:sp>
        <p:nvSpPr>
          <p:cNvPr id="12" name="text-159"/>
          <p:cNvSpPr txBox="1"/>
          <p:nvPr/>
        </p:nvSpPr>
        <p:spPr>
          <a:xfrm>
            <a:off x="3615312" y="1399032"/>
            <a:ext cx="4114800" cy="228600"/>
          </a:xfrm>
          <a:prstGeom prst="rect">
            <a:avLst/>
          </a:prstGeom>
          <a:noFill/>
          <a:ln/>
        </p:spPr>
        <p:txBody>
          <a:bodyPr wrap="square" lIns="0" tIns="0" rIns="0" bIns="0" rtlCol="0" anchor="t"/>
          <a:lstStyle/>
          <a:p>
            <a:pPr algn="l" indent="0" marL="0">
              <a:lnSpc>
                <a:spcPct val="105000"/>
              </a:lnSpc>
              <a:buNone/>
            </a:pPr>
            <a:r>
              <a:rPr lang="en-US" sz="1100" dirty="0">
                <a:solidFill>
                  <a:schemeClr val="accent4"/>
                </a:solidFill>
              </a:rPr>
              <a:t>plan, fakt, öhdəlik və qalıq — bir baxışda</a:t>
            </a:r>
            <a:endParaRPr lang="en-US" sz="1100" dirty="0"/>
          </a:p>
        </p:txBody>
      </p:sp>
      <p:sp>
        <p:nvSpPr>
          <p:cNvPr id="13" name="shot-frame-160"/>
          <p:cNvSpPr/>
          <p:nvPr/>
        </p:nvSpPr>
        <p:spPr>
          <a:xfrm>
            <a:off x="3176400" y="1728216"/>
            <a:ext cx="5118488" cy="2962656"/>
          </a:xfrm>
          <a:prstGeom prst="roundRect">
            <a:avLst>
              <a:gd name="adj" fmla="val 2469"/>
            </a:avLst>
          </a:prstGeom>
          <a:solidFill>
            <a:schemeClr val="bg1"/>
          </a:solidFill>
          <a:ln/>
          <a:effectLst>
            <a:outerShdw sx="100000" sy="100000" kx="0" ky="0" algn="bl" rotWithShape="0" blurRad="127000" dist="25400" dir="5400000">
              <a:srgbClr val="0B1F3A">
                <a:alpha val="8000"/>
              </a:srgbClr>
            </a:outerShdw>
          </a:effectLst>
        </p:spPr>
      </p:sp>
      <p:pic>
        <p:nvPicPr>
          <p:cNvPr id="14" name="screenshot-161" descr="İdarəetmə paneli: KPI-lar, aylar üzrə büdcə və fakt, CAPEX və OPEX">    </p:cNvPr>
          <p:cNvPicPr>
            <a:picLocks noChangeAspect="1"/>
          </p:cNvPicPr>
          <p:nvPr/>
        </p:nvPicPr>
        <p:blipFill>
          <a:blip r:embed="rId2"/>
          <a:stretch>
            <a:fillRect/>
          </a:stretch>
        </p:blipFill>
        <p:spPr>
          <a:xfrm>
            <a:off x="3231264" y="1783080"/>
            <a:ext cx="5008760" cy="2852928"/>
          </a:xfrm>
          <a:prstGeom prst="rect">
            <a:avLst/>
          </a:prstGeom>
        </p:spPr>
      </p:pic>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Go-to-market: ilk müştərilərə yol</a:t>
            </a:r>
            <a:endParaRPr lang="en-US" sz="2800" dirty="0"/>
          </a:p>
        </p:txBody>
      </p:sp>
      <p:sp>
        <p:nvSpPr>
          <p:cNvPr id="3" name="gtm-card-162"/>
          <p:cNvSpPr/>
          <p:nvPr/>
        </p:nvSpPr>
        <p:spPr>
          <a:xfrm>
            <a:off x="457200" y="118872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4" name="icon-bg-163"/>
          <p:cNvSpPr/>
          <p:nvPr/>
        </p:nvSpPr>
        <p:spPr>
          <a:xfrm>
            <a:off x="685800" y="1371600"/>
            <a:ext cx="457200" cy="457200"/>
          </a:xfrm>
          <a:prstGeom prst="ellipse">
            <a:avLst/>
          </a:prstGeom>
          <a:solidFill>
            <a:schemeClr val="accent1">
              <a:alpha val="12000"/>
            </a:schemeClr>
          </a:solidFill>
          <a:ln/>
        </p:spPr>
      </p:sp>
      <p:pic>
        <p:nvPicPr>
          <p:cNvPr id="5" name="icon-LuGift-164" descr="Gift">    </p:cNvPr>
          <p:cNvPicPr>
            <a:picLocks noChangeAspect="1"/>
          </p:cNvPicPr>
          <p:nvPr/>
        </p:nvPicPr>
        <p:blipFill>
          <a:blip r:embed="rId1"/>
          <a:stretch>
            <a:fillRect/>
          </a:stretch>
        </p:blipFill>
        <p:spPr>
          <a:xfrm>
            <a:off x="795528" y="1481328"/>
            <a:ext cx="237744" cy="237744"/>
          </a:xfrm>
          <a:prstGeom prst="rect">
            <a:avLst/>
          </a:prstGeom>
        </p:spPr>
      </p:pic>
      <p:sp>
        <p:nvSpPr>
          <p:cNvPr id="6" name="text-165"/>
          <p:cNvSpPr txBox="1"/>
          <p:nvPr/>
        </p:nvSpPr>
        <p:spPr>
          <a:xfrm>
            <a:off x="1261872" y="1371600"/>
            <a:ext cx="1645920" cy="457200"/>
          </a:xfrm>
          <a:prstGeom prst="rect">
            <a:avLst/>
          </a:prstGeom>
          <a:noFill/>
          <a:ln/>
        </p:spPr>
        <p:txBody>
          <a:bodyPr wrap="square" lIns="0" tIns="0" rIns="0" bIns="0" rtlCol="0" anchor="ctr"/>
          <a:lstStyle/>
          <a:p>
            <a:pPr algn="l" indent="0" marL="0">
              <a:lnSpc>
                <a:spcPct val="105000"/>
              </a:lnSpc>
              <a:buNone/>
            </a:pPr>
            <a:r>
              <a:rPr lang="en-US" sz="1300" b="1" dirty="0">
                <a:solidFill>
                  <a:schemeClr val="accent1"/>
                </a:solidFill>
              </a:rPr>
              <a:t>Təklif</a:t>
            </a:r>
            <a:endParaRPr lang="en-US" sz="1300" dirty="0"/>
          </a:p>
        </p:txBody>
      </p:sp>
      <p:sp>
        <p:nvSpPr>
          <p:cNvPr id="7" name="text-166"/>
          <p:cNvSpPr txBox="1"/>
          <p:nvPr/>
        </p:nvSpPr>
        <p:spPr>
          <a:xfrm>
            <a:off x="685800" y="1938528"/>
            <a:ext cx="2194560" cy="594360"/>
          </a:xfrm>
          <a:prstGeom prst="rect">
            <a:avLst/>
          </a:prstGeom>
          <a:noFill/>
          <a:ln/>
        </p:spPr>
        <p:txBody>
          <a:bodyPr wrap="square" lIns="0" tIns="0" rIns="0" bIns="0" rtlCol="0" anchor="t"/>
          <a:lstStyle/>
          <a:p>
            <a:pPr algn="l" indent="0" marL="0">
              <a:lnSpc>
                <a:spcPct val="105000"/>
              </a:lnSpc>
              <a:buNone/>
            </a:pPr>
            <a:r>
              <a:rPr lang="en-US" sz="1300" dirty="0">
                <a:solidFill>
                  <a:schemeClr val="tx1"/>
                </a:solidFill>
              </a:rPr>
              <a:t>Pulsuz test portalı — şirkətin öz strukturu və büdcəsi ilə</a:t>
            </a:r>
            <a:endParaRPr lang="en-US" sz="1300" dirty="0"/>
          </a:p>
        </p:txBody>
      </p:sp>
      <p:sp>
        <p:nvSpPr>
          <p:cNvPr id="8" name="gtm-card-167"/>
          <p:cNvSpPr/>
          <p:nvPr/>
        </p:nvSpPr>
        <p:spPr>
          <a:xfrm>
            <a:off x="3268980" y="118872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9" name="icon-bg-168"/>
          <p:cNvSpPr/>
          <p:nvPr/>
        </p:nvSpPr>
        <p:spPr>
          <a:xfrm>
            <a:off x="3497580" y="1371600"/>
            <a:ext cx="457200" cy="457200"/>
          </a:xfrm>
          <a:prstGeom prst="ellipse">
            <a:avLst/>
          </a:prstGeom>
          <a:solidFill>
            <a:schemeClr val="accent1">
              <a:alpha val="12000"/>
            </a:schemeClr>
          </a:solidFill>
          <a:ln/>
        </p:spPr>
      </p:sp>
      <p:pic>
        <p:nvPicPr>
          <p:cNvPr id="10" name="icon-LuLinkedin-169" descr="Linkedin">    </p:cNvPr>
          <p:cNvPicPr>
            <a:picLocks noChangeAspect="1"/>
          </p:cNvPicPr>
          <p:nvPr/>
        </p:nvPicPr>
        <p:blipFill>
          <a:blip r:embed="rId2"/>
          <a:stretch>
            <a:fillRect/>
          </a:stretch>
        </p:blipFill>
        <p:spPr>
          <a:xfrm>
            <a:off x="3607308" y="1481328"/>
            <a:ext cx="237744" cy="237744"/>
          </a:xfrm>
          <a:prstGeom prst="rect">
            <a:avLst/>
          </a:prstGeom>
        </p:spPr>
      </p:pic>
      <p:sp>
        <p:nvSpPr>
          <p:cNvPr id="11" name="text-170"/>
          <p:cNvSpPr txBox="1"/>
          <p:nvPr/>
        </p:nvSpPr>
        <p:spPr>
          <a:xfrm>
            <a:off x="4073652" y="1371600"/>
            <a:ext cx="1645920" cy="457200"/>
          </a:xfrm>
          <a:prstGeom prst="rect">
            <a:avLst/>
          </a:prstGeom>
          <a:noFill/>
          <a:ln/>
        </p:spPr>
        <p:txBody>
          <a:bodyPr wrap="square" lIns="0" tIns="0" rIns="0" bIns="0" rtlCol="0" anchor="ctr"/>
          <a:lstStyle/>
          <a:p>
            <a:pPr algn="l" indent="0" marL="0">
              <a:lnSpc>
                <a:spcPct val="105000"/>
              </a:lnSpc>
              <a:buNone/>
            </a:pPr>
            <a:r>
              <a:rPr lang="en-US" sz="1300" b="1" dirty="0">
                <a:solidFill>
                  <a:schemeClr val="accent1"/>
                </a:solidFill>
              </a:rPr>
              <a:t>Kanal</a:t>
            </a:r>
            <a:endParaRPr lang="en-US" sz="1300" dirty="0"/>
          </a:p>
        </p:txBody>
      </p:sp>
      <p:sp>
        <p:nvSpPr>
          <p:cNvPr id="12" name="text-171"/>
          <p:cNvSpPr txBox="1"/>
          <p:nvPr/>
        </p:nvSpPr>
        <p:spPr>
          <a:xfrm>
            <a:off x="3497580" y="1938528"/>
            <a:ext cx="2194560" cy="594360"/>
          </a:xfrm>
          <a:prstGeom prst="rect">
            <a:avLst/>
          </a:prstGeom>
          <a:noFill/>
          <a:ln/>
        </p:spPr>
        <p:txBody>
          <a:bodyPr wrap="square" lIns="0" tIns="0" rIns="0" bIns="0" rtlCol="0" anchor="t"/>
          <a:lstStyle/>
          <a:p>
            <a:pPr algn="l" indent="0" marL="0">
              <a:lnSpc>
                <a:spcPct val="105000"/>
              </a:lnSpc>
              <a:buNone/>
            </a:pPr>
            <a:r>
              <a:rPr lang="en-US" sz="1300" dirty="0">
                <a:solidFill>
                  <a:schemeClr val="tx1"/>
                </a:solidFill>
              </a:rPr>
              <a:t>LinkedIn + üz-üzə görüşlər: CFO və maliyyə rəhbərləri</a:t>
            </a:r>
            <a:endParaRPr lang="en-US" sz="1300" dirty="0"/>
          </a:p>
        </p:txBody>
      </p:sp>
      <p:sp>
        <p:nvSpPr>
          <p:cNvPr id="13" name="gtm-card-172"/>
          <p:cNvSpPr/>
          <p:nvPr/>
        </p:nvSpPr>
        <p:spPr>
          <a:xfrm>
            <a:off x="6080760" y="1188720"/>
            <a:ext cx="2606040" cy="1417320"/>
          </a:xfrm>
          <a:prstGeom prst="roundRect">
            <a:avLst>
              <a:gd name="adj" fmla="val 6452"/>
            </a:avLst>
          </a:prstGeom>
          <a:solidFill>
            <a:schemeClr val="bg1"/>
          </a:solidFill>
          <a:ln/>
          <a:effectLst>
            <a:outerShdw sx="100000" sy="100000" kx="0" ky="0" algn="bl" rotWithShape="0" blurRad="127000" dist="25400" dir="5400000">
              <a:srgbClr val="0B1F3A">
                <a:alpha val="8000"/>
              </a:srgbClr>
            </a:outerShdw>
          </a:effectLst>
        </p:spPr>
      </p:sp>
      <p:sp>
        <p:nvSpPr>
          <p:cNvPr id="14" name="icon-bg-173"/>
          <p:cNvSpPr/>
          <p:nvPr/>
        </p:nvSpPr>
        <p:spPr>
          <a:xfrm>
            <a:off x="6309360" y="1371600"/>
            <a:ext cx="457200" cy="457200"/>
          </a:xfrm>
          <a:prstGeom prst="ellipse">
            <a:avLst/>
          </a:prstGeom>
          <a:solidFill>
            <a:schemeClr val="accent1">
              <a:alpha val="12000"/>
            </a:schemeClr>
          </a:solidFill>
          <a:ln/>
        </p:spPr>
      </p:sp>
      <p:pic>
        <p:nvPicPr>
          <p:cNvPr id="15" name="icon-LuTarget-174" descr="Target">    </p:cNvPr>
          <p:cNvPicPr>
            <a:picLocks noChangeAspect="1"/>
          </p:cNvPicPr>
          <p:nvPr/>
        </p:nvPicPr>
        <p:blipFill>
          <a:blip r:embed="rId3"/>
          <a:stretch>
            <a:fillRect/>
          </a:stretch>
        </p:blipFill>
        <p:spPr>
          <a:xfrm>
            <a:off x="6419088" y="1481328"/>
            <a:ext cx="237744" cy="237744"/>
          </a:xfrm>
          <a:prstGeom prst="rect">
            <a:avLst/>
          </a:prstGeom>
        </p:spPr>
      </p:pic>
      <p:sp>
        <p:nvSpPr>
          <p:cNvPr id="16" name="text-175"/>
          <p:cNvSpPr txBox="1"/>
          <p:nvPr/>
        </p:nvSpPr>
        <p:spPr>
          <a:xfrm>
            <a:off x="6885432" y="1371600"/>
            <a:ext cx="1645920" cy="457200"/>
          </a:xfrm>
          <a:prstGeom prst="rect">
            <a:avLst/>
          </a:prstGeom>
          <a:noFill/>
          <a:ln/>
        </p:spPr>
        <p:txBody>
          <a:bodyPr wrap="square" lIns="0" tIns="0" rIns="0" bIns="0" rtlCol="0" anchor="ctr"/>
          <a:lstStyle/>
          <a:p>
            <a:pPr algn="l" indent="0" marL="0">
              <a:lnSpc>
                <a:spcPct val="105000"/>
              </a:lnSpc>
              <a:buNone/>
            </a:pPr>
            <a:r>
              <a:rPr lang="en-US" sz="1300" b="1" dirty="0">
                <a:solidFill>
                  <a:schemeClr val="accent1"/>
                </a:solidFill>
              </a:rPr>
              <a:t>İlk müştərilər</a:t>
            </a:r>
            <a:endParaRPr lang="en-US" sz="1300" dirty="0"/>
          </a:p>
        </p:txBody>
      </p:sp>
      <p:sp>
        <p:nvSpPr>
          <p:cNvPr id="17" name="text-176"/>
          <p:cNvSpPr txBox="1"/>
          <p:nvPr/>
        </p:nvSpPr>
        <p:spPr>
          <a:xfrm>
            <a:off x="6309360" y="1938528"/>
            <a:ext cx="2194560" cy="594360"/>
          </a:xfrm>
          <a:prstGeom prst="rect">
            <a:avLst/>
          </a:prstGeom>
          <a:noFill/>
          <a:ln/>
        </p:spPr>
        <p:txBody>
          <a:bodyPr wrap="square" lIns="0" tIns="0" rIns="0" bIns="0" rtlCol="0" anchor="t"/>
          <a:lstStyle/>
          <a:p>
            <a:pPr algn="l" indent="0" marL="0">
              <a:lnSpc>
                <a:spcPct val="105000"/>
              </a:lnSpc>
              <a:buNone/>
            </a:pPr>
            <a:r>
              <a:rPr lang="en-US" sz="1300" dirty="0">
                <a:solidFill>
                  <a:schemeClr val="tx1"/>
                </a:solidFill>
              </a:rPr>
              <a:t>Müsahibə etdiyimiz 6 şirkət, sonra digər KOS-lar</a:t>
            </a:r>
            <a:endParaRPr lang="en-US" sz="1300" dirty="0"/>
          </a:p>
        </p:txBody>
      </p:sp>
      <p:sp>
        <p:nvSpPr>
          <p:cNvPr id="18" name="gtm-steps-177"/>
          <p:cNvSpPr/>
          <p:nvPr/>
        </p:nvSpPr>
        <p:spPr>
          <a:xfrm>
            <a:off x="457200" y="2788920"/>
            <a:ext cx="8229600" cy="1325880"/>
          </a:xfrm>
          <a:prstGeom prst="roundRect">
            <a:avLst>
              <a:gd name="adj" fmla="val 6897"/>
            </a:avLst>
          </a:prstGeom>
          <a:solidFill>
            <a:schemeClr val="bg1"/>
          </a:solidFill>
          <a:ln/>
          <a:effectLst>
            <a:outerShdw sx="100000" sy="100000" kx="0" ky="0" algn="bl" rotWithShape="0" blurRad="127000" dist="25400" dir="5400000">
              <a:srgbClr val="0B1F3A">
                <a:alpha val="8000"/>
              </a:srgbClr>
            </a:outerShdw>
          </a:effectLst>
        </p:spPr>
      </p:sp>
      <p:sp>
        <p:nvSpPr>
          <p:cNvPr id="19" name="steps-line"/>
          <p:cNvSpPr/>
          <p:nvPr/>
        </p:nvSpPr>
        <p:spPr>
          <a:xfrm>
            <a:off x="1485900" y="3227832"/>
            <a:ext cx="6172200" cy="0"/>
          </a:xfrm>
          <a:prstGeom prst="line">
            <a:avLst/>
          </a:prstGeom>
          <a:noFill/>
          <a:ln w="19050">
            <a:solidFill>
              <a:schemeClr val="accent5"/>
            </a:solidFill>
            <a:prstDash val="solid"/>
          </a:ln>
        </p:spPr>
      </p:sp>
      <p:sp>
        <p:nvSpPr>
          <p:cNvPr id="20" name="num-178"/>
          <p:cNvSpPr/>
          <p:nvPr/>
        </p:nvSpPr>
        <p:spPr>
          <a:xfrm>
            <a:off x="1284732" y="3026664"/>
            <a:ext cx="402336" cy="402336"/>
          </a:xfrm>
          <a:prstGeom prst="ellipse">
            <a:avLst/>
          </a:prstGeom>
          <a:solidFill>
            <a:schemeClr val="accent1"/>
          </a:solidFill>
          <a:ln/>
        </p:spPr>
      </p:sp>
      <p:sp>
        <p:nvSpPr>
          <p:cNvPr id="21" name="num-text-179"/>
          <p:cNvSpPr txBox="1"/>
          <p:nvPr/>
        </p:nvSpPr>
        <p:spPr>
          <a:xfrm>
            <a:off x="1284732" y="3026664"/>
            <a:ext cx="402336" cy="402336"/>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1</a:t>
            </a:r>
            <a:endParaRPr lang="en-US" sz="1400" dirty="0"/>
          </a:p>
        </p:txBody>
      </p:sp>
      <p:sp>
        <p:nvSpPr>
          <p:cNvPr id="22" name="text-180"/>
          <p:cNvSpPr txBox="1"/>
          <p:nvPr/>
        </p:nvSpPr>
        <p:spPr>
          <a:xfrm>
            <a:off x="525780" y="3520440"/>
            <a:ext cx="1920240" cy="256032"/>
          </a:xfrm>
          <a:prstGeom prst="rect">
            <a:avLst/>
          </a:prstGeom>
          <a:noFill/>
          <a:ln/>
        </p:spPr>
        <p:txBody>
          <a:bodyPr wrap="square" lIns="0" tIns="0" rIns="0" bIns="0" rtlCol="0" anchor="t"/>
          <a:lstStyle/>
          <a:p>
            <a:pPr algn="ctr" indent="0" marL="0">
              <a:lnSpc>
                <a:spcPct val="105000"/>
              </a:lnSpc>
              <a:buNone/>
            </a:pPr>
            <a:r>
              <a:rPr lang="en-US" sz="1300" b="1" dirty="0">
                <a:solidFill>
                  <a:schemeClr val="tx1"/>
                </a:solidFill>
              </a:rPr>
              <a:t>LinkedIn müraciəti</a:t>
            </a:r>
            <a:endParaRPr lang="en-US" sz="1300" dirty="0"/>
          </a:p>
        </p:txBody>
      </p:sp>
      <p:sp>
        <p:nvSpPr>
          <p:cNvPr id="23" name="text-181"/>
          <p:cNvSpPr txBox="1"/>
          <p:nvPr/>
        </p:nvSpPr>
        <p:spPr>
          <a:xfrm>
            <a:off x="525780" y="3767328"/>
            <a:ext cx="1920240" cy="22860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CFO, maliyyə direktoru</a:t>
            </a:r>
            <a:endParaRPr lang="en-US" sz="1100" dirty="0"/>
          </a:p>
        </p:txBody>
      </p:sp>
      <p:sp>
        <p:nvSpPr>
          <p:cNvPr id="24" name="num-182"/>
          <p:cNvSpPr/>
          <p:nvPr/>
        </p:nvSpPr>
        <p:spPr>
          <a:xfrm>
            <a:off x="3342132" y="3026664"/>
            <a:ext cx="402336" cy="402336"/>
          </a:xfrm>
          <a:prstGeom prst="ellipse">
            <a:avLst/>
          </a:prstGeom>
          <a:solidFill>
            <a:schemeClr val="accent1"/>
          </a:solidFill>
          <a:ln/>
        </p:spPr>
      </p:sp>
      <p:sp>
        <p:nvSpPr>
          <p:cNvPr id="25" name="num-text-183"/>
          <p:cNvSpPr txBox="1"/>
          <p:nvPr/>
        </p:nvSpPr>
        <p:spPr>
          <a:xfrm>
            <a:off x="3342132" y="3026664"/>
            <a:ext cx="402336" cy="402336"/>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2</a:t>
            </a:r>
            <a:endParaRPr lang="en-US" sz="1400" dirty="0"/>
          </a:p>
        </p:txBody>
      </p:sp>
      <p:sp>
        <p:nvSpPr>
          <p:cNvPr id="26" name="text-184"/>
          <p:cNvSpPr txBox="1"/>
          <p:nvPr/>
        </p:nvSpPr>
        <p:spPr>
          <a:xfrm>
            <a:off x="2583180" y="3520440"/>
            <a:ext cx="1920240" cy="256032"/>
          </a:xfrm>
          <a:prstGeom prst="rect">
            <a:avLst/>
          </a:prstGeom>
          <a:noFill/>
          <a:ln/>
        </p:spPr>
        <p:txBody>
          <a:bodyPr wrap="square" lIns="0" tIns="0" rIns="0" bIns="0" rtlCol="0" anchor="t"/>
          <a:lstStyle/>
          <a:p>
            <a:pPr algn="ctr" indent="0" marL="0">
              <a:lnSpc>
                <a:spcPct val="105000"/>
              </a:lnSpc>
              <a:buNone/>
            </a:pPr>
            <a:r>
              <a:rPr lang="en-US" sz="1300" b="1" dirty="0">
                <a:solidFill>
                  <a:schemeClr val="tx1"/>
                </a:solidFill>
              </a:rPr>
              <a:t>Görüş və canlı demo</a:t>
            </a:r>
            <a:endParaRPr lang="en-US" sz="1300" dirty="0"/>
          </a:p>
        </p:txBody>
      </p:sp>
      <p:sp>
        <p:nvSpPr>
          <p:cNvPr id="27" name="text-185"/>
          <p:cNvSpPr txBox="1"/>
          <p:nvPr/>
        </p:nvSpPr>
        <p:spPr>
          <a:xfrm>
            <a:off x="2583180" y="3767328"/>
            <a:ext cx="1920240" cy="22860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MVP-ni göstəririk</a:t>
            </a:r>
            <a:endParaRPr lang="en-US" sz="1100" dirty="0"/>
          </a:p>
        </p:txBody>
      </p:sp>
      <p:sp>
        <p:nvSpPr>
          <p:cNvPr id="28" name="num-186"/>
          <p:cNvSpPr/>
          <p:nvPr/>
        </p:nvSpPr>
        <p:spPr>
          <a:xfrm>
            <a:off x="5399532" y="3026664"/>
            <a:ext cx="402336" cy="402336"/>
          </a:xfrm>
          <a:prstGeom prst="ellipse">
            <a:avLst/>
          </a:prstGeom>
          <a:solidFill>
            <a:schemeClr val="accent1"/>
          </a:solidFill>
          <a:ln/>
        </p:spPr>
      </p:sp>
      <p:sp>
        <p:nvSpPr>
          <p:cNvPr id="29" name="num-text-187"/>
          <p:cNvSpPr txBox="1"/>
          <p:nvPr/>
        </p:nvSpPr>
        <p:spPr>
          <a:xfrm>
            <a:off x="5399532" y="3026664"/>
            <a:ext cx="402336" cy="402336"/>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3</a:t>
            </a:r>
            <a:endParaRPr lang="en-US" sz="1400" dirty="0"/>
          </a:p>
        </p:txBody>
      </p:sp>
      <p:sp>
        <p:nvSpPr>
          <p:cNvPr id="30" name="text-188"/>
          <p:cNvSpPr txBox="1"/>
          <p:nvPr/>
        </p:nvSpPr>
        <p:spPr>
          <a:xfrm>
            <a:off x="4640580" y="3520440"/>
            <a:ext cx="1920240" cy="256032"/>
          </a:xfrm>
          <a:prstGeom prst="rect">
            <a:avLst/>
          </a:prstGeom>
          <a:noFill/>
          <a:ln/>
        </p:spPr>
        <p:txBody>
          <a:bodyPr wrap="square" lIns="0" tIns="0" rIns="0" bIns="0" rtlCol="0" anchor="t"/>
          <a:lstStyle/>
          <a:p>
            <a:pPr algn="ctr" indent="0" marL="0">
              <a:lnSpc>
                <a:spcPct val="105000"/>
              </a:lnSpc>
              <a:buNone/>
            </a:pPr>
            <a:r>
              <a:rPr lang="en-US" sz="1300" b="1" dirty="0">
                <a:solidFill>
                  <a:schemeClr val="tx1"/>
                </a:solidFill>
              </a:rPr>
              <a:t>Test portalı</a:t>
            </a:r>
            <a:endParaRPr lang="en-US" sz="1300" dirty="0"/>
          </a:p>
        </p:txBody>
      </p:sp>
      <p:sp>
        <p:nvSpPr>
          <p:cNvPr id="31" name="text-189"/>
          <p:cNvSpPr txBox="1"/>
          <p:nvPr/>
        </p:nvSpPr>
        <p:spPr>
          <a:xfrm>
            <a:off x="4640580" y="3767328"/>
            <a:ext cx="1920240" cy="22860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şirkətin öz strukturu ilə</a:t>
            </a:r>
            <a:endParaRPr lang="en-US" sz="1100" dirty="0"/>
          </a:p>
        </p:txBody>
      </p:sp>
      <p:sp>
        <p:nvSpPr>
          <p:cNvPr id="32" name="num-190"/>
          <p:cNvSpPr/>
          <p:nvPr/>
        </p:nvSpPr>
        <p:spPr>
          <a:xfrm>
            <a:off x="7456932" y="3026664"/>
            <a:ext cx="402336" cy="402336"/>
          </a:xfrm>
          <a:prstGeom prst="ellipse">
            <a:avLst/>
          </a:prstGeom>
          <a:solidFill>
            <a:schemeClr val="accent2"/>
          </a:solidFill>
          <a:ln/>
        </p:spPr>
      </p:sp>
      <p:sp>
        <p:nvSpPr>
          <p:cNvPr id="33" name="num-text-191"/>
          <p:cNvSpPr txBox="1"/>
          <p:nvPr/>
        </p:nvSpPr>
        <p:spPr>
          <a:xfrm>
            <a:off x="7456932" y="3026664"/>
            <a:ext cx="402336" cy="402336"/>
          </a:xfrm>
          <a:prstGeom prst="rect">
            <a:avLst/>
          </a:prstGeom>
          <a:noFill/>
          <a:ln/>
        </p:spPr>
        <p:txBody>
          <a:bodyPr wrap="square" lIns="0" tIns="0" rIns="0" bIns="0" rtlCol="0" anchor="ctr"/>
          <a:lstStyle/>
          <a:p>
            <a:pPr algn="ctr" indent="0" marL="0">
              <a:lnSpc>
                <a:spcPct val="105000"/>
              </a:lnSpc>
              <a:buNone/>
            </a:pPr>
            <a:r>
              <a:rPr lang="en-US" sz="1400" b="1" dirty="0">
                <a:solidFill>
                  <a:schemeClr val="bg1"/>
                </a:solidFill>
              </a:rPr>
              <a:t>4</a:t>
            </a:r>
            <a:endParaRPr lang="en-US" sz="1400" dirty="0"/>
          </a:p>
        </p:txBody>
      </p:sp>
      <p:sp>
        <p:nvSpPr>
          <p:cNvPr id="34" name="text-192"/>
          <p:cNvSpPr txBox="1"/>
          <p:nvPr/>
        </p:nvSpPr>
        <p:spPr>
          <a:xfrm>
            <a:off x="6697980" y="3520440"/>
            <a:ext cx="1920240" cy="256032"/>
          </a:xfrm>
          <a:prstGeom prst="rect">
            <a:avLst/>
          </a:prstGeom>
          <a:noFill/>
          <a:ln/>
        </p:spPr>
        <p:txBody>
          <a:bodyPr wrap="square" lIns="0" tIns="0" rIns="0" bIns="0" rtlCol="0" anchor="t"/>
          <a:lstStyle/>
          <a:p>
            <a:pPr algn="ctr" indent="0" marL="0">
              <a:lnSpc>
                <a:spcPct val="105000"/>
              </a:lnSpc>
              <a:buNone/>
            </a:pPr>
            <a:r>
              <a:rPr lang="en-US" sz="1300" b="1" dirty="0">
                <a:solidFill>
                  <a:schemeClr val="tx1"/>
                </a:solidFill>
              </a:rPr>
              <a:t>Pilot</a:t>
            </a:r>
            <a:endParaRPr lang="en-US" sz="1300" dirty="0"/>
          </a:p>
        </p:txBody>
      </p:sp>
      <p:sp>
        <p:nvSpPr>
          <p:cNvPr id="35" name="text-193"/>
          <p:cNvSpPr txBox="1"/>
          <p:nvPr/>
        </p:nvSpPr>
        <p:spPr>
          <a:xfrm>
            <a:off x="6697980" y="3767328"/>
            <a:ext cx="1920240" cy="228600"/>
          </a:xfrm>
          <a:prstGeom prst="rect">
            <a:avLst/>
          </a:prstGeom>
          <a:noFill/>
          <a:ln/>
        </p:spPr>
        <p:txBody>
          <a:bodyPr wrap="square" lIns="0" tIns="0" rIns="0" bIns="0" rtlCol="0" anchor="t"/>
          <a:lstStyle/>
          <a:p>
            <a:pPr algn="ctr" indent="0" marL="0">
              <a:lnSpc>
                <a:spcPct val="105000"/>
              </a:lnSpc>
              <a:buNone/>
            </a:pPr>
            <a:r>
              <a:rPr lang="en-US" sz="1100" dirty="0">
                <a:solidFill>
                  <a:schemeClr val="accent4"/>
                </a:solidFill>
              </a:rPr>
              <a:t>növbəti illik büdcə</a:t>
            </a:r>
            <a:endParaRPr lang="en-US" sz="1100" dirty="0"/>
          </a:p>
        </p:txBody>
      </p:sp>
      <p:sp>
        <p:nvSpPr>
          <p:cNvPr id="36" name="icon-bg-194"/>
          <p:cNvSpPr/>
          <p:nvPr/>
        </p:nvSpPr>
        <p:spPr>
          <a:xfrm>
            <a:off x="457200" y="4261104"/>
            <a:ext cx="365760" cy="365760"/>
          </a:xfrm>
          <a:prstGeom prst="ellipse">
            <a:avLst/>
          </a:prstGeom>
          <a:solidFill>
            <a:schemeClr val="accent1">
              <a:alpha val="15000"/>
            </a:schemeClr>
          </a:solidFill>
          <a:ln/>
        </p:spPr>
      </p:sp>
      <p:pic>
        <p:nvPicPr>
          <p:cNvPr id="37" name="icon-LuCalendarClock-195" descr="CalendarClock">    </p:cNvPr>
          <p:cNvPicPr>
            <a:picLocks noChangeAspect="1"/>
          </p:cNvPicPr>
          <p:nvPr/>
        </p:nvPicPr>
        <p:blipFill>
          <a:blip r:embed="rId4"/>
          <a:stretch>
            <a:fillRect/>
          </a:stretch>
        </p:blipFill>
        <p:spPr>
          <a:xfrm>
            <a:off x="544982" y="4348886"/>
            <a:ext cx="190195" cy="190195"/>
          </a:xfrm>
          <a:prstGeom prst="rect">
            <a:avLst/>
          </a:prstGeom>
        </p:spPr>
      </p:pic>
      <p:sp>
        <p:nvSpPr>
          <p:cNvPr id="38" name="text-196"/>
          <p:cNvSpPr txBox="1"/>
          <p:nvPr/>
        </p:nvSpPr>
        <p:spPr>
          <a:xfrm>
            <a:off x="932688" y="4261104"/>
            <a:ext cx="7680960" cy="365760"/>
          </a:xfrm>
          <a:prstGeom prst="rect">
            <a:avLst/>
          </a:prstGeom>
          <a:noFill/>
          <a:ln/>
        </p:spPr>
        <p:txBody>
          <a:bodyPr wrap="square" lIns="0" tIns="0" rIns="0" bIns="0" rtlCol="0" anchor="ctr"/>
          <a:lstStyle/>
          <a:p>
            <a:pPr algn="l" indent="0" marL="0">
              <a:lnSpc>
                <a:spcPct val="105000"/>
              </a:lnSpc>
              <a:buNone/>
            </a:pPr>
            <a:r>
              <a:rPr lang="en-US" sz="1300" dirty="0">
                <a:solidFill>
                  <a:schemeClr val="tx2"/>
                </a:solidFill>
              </a:rPr>
              <a:t>Vaxt uyğundur: illik büdcələr adətən IV rübdə hazırlanır — 2027 dövrü indi başlayır.</a:t>
            </a:r>
            <a:endParaRPr lang="en-US" sz="13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logo" descr="FinBridge loqosu">    </p:cNvPr>
          <p:cNvPicPr>
            <a:picLocks noChangeAspect="1"/>
          </p:cNvPicPr>
          <p:nvPr/>
        </p:nvPicPr>
        <p:blipFill>
          <a:blip r:embed="rId1"/>
          <a:stretch>
            <a:fillRect/>
          </a:stretch>
        </p:blipFill>
        <p:spPr>
          <a:xfrm>
            <a:off x="548640" y="1188720"/>
            <a:ext cx="502920" cy="502920"/>
          </a:xfrm>
          <a:prstGeom prst="rect">
            <a:avLst/>
          </a:prstGeom>
        </p:spPr>
      </p:pic>
      <p:sp>
        <p:nvSpPr>
          <p:cNvPr id="3" name="Text 7"/>
          <p:cNvSpPr/>
          <p:nvPr>
            <p:ph idx="107" type="title" hasCustomPrompt="1"/>
          </p:nvPr>
        </p:nvSpPr>
        <p:spPr>
          <a:xfrm>
            <a:off x="548640" y="1783080"/>
            <a:ext cx="4754880" cy="868680"/>
          </a:xfrm>
          <a:prstGeom prst="rect">
            <a:avLst/>
          </a:prstGeom>
          <a:noFill/>
          <a:ln/>
        </p:spPr>
        <p:txBody>
          <a:bodyPr wrap="square" lIns="0" tIns="0" rIns="0" bIns="0" rtlCol="0" anchor="ctr"/>
          <a:lstStyle/>
          <a:p>
            <a:pPr algn="l" indent="0" marL="0">
              <a:buNone/>
            </a:pPr>
            <a:r>
              <a:rPr lang="en-US" sz="5000" b="1" dirty="0">
                <a:solidFill>
                  <a:schemeClr val="bg1"/>
                </a:solidFill>
                <a:latin typeface="Cambria" pitchFamily="34" charset="0"/>
                <a:ea typeface="Cambria" pitchFamily="34" charset="-122"/>
                <a:cs typeface="Cambria" pitchFamily="34" charset="-120"/>
              </a:rPr>
              <a:t>FinBridge</a:t>
            </a:r>
            <a:endParaRPr lang="en-US" sz="5000" dirty="0"/>
          </a:p>
        </p:txBody>
      </p:sp>
      <p:sp>
        <p:nvSpPr>
          <p:cNvPr id="4" name="Text 7"/>
          <p:cNvSpPr/>
          <p:nvPr>
            <p:ph idx="108" type="body" hasCustomPrompt="1"/>
          </p:nvPr>
        </p:nvSpPr>
        <p:spPr>
          <a:xfrm>
            <a:off x="548640" y="2697480"/>
            <a:ext cx="4572000" cy="777240"/>
          </a:xfrm>
          <a:prstGeom prst="rect">
            <a:avLst/>
          </a:prstGeom>
          <a:noFill/>
          <a:ln/>
        </p:spPr>
        <p:txBody>
          <a:bodyPr wrap="square" lIns="0" tIns="0" rIns="0" bIns="0"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Büdcəni Excel-dən çıxarırıq.</a:t>
            </a:r>
            <a:endParaRPr lang="en-US" sz="2000" dirty="0"/>
          </a:p>
        </p:txBody>
      </p:sp>
      <p:sp>
        <p:nvSpPr>
          <p:cNvPr id="5" name="text-197"/>
          <p:cNvSpPr txBox="1"/>
          <p:nvPr/>
        </p:nvSpPr>
        <p:spPr>
          <a:xfrm>
            <a:off x="548640" y="3429000"/>
            <a:ext cx="4572000" cy="274320"/>
          </a:xfrm>
          <a:prstGeom prst="rect">
            <a:avLst/>
          </a:prstGeom>
          <a:noFill/>
          <a:ln/>
        </p:spPr>
        <p:txBody>
          <a:bodyPr wrap="square" lIns="0" tIns="0" rIns="0" bIns="0" rtlCol="0" anchor="t"/>
          <a:lstStyle/>
          <a:p>
            <a:pPr algn="l" indent="0" marL="0">
              <a:lnSpc>
                <a:spcPct val="105000"/>
              </a:lnSpc>
              <a:buNone/>
            </a:pPr>
            <a:r>
              <a:rPr lang="en-US" sz="1300" dirty="0">
                <a:solidFill>
                  <a:schemeClr val="accent5"/>
                </a:solidFill>
              </a:rPr>
              <a:t>Təşəkkür edirik! Canlı demonu göstərməyə hazırıq.</a:t>
            </a:r>
            <a:endParaRPr lang="en-US" sz="1300" dirty="0"/>
          </a:p>
        </p:txBody>
      </p:sp>
      <p:sp>
        <p:nvSpPr>
          <p:cNvPr id="6" name="next-steps-198"/>
          <p:cNvSpPr/>
          <p:nvPr/>
        </p:nvSpPr>
        <p:spPr>
          <a:xfrm>
            <a:off x="5623560" y="960120"/>
            <a:ext cx="2971800" cy="3108960"/>
          </a:xfrm>
          <a:prstGeom prst="roundRect">
            <a:avLst>
              <a:gd name="adj" fmla="val 3077"/>
            </a:avLst>
          </a:prstGeom>
          <a:solidFill>
            <a:schemeClr val="bg1"/>
          </a:solidFill>
          <a:ln/>
          <a:effectLst>
            <a:outerShdw sx="100000" sy="100000" kx="0" ky="0" algn="bl" rotWithShape="0" blurRad="127000" dist="25400" dir="5400000">
              <a:srgbClr val="0B1F3A">
                <a:alpha val="8000"/>
              </a:srgbClr>
            </a:outerShdw>
          </a:effectLst>
        </p:spPr>
      </p:sp>
      <p:sp>
        <p:nvSpPr>
          <p:cNvPr id="7" name="text-199"/>
          <p:cNvSpPr txBox="1"/>
          <p:nvPr/>
        </p:nvSpPr>
        <p:spPr>
          <a:xfrm>
            <a:off x="5897880" y="1188720"/>
            <a:ext cx="2468880" cy="32004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latin typeface="Cambria" pitchFamily="34" charset="0"/>
                <a:ea typeface="Cambria" pitchFamily="34" charset="-122"/>
                <a:cs typeface="Cambria" pitchFamily="34" charset="-120"/>
              </a:rPr>
              <a:t>Növbəti addımlar</a:t>
            </a:r>
            <a:endParaRPr lang="en-US" sz="1600" dirty="0"/>
          </a:p>
        </p:txBody>
      </p:sp>
      <p:sp>
        <p:nvSpPr>
          <p:cNvPr id="8" name="num-200"/>
          <p:cNvSpPr/>
          <p:nvPr/>
        </p:nvSpPr>
        <p:spPr>
          <a:xfrm>
            <a:off x="5897880" y="1737360"/>
            <a:ext cx="329184" cy="329184"/>
          </a:xfrm>
          <a:prstGeom prst="ellipse">
            <a:avLst/>
          </a:prstGeom>
          <a:solidFill>
            <a:schemeClr val="accent1"/>
          </a:solidFill>
          <a:ln/>
        </p:spPr>
      </p:sp>
      <p:sp>
        <p:nvSpPr>
          <p:cNvPr id="9" name="num-text-201"/>
          <p:cNvSpPr txBox="1"/>
          <p:nvPr/>
        </p:nvSpPr>
        <p:spPr>
          <a:xfrm>
            <a:off x="5897880" y="1737360"/>
            <a:ext cx="329184" cy="329184"/>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1</a:t>
            </a:r>
            <a:endParaRPr lang="en-US" sz="1200" dirty="0"/>
          </a:p>
        </p:txBody>
      </p:sp>
      <p:sp>
        <p:nvSpPr>
          <p:cNvPr id="10" name="text-202"/>
          <p:cNvSpPr txBox="1"/>
          <p:nvPr/>
        </p:nvSpPr>
        <p:spPr>
          <a:xfrm>
            <a:off x="6355080" y="1627632"/>
            <a:ext cx="2057400" cy="548640"/>
          </a:xfrm>
          <a:prstGeom prst="rect">
            <a:avLst/>
          </a:prstGeom>
          <a:noFill/>
          <a:ln/>
        </p:spPr>
        <p:txBody>
          <a:bodyPr wrap="square" lIns="0" tIns="0" rIns="0" bIns="0" rtlCol="0" anchor="ctr"/>
          <a:lstStyle/>
          <a:p>
            <a:pPr algn="l" indent="0" marL="0">
              <a:lnSpc>
                <a:spcPct val="105000"/>
              </a:lnSpc>
              <a:buNone/>
            </a:pPr>
            <a:r>
              <a:rPr lang="en-US" sz="1300" dirty="0">
                <a:solidFill>
                  <a:schemeClr val="tx1"/>
                </a:solidFill>
              </a:rPr>
              <a:t>6 şirkətə test portalı təqdim etmək</a:t>
            </a:r>
            <a:endParaRPr lang="en-US" sz="1300" dirty="0"/>
          </a:p>
        </p:txBody>
      </p:sp>
      <p:sp>
        <p:nvSpPr>
          <p:cNvPr id="11" name="num-203"/>
          <p:cNvSpPr/>
          <p:nvPr/>
        </p:nvSpPr>
        <p:spPr>
          <a:xfrm>
            <a:off x="5897880" y="2468880"/>
            <a:ext cx="329184" cy="329184"/>
          </a:xfrm>
          <a:prstGeom prst="ellipse">
            <a:avLst/>
          </a:prstGeom>
          <a:solidFill>
            <a:schemeClr val="accent2"/>
          </a:solidFill>
          <a:ln/>
        </p:spPr>
      </p:sp>
      <p:sp>
        <p:nvSpPr>
          <p:cNvPr id="12" name="num-text-204"/>
          <p:cNvSpPr txBox="1"/>
          <p:nvPr/>
        </p:nvSpPr>
        <p:spPr>
          <a:xfrm>
            <a:off x="5897880" y="2468880"/>
            <a:ext cx="329184" cy="329184"/>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2</a:t>
            </a:r>
            <a:endParaRPr lang="en-US" sz="1200" dirty="0"/>
          </a:p>
        </p:txBody>
      </p:sp>
      <p:sp>
        <p:nvSpPr>
          <p:cNvPr id="13" name="text-205"/>
          <p:cNvSpPr txBox="1"/>
          <p:nvPr/>
        </p:nvSpPr>
        <p:spPr>
          <a:xfrm>
            <a:off x="6355080" y="2359152"/>
            <a:ext cx="2057400" cy="548640"/>
          </a:xfrm>
          <a:prstGeom prst="rect">
            <a:avLst/>
          </a:prstGeom>
          <a:noFill/>
          <a:ln/>
        </p:spPr>
        <p:txBody>
          <a:bodyPr wrap="square" lIns="0" tIns="0" rIns="0" bIns="0" rtlCol="0" anchor="ctr"/>
          <a:lstStyle/>
          <a:p>
            <a:pPr algn="l" indent="0" marL="0">
              <a:lnSpc>
                <a:spcPct val="105000"/>
              </a:lnSpc>
              <a:buNone/>
            </a:pPr>
            <a:r>
              <a:rPr lang="en-US" sz="1300" dirty="0">
                <a:solidFill>
                  <a:schemeClr val="tx1"/>
                </a:solidFill>
              </a:rPr>
              <a:t>İlk pilot — 2027 büdcə dövrü</a:t>
            </a:r>
            <a:endParaRPr lang="en-US" sz="1300" dirty="0"/>
          </a:p>
        </p:txBody>
      </p:sp>
      <p:sp>
        <p:nvSpPr>
          <p:cNvPr id="14" name="num-206"/>
          <p:cNvSpPr/>
          <p:nvPr/>
        </p:nvSpPr>
        <p:spPr>
          <a:xfrm>
            <a:off x="5897880" y="3200400"/>
            <a:ext cx="329184" cy="329184"/>
          </a:xfrm>
          <a:prstGeom prst="ellipse">
            <a:avLst/>
          </a:prstGeom>
          <a:solidFill>
            <a:schemeClr val="accent1"/>
          </a:solidFill>
          <a:ln/>
        </p:spPr>
      </p:sp>
      <p:sp>
        <p:nvSpPr>
          <p:cNvPr id="15" name="num-text-207"/>
          <p:cNvSpPr txBox="1"/>
          <p:nvPr/>
        </p:nvSpPr>
        <p:spPr>
          <a:xfrm>
            <a:off x="5897880" y="3200400"/>
            <a:ext cx="329184" cy="329184"/>
          </a:xfrm>
          <a:prstGeom prst="rect">
            <a:avLst/>
          </a:prstGeom>
          <a:noFill/>
          <a:ln/>
        </p:spPr>
        <p:txBody>
          <a:bodyPr wrap="square" lIns="0" tIns="0" rIns="0" bIns="0" rtlCol="0" anchor="ctr"/>
          <a:lstStyle/>
          <a:p>
            <a:pPr algn="ctr" indent="0" marL="0">
              <a:lnSpc>
                <a:spcPct val="105000"/>
              </a:lnSpc>
              <a:buNone/>
            </a:pPr>
            <a:r>
              <a:rPr lang="en-US" sz="1200" b="1" dirty="0">
                <a:solidFill>
                  <a:schemeClr val="bg1"/>
                </a:solidFill>
              </a:rPr>
              <a:t>3</a:t>
            </a:r>
            <a:endParaRPr lang="en-US" sz="1200" dirty="0"/>
          </a:p>
        </p:txBody>
      </p:sp>
      <p:sp>
        <p:nvSpPr>
          <p:cNvPr id="16" name="text-208"/>
          <p:cNvSpPr txBox="1"/>
          <p:nvPr/>
        </p:nvSpPr>
        <p:spPr>
          <a:xfrm>
            <a:off x="6355080" y="3090672"/>
            <a:ext cx="2057400" cy="548640"/>
          </a:xfrm>
          <a:prstGeom prst="rect">
            <a:avLst/>
          </a:prstGeom>
          <a:noFill/>
          <a:ln/>
        </p:spPr>
        <p:txBody>
          <a:bodyPr wrap="square" lIns="0" tIns="0" rIns="0" bIns="0" rtlCol="0" anchor="ctr"/>
          <a:lstStyle/>
          <a:p>
            <a:pPr algn="l" indent="0" marL="0">
              <a:lnSpc>
                <a:spcPct val="105000"/>
              </a:lnSpc>
              <a:buNone/>
            </a:pPr>
            <a:r>
              <a:rPr lang="en-US" sz="1300" dirty="0">
                <a:solidFill>
                  <a:schemeClr val="tx1"/>
                </a:solidFill>
              </a:rPr>
              <a:t>Pilot rəyi ilə məhsulu təkmilləşdirmək</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457200" y="292608"/>
            <a:ext cx="7498080" cy="658368"/>
          </a:xfrm>
          <a:prstGeom prst="rect">
            <a:avLst/>
          </a:prstGeom>
          <a:noFill/>
          <a:ln/>
        </p:spPr>
        <p:txBody>
          <a:bodyPr wrap="square" lIns="0" tIns="0" rIns="0" bIns="0" rtlCol="0" anchor="ctr"/>
          <a:lstStyle/>
          <a:p>
            <a:pPr algn="l" indent="0" marL="0">
              <a:buNone/>
            </a:pPr>
            <a:r>
              <a:rPr lang="en-US" sz="2800" b="1" dirty="0">
                <a:solidFill>
                  <a:srgbClr val="0B1F3A"/>
                </a:solidFill>
                <a:latin typeface="Cambria" pitchFamily="34" charset="0"/>
                <a:ea typeface="Cambria" pitchFamily="34" charset="-122"/>
                <a:cs typeface="Cambria" pitchFamily="34" charset="-120"/>
              </a:rPr>
              <a:t>Əlavə: MVP-də daha nə var</a:t>
            </a:r>
            <a:endParaRPr lang="en-US" sz="2800" dirty="0"/>
          </a:p>
        </p:txBody>
      </p:sp>
      <p:sp>
        <p:nvSpPr>
          <p:cNvPr id="3" name="text-209"/>
          <p:cNvSpPr txBox="1"/>
          <p:nvPr/>
        </p:nvSpPr>
        <p:spPr>
          <a:xfrm>
            <a:off x="475488" y="1234440"/>
            <a:ext cx="3474720" cy="274320"/>
          </a:xfrm>
          <a:prstGeom prst="rect">
            <a:avLst/>
          </a:prstGeom>
          <a:noFill/>
          <a:ln/>
        </p:spPr>
        <p:txBody>
          <a:bodyPr wrap="square" lIns="0" tIns="0" rIns="0" bIns="0" rtlCol="0" anchor="t"/>
          <a:lstStyle/>
          <a:p>
            <a:pPr algn="l" indent="0" marL="0">
              <a:lnSpc>
                <a:spcPct val="105000"/>
              </a:lnSpc>
              <a:buNone/>
            </a:pPr>
            <a:r>
              <a:rPr lang="en-US" sz="1300" b="1" dirty="0">
                <a:solidFill>
                  <a:schemeClr val="tx1"/>
                </a:solidFill>
              </a:rPr>
              <a:t>Təşkilati struktur ağacı</a:t>
            </a:r>
            <a:endParaRPr lang="en-US" sz="1300" dirty="0"/>
          </a:p>
        </p:txBody>
      </p:sp>
      <p:sp>
        <p:nvSpPr>
          <p:cNvPr id="4" name="shot-frame-210"/>
          <p:cNvSpPr/>
          <p:nvPr/>
        </p:nvSpPr>
        <p:spPr>
          <a:xfrm>
            <a:off x="420624" y="1572768"/>
            <a:ext cx="3674174" cy="2121408"/>
          </a:xfrm>
          <a:prstGeom prst="roundRect">
            <a:avLst>
              <a:gd name="adj" fmla="val 3448"/>
            </a:avLst>
          </a:prstGeom>
          <a:solidFill>
            <a:schemeClr val="bg1"/>
          </a:solidFill>
          <a:ln/>
          <a:effectLst>
            <a:outerShdw sx="100000" sy="100000" kx="0" ky="0" algn="bl" rotWithShape="0" blurRad="127000" dist="25400" dir="5400000">
              <a:srgbClr val="0B1F3A">
                <a:alpha val="8000"/>
              </a:srgbClr>
            </a:outerShdw>
          </a:effectLst>
        </p:spPr>
      </p:sp>
      <p:pic>
        <p:nvPicPr>
          <p:cNvPr id="5" name="screenshot-211" descr="Təşkilati struktur — ağac görünüşü">    </p:cNvPr>
          <p:cNvPicPr>
            <a:picLocks noChangeAspect="1"/>
          </p:cNvPicPr>
          <p:nvPr/>
        </p:nvPicPr>
        <p:blipFill>
          <a:blip r:embed="rId1"/>
          <a:stretch>
            <a:fillRect/>
          </a:stretch>
        </p:blipFill>
        <p:spPr>
          <a:xfrm>
            <a:off x="475488" y="1627632"/>
            <a:ext cx="3564446" cy="2011680"/>
          </a:xfrm>
          <a:prstGeom prst="rect">
            <a:avLst/>
          </a:prstGeom>
        </p:spPr>
      </p:pic>
      <p:sp>
        <p:nvSpPr>
          <p:cNvPr id="6" name="text-212"/>
          <p:cNvSpPr txBox="1"/>
          <p:nvPr/>
        </p:nvSpPr>
        <p:spPr>
          <a:xfrm>
            <a:off x="4177094" y="1234440"/>
            <a:ext cx="3474720" cy="274320"/>
          </a:xfrm>
          <a:prstGeom prst="rect">
            <a:avLst/>
          </a:prstGeom>
          <a:noFill/>
          <a:ln/>
        </p:spPr>
        <p:txBody>
          <a:bodyPr wrap="square" lIns="0" tIns="0" rIns="0" bIns="0" rtlCol="0" anchor="t"/>
          <a:lstStyle/>
          <a:p>
            <a:pPr algn="l" indent="0" marL="0">
              <a:lnSpc>
                <a:spcPct val="105000"/>
              </a:lnSpc>
              <a:buNone/>
            </a:pPr>
            <a:r>
              <a:rPr lang="en-US" sz="1300" b="1" dirty="0">
                <a:solidFill>
                  <a:schemeClr val="tx1"/>
                </a:solidFill>
              </a:rPr>
              <a:t>Mərhələnin davranışı</a:t>
            </a:r>
            <a:endParaRPr lang="en-US" sz="1300" dirty="0"/>
          </a:p>
        </p:txBody>
      </p:sp>
      <p:sp>
        <p:nvSpPr>
          <p:cNvPr id="7" name="shot-frame-213"/>
          <p:cNvSpPr/>
          <p:nvPr/>
        </p:nvSpPr>
        <p:spPr>
          <a:xfrm>
            <a:off x="4122230" y="1572768"/>
            <a:ext cx="2486396" cy="2121408"/>
          </a:xfrm>
          <a:prstGeom prst="roundRect">
            <a:avLst>
              <a:gd name="adj" fmla="val 3448"/>
            </a:avLst>
          </a:prstGeom>
          <a:solidFill>
            <a:schemeClr val="bg1"/>
          </a:solidFill>
          <a:ln/>
          <a:effectLst>
            <a:outerShdw sx="100000" sy="100000" kx="0" ky="0" algn="bl" rotWithShape="0" blurRad="127000" dist="25400" dir="5400000">
              <a:srgbClr val="0B1F3A">
                <a:alpha val="8000"/>
              </a:srgbClr>
            </a:outerShdw>
          </a:effectLst>
        </p:spPr>
      </p:sp>
      <p:pic>
        <p:nvPicPr>
          <p:cNvPr id="8" name="screenshot-214" descr="Təsdiq mərhələsinin davranışı: komitə, qaytarma, təlimat">    </p:cNvPr>
          <p:cNvPicPr>
            <a:picLocks noChangeAspect="1"/>
          </p:cNvPicPr>
          <p:nvPr/>
        </p:nvPicPr>
        <p:blipFill>
          <a:blip r:embed="rId2"/>
          <a:stretch>
            <a:fillRect/>
          </a:stretch>
        </p:blipFill>
        <p:spPr>
          <a:xfrm>
            <a:off x="4177094" y="1627632"/>
            <a:ext cx="2376668" cy="2011680"/>
          </a:xfrm>
          <a:prstGeom prst="rect">
            <a:avLst/>
          </a:prstGeom>
        </p:spPr>
      </p:pic>
      <p:sp>
        <p:nvSpPr>
          <p:cNvPr id="9" name="text-215"/>
          <p:cNvSpPr txBox="1"/>
          <p:nvPr/>
        </p:nvSpPr>
        <p:spPr>
          <a:xfrm>
            <a:off x="6690922" y="1234440"/>
            <a:ext cx="3474720" cy="274320"/>
          </a:xfrm>
          <a:prstGeom prst="rect">
            <a:avLst/>
          </a:prstGeom>
          <a:noFill/>
          <a:ln/>
        </p:spPr>
        <p:txBody>
          <a:bodyPr wrap="square" lIns="0" tIns="0" rIns="0" bIns="0" rtlCol="0" anchor="t"/>
          <a:lstStyle/>
          <a:p>
            <a:pPr algn="l" indent="0" marL="0">
              <a:lnSpc>
                <a:spcPct val="105000"/>
              </a:lnSpc>
              <a:buNone/>
            </a:pPr>
            <a:r>
              <a:rPr lang="en-US" sz="1300" b="1" dirty="0">
                <a:solidFill>
                  <a:schemeClr val="tx1"/>
                </a:solidFill>
              </a:rPr>
              <a:t>Rollar və səlahiyyətlər</a:t>
            </a:r>
            <a:endParaRPr lang="en-US" sz="1300" dirty="0"/>
          </a:p>
        </p:txBody>
      </p:sp>
      <p:sp>
        <p:nvSpPr>
          <p:cNvPr id="10" name="shot-frame-216"/>
          <p:cNvSpPr/>
          <p:nvPr/>
        </p:nvSpPr>
        <p:spPr>
          <a:xfrm>
            <a:off x="6636058" y="1572768"/>
            <a:ext cx="2088352" cy="2121408"/>
          </a:xfrm>
          <a:prstGeom prst="roundRect">
            <a:avLst>
              <a:gd name="adj" fmla="val 3503"/>
            </a:avLst>
          </a:prstGeom>
          <a:solidFill>
            <a:schemeClr val="bg1"/>
          </a:solidFill>
          <a:ln/>
          <a:effectLst>
            <a:outerShdw sx="100000" sy="100000" kx="0" ky="0" algn="bl" rotWithShape="0" blurRad="127000" dist="25400" dir="5400000">
              <a:srgbClr val="0B1F3A">
                <a:alpha val="8000"/>
              </a:srgbClr>
            </a:outerShdw>
          </a:effectLst>
        </p:spPr>
      </p:sp>
      <p:pic>
        <p:nvPicPr>
          <p:cNvPr id="11" name="screenshot-217" descr="Rollar: səhifə icazələri və məlumat görünürlüyü">    </p:cNvPr>
          <p:cNvPicPr>
            <a:picLocks noChangeAspect="1"/>
          </p:cNvPicPr>
          <p:nvPr/>
        </p:nvPicPr>
        <p:blipFill>
          <a:blip r:embed="rId3"/>
          <a:stretch>
            <a:fillRect/>
          </a:stretch>
        </p:blipFill>
        <p:spPr>
          <a:xfrm>
            <a:off x="6690922" y="1627632"/>
            <a:ext cx="1978624" cy="2011680"/>
          </a:xfrm>
          <a:prstGeom prst="rect">
            <a:avLst/>
          </a:prstGeom>
        </p:spPr>
      </p:pic>
      <p:sp>
        <p:nvSpPr>
          <p:cNvPr id="12" name="chip-218"/>
          <p:cNvSpPr/>
          <p:nvPr/>
        </p:nvSpPr>
        <p:spPr>
          <a:xfrm>
            <a:off x="457200" y="4069080"/>
            <a:ext cx="1656893" cy="310896"/>
          </a:xfrm>
          <a:prstGeom prst="roundRect">
            <a:avLst>
              <a:gd name="adj" fmla="val 44118"/>
            </a:avLst>
          </a:prstGeom>
          <a:solidFill>
            <a:schemeClr val="accent1">
              <a:alpha val="12000"/>
            </a:schemeClr>
          </a:solidFill>
          <a:ln/>
        </p:spPr>
      </p:sp>
      <p:sp>
        <p:nvSpPr>
          <p:cNvPr id="13" name="chip-text-219"/>
          <p:cNvSpPr txBox="1"/>
          <p:nvPr/>
        </p:nvSpPr>
        <p:spPr>
          <a:xfrm>
            <a:off x="457200" y="4069080"/>
            <a:ext cx="1656893" cy="310896"/>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1"/>
                </a:solidFill>
              </a:rPr>
              <a:t>Excel-dən toplu idxal</a:t>
            </a:r>
            <a:endParaRPr lang="en-US" sz="1100" dirty="0"/>
          </a:p>
        </p:txBody>
      </p:sp>
      <p:sp>
        <p:nvSpPr>
          <p:cNvPr id="14" name="chip-220"/>
          <p:cNvSpPr/>
          <p:nvPr/>
        </p:nvSpPr>
        <p:spPr>
          <a:xfrm>
            <a:off x="2223821" y="4069080"/>
            <a:ext cx="1327709" cy="310896"/>
          </a:xfrm>
          <a:prstGeom prst="roundRect">
            <a:avLst>
              <a:gd name="adj" fmla="val 44118"/>
            </a:avLst>
          </a:prstGeom>
          <a:solidFill>
            <a:schemeClr val="accent1">
              <a:alpha val="12000"/>
            </a:schemeClr>
          </a:solidFill>
          <a:ln/>
        </p:spPr>
      </p:sp>
      <p:sp>
        <p:nvSpPr>
          <p:cNvPr id="15" name="chip-text-221"/>
          <p:cNvSpPr txBox="1"/>
          <p:nvPr/>
        </p:nvSpPr>
        <p:spPr>
          <a:xfrm>
            <a:off x="2223821" y="4069080"/>
            <a:ext cx="1327709" cy="310896"/>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1"/>
                </a:solidFill>
              </a:rPr>
              <a:t>7 sənaye şablonu</a:t>
            </a:r>
            <a:endParaRPr lang="en-US" sz="1100" dirty="0"/>
          </a:p>
        </p:txBody>
      </p:sp>
      <p:sp>
        <p:nvSpPr>
          <p:cNvPr id="16" name="chip-222"/>
          <p:cNvSpPr/>
          <p:nvPr/>
        </p:nvSpPr>
        <p:spPr>
          <a:xfrm>
            <a:off x="3661258" y="4069080"/>
            <a:ext cx="1986077" cy="310896"/>
          </a:xfrm>
          <a:prstGeom prst="roundRect">
            <a:avLst>
              <a:gd name="adj" fmla="val 44118"/>
            </a:avLst>
          </a:prstGeom>
          <a:solidFill>
            <a:schemeClr val="accent1">
              <a:alpha val="12000"/>
            </a:schemeClr>
          </a:solidFill>
          <a:ln/>
        </p:spPr>
      </p:sp>
      <p:sp>
        <p:nvSpPr>
          <p:cNvPr id="17" name="chip-text-223"/>
          <p:cNvSpPr txBox="1"/>
          <p:nvPr/>
        </p:nvSpPr>
        <p:spPr>
          <a:xfrm>
            <a:off x="3661258" y="4069080"/>
            <a:ext cx="1986077" cy="310896"/>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1"/>
                </a:solidFill>
              </a:rPr>
              <a:t>Büdcə versiyaları və kilid</a:t>
            </a:r>
            <a:endParaRPr lang="en-US" sz="1100" dirty="0"/>
          </a:p>
        </p:txBody>
      </p:sp>
      <p:sp>
        <p:nvSpPr>
          <p:cNvPr id="18" name="chip-224"/>
          <p:cNvSpPr/>
          <p:nvPr/>
        </p:nvSpPr>
        <p:spPr>
          <a:xfrm>
            <a:off x="5757062" y="4069080"/>
            <a:ext cx="1130198" cy="310896"/>
          </a:xfrm>
          <a:prstGeom prst="roundRect">
            <a:avLst>
              <a:gd name="adj" fmla="val 44118"/>
            </a:avLst>
          </a:prstGeom>
          <a:solidFill>
            <a:schemeClr val="accent1">
              <a:alpha val="12000"/>
            </a:schemeClr>
          </a:solidFill>
          <a:ln/>
        </p:spPr>
      </p:sp>
      <p:sp>
        <p:nvSpPr>
          <p:cNvPr id="19" name="chip-text-225"/>
          <p:cNvSpPr txBox="1"/>
          <p:nvPr/>
        </p:nvSpPr>
        <p:spPr>
          <a:xfrm>
            <a:off x="5757062" y="4069080"/>
            <a:ext cx="1130198" cy="310896"/>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1"/>
                </a:solidFill>
              </a:rPr>
              <a:t>Audit jurnalı</a:t>
            </a:r>
            <a:endParaRPr lang="en-US" sz="1100" dirty="0"/>
          </a:p>
        </p:txBody>
      </p:sp>
      <p:sp>
        <p:nvSpPr>
          <p:cNvPr id="20" name="chip-226"/>
          <p:cNvSpPr/>
          <p:nvPr/>
        </p:nvSpPr>
        <p:spPr>
          <a:xfrm>
            <a:off x="6996989" y="4069080"/>
            <a:ext cx="735178" cy="310896"/>
          </a:xfrm>
          <a:prstGeom prst="roundRect">
            <a:avLst>
              <a:gd name="adj" fmla="val 44118"/>
            </a:avLst>
          </a:prstGeom>
          <a:solidFill>
            <a:schemeClr val="accent1">
              <a:alpha val="12000"/>
            </a:schemeClr>
          </a:solidFill>
          <a:ln/>
        </p:spPr>
      </p:sp>
      <p:sp>
        <p:nvSpPr>
          <p:cNvPr id="21" name="chip-text-227"/>
          <p:cNvSpPr txBox="1"/>
          <p:nvPr/>
        </p:nvSpPr>
        <p:spPr>
          <a:xfrm>
            <a:off x="6996989" y="4069080"/>
            <a:ext cx="735178" cy="310896"/>
          </a:xfrm>
          <a:prstGeom prst="rect">
            <a:avLst/>
          </a:prstGeom>
          <a:noFill/>
          <a:ln/>
        </p:spPr>
        <p:txBody>
          <a:bodyPr wrap="square" lIns="0" tIns="0" rIns="0" bIns="0" rtlCol="0" anchor="ctr"/>
          <a:lstStyle/>
          <a:p>
            <a:pPr algn="ctr" indent="0" marL="0">
              <a:lnSpc>
                <a:spcPct val="105000"/>
              </a:lnSpc>
              <a:buNone/>
            </a:pPr>
            <a:r>
              <a:rPr lang="en-US" sz="1100" b="1" dirty="0">
                <a:solidFill>
                  <a:schemeClr val="accent1"/>
                </a:solidFill>
              </a:rPr>
              <a:t>AZ / EN</a:t>
            </a:r>
            <a:endParaRPr lang="en-US" sz="1100" dirty="0"/>
          </a:p>
        </p:txBody>
      </p:sp>
      <p:sp>
        <p:nvSpPr>
          <p:cNvPr id="25" name="Slide Number Placeholder 0"/>
          <p:cNvSpPr>
            <a:spLocks noGrp="1"/>
          </p:cNvSpPr>
          <p:nvPr>
            <p:ph type="sldNum" sz="quarter" idx="4294967295"/>
          </p:nvPr>
        </p:nvSpPr>
        <p:spPr>
          <a:xfrm>
            <a:off x="8321040" y="4818888"/>
            <a:ext cx="36576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inBridge">
  <a:themeElements>
    <a:clrScheme name="FinBridge">
      <a:dk1>
        <a:srgbClr val="0B1F3A"/>
      </a:dk1>
      <a:lt1>
        <a:srgbClr val="FFFFFF"/>
      </a:lt1>
      <a:dk2>
        <a:srgbClr val="334155"/>
      </a:dk2>
      <a:lt2>
        <a:srgbClr val="F3F6FA"/>
      </a:lt2>
      <a:accent1>
        <a:srgbClr val="2350D0"/>
      </a:accent1>
      <a:accent2>
        <a:srgbClr val="0E9F6E"/>
      </a:accent2>
      <a:accent3>
        <a:srgbClr val="D64545"/>
      </a:accent3>
      <a:accent4>
        <a:srgbClr val="64748B"/>
      </a:accent4>
      <a:accent5>
        <a:srgbClr val="CBD5E1"/>
      </a:accent5>
      <a:accent6>
        <a:srgbClr val="E2E8F0"/>
      </a:accent6>
      <a:hlink>
        <a:srgbClr val="2350D0"/>
      </a:hlink>
      <a:folHlink>
        <a:srgbClr val="15315C"/>
      </a:folHlink>
    </a:clrScheme>
    <a:fontScheme name="FinBri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 təqdimat</dc:title>
  <dc:subject>Büdcə planlaması və nəzarəti platforması</dc:subject>
  <dc:creator>FinBridge komandası</dc:creator>
  <cp:lastModifiedBy>FinBridge komandası</cp:lastModifiedBy>
  <cp:revision>1</cp:revision>
  <dcterms:created xsi:type="dcterms:W3CDTF">2026-10-15T08:03:41Z</dcterms:created>
  <dcterms:modified xsi:type="dcterms:W3CDTF">2026-10-15T08:03:41Z</dcterms:modified>
</cp:coreProperties>
</file>